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Quattrocento Sans" charset="-122" pitchFamily="34"/>
      <p:regular r:id="rId14"/>
    </p:embeddedFon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reenply.com:5001/eb216478dd37f010967c61f9194a6f25ebb8005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333" r="333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7F5F3">
              <a:alpha val="85098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1000" y="590550"/>
            <a:ext cx="3286125" cy="381000"/>
          </a:xfrm>
          <a:custGeom>
            <a:avLst/>
            <a:gdLst/>
            <a:ahLst/>
            <a:cxnLst/>
            <a:rect l="l" t="t" r="r" b="b"/>
            <a:pathLst>
              <a:path w="3286125" h="381000">
                <a:moveTo>
                  <a:pt x="0" y="0"/>
                </a:moveTo>
                <a:lnTo>
                  <a:pt x="3286125" y="0"/>
                </a:lnTo>
                <a:lnTo>
                  <a:pt x="32861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590550"/>
            <a:ext cx="33623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PRODUCTIVITY RESEARCH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049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Really Drives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Productivity?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524250"/>
            <a:ext cx="8648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exploratory, regression, and classification analysis of student behavioural factors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4352925"/>
            <a:ext cx="7296150" cy="1219200"/>
          </a:xfrm>
          <a:custGeom>
            <a:avLst/>
            <a:gdLst/>
            <a:ahLst/>
            <a:cxnLst/>
            <a:rect l="l" t="t" r="r" b="b"/>
            <a:pathLst>
              <a:path w="7296150" h="1219200">
                <a:moveTo>
                  <a:pt x="0" y="0"/>
                </a:moveTo>
                <a:lnTo>
                  <a:pt x="7296150" y="0"/>
                </a:lnTo>
                <a:lnTo>
                  <a:pt x="72961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9B8E7D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435292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0" name="Text 7"/>
          <p:cNvSpPr/>
          <p:nvPr/>
        </p:nvSpPr>
        <p:spPr>
          <a:xfrm>
            <a:off x="647700" y="4543425"/>
            <a:ext cx="713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Question: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" y="4886325"/>
            <a:ext cx="7124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students' study behaviours meaningfully predict productivity, or is productivity influenced by multiple interacting factors rather than any single habit alone?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57864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81000" y="6019800"/>
            <a:ext cx="279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48400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Behaviour &amp; Productivity Dataset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68000" y="60198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Team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58475" y="624840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Members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363398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181699" y="0"/>
                </a:moveTo>
                <a:lnTo>
                  <a:pt x="181699" y="0"/>
                </a:lnTo>
                <a:cubicBezTo>
                  <a:pt x="282049" y="0"/>
                  <a:pt x="363398" y="81349"/>
                  <a:pt x="363398" y="181699"/>
                </a:cubicBezTo>
                <a:lnTo>
                  <a:pt x="363398" y="181699"/>
                </a:lnTo>
                <a:cubicBezTo>
                  <a:pt x="363398" y="282049"/>
                  <a:pt x="282049" y="363398"/>
                  <a:pt x="181699" y="363398"/>
                </a:cubicBezTo>
                <a:lnTo>
                  <a:pt x="181699" y="363398"/>
                </a:lnTo>
                <a:cubicBezTo>
                  <a:pt x="81349" y="363398"/>
                  <a:pt x="0" y="282049"/>
                  <a:pt x="0" y="181699"/>
                </a:cubicBezTo>
                <a:lnTo>
                  <a:pt x="0" y="181699"/>
                </a:lnTo>
                <a:cubicBezTo>
                  <a:pt x="0" y="81349"/>
                  <a:pt x="81349" y="0"/>
                  <a:pt x="181699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" name="Text 1"/>
          <p:cNvSpPr/>
          <p:nvPr/>
        </p:nvSpPr>
        <p:spPr>
          <a:xfrm>
            <a:off x="322516" y="363398"/>
            <a:ext cx="445162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5815" y="363398"/>
            <a:ext cx="4006462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68" y="1017514"/>
            <a:ext cx="5605413" cy="1344572"/>
          </a:xfrm>
          <a:custGeom>
            <a:avLst/>
            <a:gdLst/>
            <a:ahLst/>
            <a:cxnLst/>
            <a:rect l="l" t="t" r="r" b="b"/>
            <a:pathLst>
              <a:path w="5605413" h="1344572">
                <a:moveTo>
                  <a:pt x="36340" y="0"/>
                </a:moveTo>
                <a:lnTo>
                  <a:pt x="5532739" y="0"/>
                </a:lnTo>
                <a:cubicBezTo>
                  <a:pt x="5572875" y="0"/>
                  <a:pt x="5605413" y="32537"/>
                  <a:pt x="5605413" y="72674"/>
                </a:cubicBezTo>
                <a:lnTo>
                  <a:pt x="5605413" y="1271898"/>
                </a:lnTo>
                <a:cubicBezTo>
                  <a:pt x="5605413" y="1312035"/>
                  <a:pt x="5572875" y="1344572"/>
                  <a:pt x="5532739" y="1344572"/>
                </a:cubicBezTo>
                <a:lnTo>
                  <a:pt x="36340" y="1344572"/>
                </a:lnTo>
                <a:cubicBezTo>
                  <a:pt x="16270" y="1344572"/>
                  <a:pt x="0" y="1328302"/>
                  <a:pt x="0" y="130823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255" dist="908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568" y="1017514"/>
            <a:ext cx="36340" cy="1344572"/>
          </a:xfrm>
          <a:custGeom>
            <a:avLst/>
            <a:gdLst/>
            <a:ahLst/>
            <a:cxnLst/>
            <a:rect l="l" t="t" r="r" b="b"/>
            <a:pathLst>
              <a:path w="36340" h="1344572">
                <a:moveTo>
                  <a:pt x="36340" y="0"/>
                </a:moveTo>
                <a:lnTo>
                  <a:pt x="36340" y="0"/>
                </a:lnTo>
                <a:lnTo>
                  <a:pt x="36340" y="1344572"/>
                </a:lnTo>
                <a:lnTo>
                  <a:pt x="36340" y="1344572"/>
                </a:lnTo>
                <a:cubicBezTo>
                  <a:pt x="16270" y="1344572"/>
                  <a:pt x="0" y="1328302"/>
                  <a:pt x="0" y="1308232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7" name="Shape 5"/>
          <p:cNvSpPr/>
          <p:nvPr/>
        </p:nvSpPr>
        <p:spPr>
          <a:xfrm>
            <a:off x="604149" y="1235553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90849" y="62459"/>
                </a:moveTo>
                <a:cubicBezTo>
                  <a:pt x="84568" y="62459"/>
                  <a:pt x="79493" y="67534"/>
                  <a:pt x="79493" y="73815"/>
                </a:cubicBezTo>
                <a:cubicBezTo>
                  <a:pt x="79493" y="78535"/>
                  <a:pt x="75696" y="82332"/>
                  <a:pt x="70976" y="82332"/>
                </a:cubicBezTo>
                <a:cubicBezTo>
                  <a:pt x="66256" y="82332"/>
                  <a:pt x="62459" y="78535"/>
                  <a:pt x="62459" y="73815"/>
                </a:cubicBezTo>
                <a:cubicBezTo>
                  <a:pt x="62459" y="58129"/>
                  <a:pt x="75164" y="45425"/>
                  <a:pt x="90849" y="45425"/>
                </a:cubicBezTo>
                <a:cubicBezTo>
                  <a:pt x="106535" y="45425"/>
                  <a:pt x="119240" y="58129"/>
                  <a:pt x="119240" y="73815"/>
                </a:cubicBezTo>
                <a:cubicBezTo>
                  <a:pt x="119240" y="90566"/>
                  <a:pt x="106464" y="97663"/>
                  <a:pt x="99367" y="100254"/>
                </a:cubicBezTo>
                <a:lnTo>
                  <a:pt x="99367" y="101602"/>
                </a:lnTo>
                <a:cubicBezTo>
                  <a:pt x="99367" y="106322"/>
                  <a:pt x="95569" y="110120"/>
                  <a:pt x="90849" y="110120"/>
                </a:cubicBezTo>
                <a:cubicBezTo>
                  <a:pt x="86130" y="110120"/>
                  <a:pt x="82332" y="106322"/>
                  <a:pt x="82332" y="101602"/>
                </a:cubicBezTo>
                <a:lnTo>
                  <a:pt x="82332" y="98728"/>
                </a:lnTo>
                <a:cubicBezTo>
                  <a:pt x="82332" y="91453"/>
                  <a:pt x="87585" y="86236"/>
                  <a:pt x="93014" y="84462"/>
                </a:cubicBezTo>
                <a:cubicBezTo>
                  <a:pt x="95285" y="83716"/>
                  <a:pt x="97699" y="82510"/>
                  <a:pt x="99473" y="80806"/>
                </a:cubicBezTo>
                <a:cubicBezTo>
                  <a:pt x="100999" y="79316"/>
                  <a:pt x="102206" y="77258"/>
                  <a:pt x="102206" y="73851"/>
                </a:cubicBezTo>
                <a:cubicBezTo>
                  <a:pt x="102206" y="67569"/>
                  <a:pt x="97131" y="62495"/>
                  <a:pt x="90849" y="62495"/>
                </a:cubicBezTo>
                <a:close/>
                <a:moveTo>
                  <a:pt x="79493" y="130596"/>
                </a:moveTo>
                <a:cubicBezTo>
                  <a:pt x="79493" y="124328"/>
                  <a:pt x="84582" y="119240"/>
                  <a:pt x="90849" y="119240"/>
                </a:cubicBezTo>
                <a:cubicBezTo>
                  <a:pt x="97117" y="119240"/>
                  <a:pt x="102206" y="124328"/>
                  <a:pt x="102206" y="130596"/>
                </a:cubicBezTo>
                <a:cubicBezTo>
                  <a:pt x="102206" y="136864"/>
                  <a:pt x="97117" y="141952"/>
                  <a:pt x="90849" y="141952"/>
                </a:cubicBezTo>
                <a:cubicBezTo>
                  <a:pt x="84582" y="141952"/>
                  <a:pt x="79493" y="136864"/>
                  <a:pt x="79493" y="130596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8" name="Text 6"/>
          <p:cNvSpPr/>
          <p:nvPr/>
        </p:nvSpPr>
        <p:spPr>
          <a:xfrm>
            <a:off x="808560" y="1199213"/>
            <a:ext cx="5087571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Dataset?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437" y="1671630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0" name="Text 8"/>
          <p:cNvSpPr/>
          <p:nvPr/>
        </p:nvSpPr>
        <p:spPr>
          <a:xfrm>
            <a:off x="763136" y="1598951"/>
            <a:ext cx="3452280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topic: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behaviour and productivity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437" y="2016858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2" name="Text 10"/>
          <p:cNvSpPr/>
          <p:nvPr/>
        </p:nvSpPr>
        <p:spPr>
          <a:xfrm>
            <a:off x="763136" y="1944179"/>
            <a:ext cx="3470450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Suitable for both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regression and classification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568" y="2543785"/>
            <a:ext cx="5605413" cy="1689800"/>
          </a:xfrm>
          <a:custGeom>
            <a:avLst/>
            <a:gdLst/>
            <a:ahLst/>
            <a:cxnLst/>
            <a:rect l="l" t="t" r="r" b="b"/>
            <a:pathLst>
              <a:path w="5605413" h="1689800">
                <a:moveTo>
                  <a:pt x="36340" y="0"/>
                </a:moveTo>
                <a:lnTo>
                  <a:pt x="5532735" y="0"/>
                </a:lnTo>
                <a:cubicBezTo>
                  <a:pt x="5572874" y="0"/>
                  <a:pt x="5605413" y="32539"/>
                  <a:pt x="5605413" y="72678"/>
                </a:cubicBezTo>
                <a:lnTo>
                  <a:pt x="5605413" y="1617122"/>
                </a:lnTo>
                <a:cubicBezTo>
                  <a:pt x="5605413" y="1657261"/>
                  <a:pt x="5572874" y="1689800"/>
                  <a:pt x="5532735" y="1689800"/>
                </a:cubicBezTo>
                <a:lnTo>
                  <a:pt x="36340" y="1689800"/>
                </a:lnTo>
                <a:cubicBezTo>
                  <a:pt x="16270" y="1689800"/>
                  <a:pt x="0" y="1673530"/>
                  <a:pt x="0" y="1653461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255" dist="908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568" y="2543785"/>
            <a:ext cx="36340" cy="1689800"/>
          </a:xfrm>
          <a:custGeom>
            <a:avLst/>
            <a:gdLst/>
            <a:ahLst/>
            <a:cxnLst/>
            <a:rect l="l" t="t" r="r" b="b"/>
            <a:pathLst>
              <a:path w="36340" h="1689800">
                <a:moveTo>
                  <a:pt x="36340" y="0"/>
                </a:moveTo>
                <a:lnTo>
                  <a:pt x="36340" y="0"/>
                </a:lnTo>
                <a:lnTo>
                  <a:pt x="36340" y="1689800"/>
                </a:lnTo>
                <a:lnTo>
                  <a:pt x="36340" y="1689800"/>
                </a:lnTo>
                <a:cubicBezTo>
                  <a:pt x="16270" y="1689800"/>
                  <a:pt x="0" y="1673530"/>
                  <a:pt x="0" y="1653461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793" y="2761824"/>
            <a:ext cx="204411" cy="181699"/>
          </a:xfrm>
          <a:custGeom>
            <a:avLst/>
            <a:gdLst/>
            <a:ahLst/>
            <a:cxnLst/>
            <a:rect l="l" t="t" r="r" b="b"/>
            <a:pathLst>
              <a:path w="204411" h="181699">
                <a:moveTo>
                  <a:pt x="201075" y="19376"/>
                </a:moveTo>
                <a:cubicBezTo>
                  <a:pt x="205511" y="14940"/>
                  <a:pt x="205511" y="7736"/>
                  <a:pt x="201075" y="3300"/>
                </a:cubicBezTo>
                <a:cubicBezTo>
                  <a:pt x="196639" y="-1136"/>
                  <a:pt x="189435" y="-1136"/>
                  <a:pt x="184999" y="3300"/>
                </a:cubicBezTo>
                <a:lnTo>
                  <a:pt x="116862" y="71438"/>
                </a:lnTo>
                <a:lnTo>
                  <a:pt x="104548" y="59123"/>
                </a:lnTo>
                <a:cubicBezTo>
                  <a:pt x="103057" y="57633"/>
                  <a:pt x="100999" y="56781"/>
                  <a:pt x="98870" y="56781"/>
                </a:cubicBezTo>
                <a:cubicBezTo>
                  <a:pt x="94434" y="56781"/>
                  <a:pt x="90849" y="60365"/>
                  <a:pt x="90849" y="64801"/>
                </a:cubicBezTo>
                <a:lnTo>
                  <a:pt x="90849" y="75128"/>
                </a:lnTo>
                <a:lnTo>
                  <a:pt x="129283" y="113562"/>
                </a:lnTo>
                <a:lnTo>
                  <a:pt x="139610" y="113562"/>
                </a:lnTo>
                <a:cubicBezTo>
                  <a:pt x="144046" y="113562"/>
                  <a:pt x="147630" y="109978"/>
                  <a:pt x="147630" y="105542"/>
                </a:cubicBezTo>
                <a:cubicBezTo>
                  <a:pt x="147630" y="103412"/>
                  <a:pt x="146779" y="101354"/>
                  <a:pt x="145288" y="99863"/>
                </a:cubicBezTo>
                <a:lnTo>
                  <a:pt x="132974" y="87549"/>
                </a:lnTo>
                <a:lnTo>
                  <a:pt x="201111" y="19412"/>
                </a:lnTo>
                <a:close/>
                <a:moveTo>
                  <a:pt x="121050" y="125415"/>
                </a:moveTo>
                <a:lnTo>
                  <a:pt x="78996" y="83361"/>
                </a:lnTo>
                <a:cubicBezTo>
                  <a:pt x="63843" y="82048"/>
                  <a:pt x="48761" y="87514"/>
                  <a:pt x="37901" y="98373"/>
                </a:cubicBezTo>
                <a:lnTo>
                  <a:pt x="35062" y="101212"/>
                </a:lnTo>
                <a:cubicBezTo>
                  <a:pt x="27148" y="109126"/>
                  <a:pt x="22712" y="119843"/>
                  <a:pt x="22712" y="131022"/>
                </a:cubicBezTo>
                <a:cubicBezTo>
                  <a:pt x="22712" y="133435"/>
                  <a:pt x="25232" y="134997"/>
                  <a:pt x="27397" y="133932"/>
                </a:cubicBezTo>
                <a:lnTo>
                  <a:pt x="45531" y="124883"/>
                </a:lnTo>
                <a:cubicBezTo>
                  <a:pt x="47306" y="123995"/>
                  <a:pt x="48903" y="126338"/>
                  <a:pt x="47448" y="127686"/>
                </a:cubicBezTo>
                <a:lnTo>
                  <a:pt x="2591" y="168001"/>
                </a:lnTo>
                <a:cubicBezTo>
                  <a:pt x="958" y="169491"/>
                  <a:pt x="0" y="171620"/>
                  <a:pt x="0" y="173856"/>
                </a:cubicBezTo>
                <a:cubicBezTo>
                  <a:pt x="0" y="178186"/>
                  <a:pt x="3513" y="181699"/>
                  <a:pt x="7843" y="181699"/>
                </a:cubicBezTo>
                <a:lnTo>
                  <a:pt x="69344" y="181699"/>
                </a:lnTo>
                <a:cubicBezTo>
                  <a:pt x="83113" y="181699"/>
                  <a:pt x="96279" y="176234"/>
                  <a:pt x="106038" y="166510"/>
                </a:cubicBezTo>
                <a:cubicBezTo>
                  <a:pt x="116898" y="155651"/>
                  <a:pt x="122327" y="140568"/>
                  <a:pt x="121050" y="125415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6" name="Text 14"/>
          <p:cNvSpPr/>
          <p:nvPr/>
        </p:nvSpPr>
        <p:spPr>
          <a:xfrm>
            <a:off x="808560" y="2725484"/>
            <a:ext cx="5087571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&amp; Preprocessing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437" y="3197902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8" name="Text 16"/>
          <p:cNvSpPr/>
          <p:nvPr/>
        </p:nvSpPr>
        <p:spPr>
          <a:xfrm>
            <a:off x="763136" y="3125222"/>
            <a:ext cx="2752739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Checked variable types and missing values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437" y="3543130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0" name="Text 18"/>
          <p:cNvSpPr/>
          <p:nvPr/>
        </p:nvSpPr>
        <p:spPr>
          <a:xfrm>
            <a:off x="763136" y="3470450"/>
            <a:ext cx="2116793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variables for modelling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437" y="3888358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2" name="Text 20"/>
          <p:cNvSpPr/>
          <p:nvPr/>
        </p:nvSpPr>
        <p:spPr>
          <a:xfrm>
            <a:off x="763136" y="3815678"/>
            <a:ext cx="3461365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binary productivity outcome for classification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568" y="4415285"/>
            <a:ext cx="5605413" cy="1689800"/>
          </a:xfrm>
          <a:custGeom>
            <a:avLst/>
            <a:gdLst/>
            <a:ahLst/>
            <a:cxnLst/>
            <a:rect l="l" t="t" r="r" b="b"/>
            <a:pathLst>
              <a:path w="5605413" h="1689800">
                <a:moveTo>
                  <a:pt x="36340" y="0"/>
                </a:moveTo>
                <a:lnTo>
                  <a:pt x="5532735" y="0"/>
                </a:lnTo>
                <a:cubicBezTo>
                  <a:pt x="5572874" y="0"/>
                  <a:pt x="5605413" y="32539"/>
                  <a:pt x="5605413" y="72678"/>
                </a:cubicBezTo>
                <a:lnTo>
                  <a:pt x="5605413" y="1617122"/>
                </a:lnTo>
                <a:cubicBezTo>
                  <a:pt x="5605413" y="1657261"/>
                  <a:pt x="5572874" y="1689800"/>
                  <a:pt x="5532735" y="1689800"/>
                </a:cubicBezTo>
                <a:lnTo>
                  <a:pt x="36340" y="1689800"/>
                </a:lnTo>
                <a:cubicBezTo>
                  <a:pt x="16270" y="1689800"/>
                  <a:pt x="0" y="1673530"/>
                  <a:pt x="0" y="1653461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255" dist="908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1568" y="4415285"/>
            <a:ext cx="36340" cy="1689800"/>
          </a:xfrm>
          <a:custGeom>
            <a:avLst/>
            <a:gdLst/>
            <a:ahLst/>
            <a:cxnLst/>
            <a:rect l="l" t="t" r="r" b="b"/>
            <a:pathLst>
              <a:path w="36340" h="1689800">
                <a:moveTo>
                  <a:pt x="36340" y="0"/>
                </a:moveTo>
                <a:lnTo>
                  <a:pt x="36340" y="0"/>
                </a:lnTo>
                <a:lnTo>
                  <a:pt x="36340" y="1689800"/>
                </a:lnTo>
                <a:lnTo>
                  <a:pt x="36340" y="1689800"/>
                </a:lnTo>
                <a:cubicBezTo>
                  <a:pt x="16270" y="1689800"/>
                  <a:pt x="0" y="1673530"/>
                  <a:pt x="0" y="1653461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4149" y="4633323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147630" y="73815"/>
                </a:moveTo>
                <a:cubicBezTo>
                  <a:pt x="147630" y="90104"/>
                  <a:pt x="142343" y="105151"/>
                  <a:pt x="133435" y="117359"/>
                </a:cubicBezTo>
                <a:lnTo>
                  <a:pt x="178363" y="162322"/>
                </a:lnTo>
                <a:cubicBezTo>
                  <a:pt x="182799" y="166758"/>
                  <a:pt x="182799" y="173963"/>
                  <a:pt x="178363" y="178399"/>
                </a:cubicBezTo>
                <a:cubicBezTo>
                  <a:pt x="173927" y="182835"/>
                  <a:pt x="166723" y="182835"/>
                  <a:pt x="162287" y="178399"/>
                </a:cubicBezTo>
                <a:lnTo>
                  <a:pt x="117359" y="133435"/>
                </a:lnTo>
                <a:cubicBezTo>
                  <a:pt x="105151" y="142343"/>
                  <a:pt x="90104" y="147630"/>
                  <a:pt x="73815" y="147630"/>
                </a:cubicBezTo>
                <a:cubicBezTo>
                  <a:pt x="33039" y="147630"/>
                  <a:pt x="0" y="114591"/>
                  <a:pt x="0" y="73815"/>
                </a:cubicBezTo>
                <a:cubicBezTo>
                  <a:pt x="0" y="33039"/>
                  <a:pt x="33039" y="0"/>
                  <a:pt x="73815" y="0"/>
                </a:cubicBezTo>
                <a:cubicBezTo>
                  <a:pt x="114591" y="0"/>
                  <a:pt x="147630" y="33039"/>
                  <a:pt x="147630" y="73815"/>
                </a:cubicBezTo>
                <a:close/>
                <a:moveTo>
                  <a:pt x="73815" y="124918"/>
                </a:moveTo>
                <a:cubicBezTo>
                  <a:pt x="102020" y="124918"/>
                  <a:pt x="124918" y="102020"/>
                  <a:pt x="124918" y="73815"/>
                </a:cubicBezTo>
                <a:cubicBezTo>
                  <a:pt x="124918" y="45611"/>
                  <a:pt x="102020" y="22712"/>
                  <a:pt x="73815" y="22712"/>
                </a:cubicBezTo>
                <a:cubicBezTo>
                  <a:pt x="45611" y="22712"/>
                  <a:pt x="22712" y="45611"/>
                  <a:pt x="22712" y="73815"/>
                </a:cubicBezTo>
                <a:cubicBezTo>
                  <a:pt x="22712" y="102020"/>
                  <a:pt x="45611" y="124918"/>
                  <a:pt x="73815" y="124918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6" name="Text 24"/>
          <p:cNvSpPr/>
          <p:nvPr/>
        </p:nvSpPr>
        <p:spPr>
          <a:xfrm>
            <a:off x="808560" y="4596984"/>
            <a:ext cx="5087571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Exploration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1437" y="5069401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8" name="Text 26"/>
          <p:cNvSpPr/>
          <p:nvPr/>
        </p:nvSpPr>
        <p:spPr>
          <a:xfrm>
            <a:off x="763136" y="4996721"/>
            <a:ext cx="2652805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Examined individual feature distributions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437" y="5414629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0" name="Text 28"/>
          <p:cNvSpPr/>
          <p:nvPr/>
        </p:nvSpPr>
        <p:spPr>
          <a:xfrm>
            <a:off x="763136" y="5341949"/>
            <a:ext cx="3361431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pairwise plots to explore variable relationships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1437" y="5759857"/>
            <a:ext cx="72680" cy="72680"/>
          </a:xfrm>
          <a:custGeom>
            <a:avLst/>
            <a:gdLst/>
            <a:ahLst/>
            <a:cxnLst/>
            <a:rect l="l" t="t" r="r" b="b"/>
            <a:pathLst>
              <a:path w="72680" h="72680">
                <a:moveTo>
                  <a:pt x="36340" y="0"/>
                </a:moveTo>
                <a:lnTo>
                  <a:pt x="36340" y="0"/>
                </a:lnTo>
                <a:cubicBezTo>
                  <a:pt x="56396" y="0"/>
                  <a:pt x="72680" y="16283"/>
                  <a:pt x="72680" y="36340"/>
                </a:cubicBezTo>
                <a:lnTo>
                  <a:pt x="72680" y="36340"/>
                </a:lnTo>
                <a:cubicBezTo>
                  <a:pt x="72680" y="56396"/>
                  <a:pt x="56396" y="72680"/>
                  <a:pt x="36340" y="72680"/>
                </a:cubicBezTo>
                <a:lnTo>
                  <a:pt x="36340" y="72680"/>
                </a:lnTo>
                <a:cubicBezTo>
                  <a:pt x="16283" y="72680"/>
                  <a:pt x="0" y="56396"/>
                  <a:pt x="0" y="36340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2" name="Text 30"/>
          <p:cNvSpPr/>
          <p:nvPr/>
        </p:nvSpPr>
        <p:spPr>
          <a:xfrm>
            <a:off x="763136" y="5687177"/>
            <a:ext cx="3279666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Looked for possible trends with productivity_score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06013" y="1017514"/>
            <a:ext cx="5623583" cy="4460709"/>
          </a:xfrm>
          <a:custGeom>
            <a:avLst/>
            <a:gdLst/>
            <a:ahLst/>
            <a:cxnLst/>
            <a:rect l="l" t="t" r="r" b="b"/>
            <a:pathLst>
              <a:path w="5623583" h="4460709">
                <a:moveTo>
                  <a:pt x="72665" y="0"/>
                </a:moveTo>
                <a:lnTo>
                  <a:pt x="5550918" y="0"/>
                </a:lnTo>
                <a:cubicBezTo>
                  <a:pt x="5591050" y="0"/>
                  <a:pt x="5623583" y="32533"/>
                  <a:pt x="5623583" y="72665"/>
                </a:cubicBezTo>
                <a:lnTo>
                  <a:pt x="5623583" y="4388044"/>
                </a:lnTo>
                <a:cubicBezTo>
                  <a:pt x="5623583" y="4428176"/>
                  <a:pt x="5591050" y="4460709"/>
                  <a:pt x="5550918" y="4460709"/>
                </a:cubicBezTo>
                <a:lnTo>
                  <a:pt x="72665" y="4460709"/>
                </a:lnTo>
                <a:cubicBezTo>
                  <a:pt x="32533" y="4460709"/>
                  <a:pt x="0" y="4428176"/>
                  <a:pt x="0" y="4388044"/>
                </a:cubicBezTo>
                <a:lnTo>
                  <a:pt x="0" y="72665"/>
                </a:lnTo>
                <a:cubicBezTo>
                  <a:pt x="0" y="32560"/>
                  <a:pt x="32560" y="0"/>
                  <a:pt x="72665" y="0"/>
                </a:cubicBezTo>
                <a:close/>
              </a:path>
            </a:pathLst>
          </a:custGeom>
          <a:solidFill>
            <a:srgbClr val="9B8E7D">
              <a:alpha val="5098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78627" y="1235553"/>
            <a:ext cx="527835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1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Summary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4052" y="1635291"/>
            <a:ext cx="5187505" cy="3297836"/>
          </a:xfrm>
          <a:custGeom>
            <a:avLst/>
            <a:gdLst/>
            <a:ahLst/>
            <a:cxnLst/>
            <a:rect l="l" t="t" r="r" b="b"/>
            <a:pathLst>
              <a:path w="5187505" h="3297836">
                <a:moveTo>
                  <a:pt x="72684" y="0"/>
                </a:moveTo>
                <a:lnTo>
                  <a:pt x="5114821" y="0"/>
                </a:lnTo>
                <a:cubicBezTo>
                  <a:pt x="5154963" y="0"/>
                  <a:pt x="5187505" y="32542"/>
                  <a:pt x="5187505" y="72684"/>
                </a:cubicBezTo>
                <a:lnTo>
                  <a:pt x="5187505" y="3225152"/>
                </a:lnTo>
                <a:cubicBezTo>
                  <a:pt x="5187505" y="3265294"/>
                  <a:pt x="5154963" y="3297836"/>
                  <a:pt x="5114821" y="3297836"/>
                </a:cubicBezTo>
                <a:lnTo>
                  <a:pt x="72684" y="3297836"/>
                </a:lnTo>
                <a:cubicBezTo>
                  <a:pt x="32542" y="3297836"/>
                  <a:pt x="0" y="3265294"/>
                  <a:pt x="0" y="3225152"/>
                </a:cubicBezTo>
                <a:lnTo>
                  <a:pt x="0" y="72684"/>
                </a:lnTo>
                <a:cubicBezTo>
                  <a:pt x="0" y="32569"/>
                  <a:pt x="32569" y="0"/>
                  <a:pt x="726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255" dist="9085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42091" y="1853329"/>
            <a:ext cx="2307577" cy="835815"/>
          </a:xfrm>
          <a:custGeom>
            <a:avLst/>
            <a:gdLst/>
            <a:ahLst/>
            <a:cxnLst/>
            <a:rect l="l" t="t" r="r" b="b"/>
            <a:pathLst>
              <a:path w="2307577" h="835815">
                <a:moveTo>
                  <a:pt x="72682" y="0"/>
                </a:moveTo>
                <a:lnTo>
                  <a:pt x="2234894" y="0"/>
                </a:lnTo>
                <a:cubicBezTo>
                  <a:pt x="2275036" y="0"/>
                  <a:pt x="2307577" y="32541"/>
                  <a:pt x="2307577" y="72682"/>
                </a:cubicBezTo>
                <a:lnTo>
                  <a:pt x="2307577" y="763133"/>
                </a:lnTo>
                <a:cubicBezTo>
                  <a:pt x="2307577" y="803274"/>
                  <a:pt x="2275036" y="835815"/>
                  <a:pt x="2234894" y="835815"/>
                </a:cubicBezTo>
                <a:lnTo>
                  <a:pt x="72682" y="835815"/>
                </a:lnTo>
                <a:cubicBezTo>
                  <a:pt x="32541" y="835815"/>
                  <a:pt x="0" y="803274"/>
                  <a:pt x="0" y="763133"/>
                </a:cubicBezTo>
                <a:lnTo>
                  <a:pt x="0" y="72682"/>
                </a:lnTo>
                <a:cubicBezTo>
                  <a:pt x="0" y="32568"/>
                  <a:pt x="32568" y="0"/>
                  <a:pt x="72682" y="0"/>
                </a:cubicBezTo>
                <a:close/>
              </a:path>
            </a:pathLst>
          </a:custGeom>
          <a:solidFill>
            <a:srgbClr val="A8B5A0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55652" y="1998689"/>
            <a:ext cx="208045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19313" y="2216727"/>
            <a:ext cx="2153133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90910" y="1853329"/>
            <a:ext cx="2307577" cy="835815"/>
          </a:xfrm>
          <a:custGeom>
            <a:avLst/>
            <a:gdLst/>
            <a:ahLst/>
            <a:cxnLst/>
            <a:rect l="l" t="t" r="r" b="b"/>
            <a:pathLst>
              <a:path w="2307577" h="835815">
                <a:moveTo>
                  <a:pt x="72682" y="0"/>
                </a:moveTo>
                <a:lnTo>
                  <a:pt x="2234894" y="0"/>
                </a:lnTo>
                <a:cubicBezTo>
                  <a:pt x="2275036" y="0"/>
                  <a:pt x="2307577" y="32541"/>
                  <a:pt x="2307577" y="72682"/>
                </a:cubicBezTo>
                <a:lnTo>
                  <a:pt x="2307577" y="763133"/>
                </a:lnTo>
                <a:cubicBezTo>
                  <a:pt x="2307577" y="803274"/>
                  <a:pt x="2275036" y="835815"/>
                  <a:pt x="2234894" y="835815"/>
                </a:cubicBezTo>
                <a:lnTo>
                  <a:pt x="72682" y="835815"/>
                </a:lnTo>
                <a:cubicBezTo>
                  <a:pt x="32541" y="835815"/>
                  <a:pt x="0" y="803274"/>
                  <a:pt x="0" y="763133"/>
                </a:cubicBezTo>
                <a:lnTo>
                  <a:pt x="0" y="72682"/>
                </a:lnTo>
                <a:cubicBezTo>
                  <a:pt x="0" y="32568"/>
                  <a:pt x="32568" y="0"/>
                  <a:pt x="72682" y="0"/>
                </a:cubicBezTo>
                <a:close/>
              </a:path>
            </a:pathLst>
          </a:custGeom>
          <a:solidFill>
            <a:srgbClr val="9B8E7D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204472" y="1998689"/>
            <a:ext cx="2080453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68132" y="2216727"/>
            <a:ext cx="2153133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42091" y="3275124"/>
            <a:ext cx="4751428" cy="9085"/>
          </a:xfrm>
          <a:custGeom>
            <a:avLst/>
            <a:gdLst/>
            <a:ahLst/>
            <a:cxnLst/>
            <a:rect l="l" t="t" r="r" b="b"/>
            <a:pathLst>
              <a:path w="4751428" h="9085">
                <a:moveTo>
                  <a:pt x="0" y="0"/>
                </a:moveTo>
                <a:lnTo>
                  <a:pt x="4751428" y="0"/>
                </a:lnTo>
                <a:lnTo>
                  <a:pt x="4751428" y="9085"/>
                </a:lnTo>
                <a:lnTo>
                  <a:pt x="0" y="9085"/>
                </a:lnTo>
                <a:lnTo>
                  <a:pt x="0" y="0"/>
                </a:ln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42091" y="2979863"/>
            <a:ext cx="85398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Hours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22095" y="2998033"/>
            <a:ext cx="53601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642091" y="3756626"/>
            <a:ext cx="4751428" cy="9085"/>
          </a:xfrm>
          <a:custGeom>
            <a:avLst/>
            <a:gdLst/>
            <a:ahLst/>
            <a:cxnLst/>
            <a:rect l="l" t="t" r="r" b="b"/>
            <a:pathLst>
              <a:path w="4751428" h="9085">
                <a:moveTo>
                  <a:pt x="0" y="0"/>
                </a:moveTo>
                <a:lnTo>
                  <a:pt x="4751428" y="0"/>
                </a:lnTo>
                <a:lnTo>
                  <a:pt x="4751428" y="9085"/>
                </a:lnTo>
                <a:lnTo>
                  <a:pt x="0" y="9085"/>
                </a:lnTo>
                <a:lnTo>
                  <a:pt x="0" y="0"/>
                </a:ln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642091" y="3461365"/>
            <a:ext cx="90849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Sleep Quality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22095" y="3479535"/>
            <a:ext cx="53601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42091" y="4238128"/>
            <a:ext cx="4751428" cy="9085"/>
          </a:xfrm>
          <a:custGeom>
            <a:avLst/>
            <a:gdLst/>
            <a:ahLst/>
            <a:cxnLst/>
            <a:rect l="l" t="t" r="r" b="b"/>
            <a:pathLst>
              <a:path w="4751428" h="9085">
                <a:moveTo>
                  <a:pt x="0" y="0"/>
                </a:moveTo>
                <a:lnTo>
                  <a:pt x="4751428" y="0"/>
                </a:lnTo>
                <a:lnTo>
                  <a:pt x="4751428" y="9085"/>
                </a:lnTo>
                <a:lnTo>
                  <a:pt x="0" y="9085"/>
                </a:lnTo>
                <a:lnTo>
                  <a:pt x="0" y="0"/>
                </a:ln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642091" y="3942867"/>
            <a:ext cx="81764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Stress Level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22095" y="3961037"/>
            <a:ext cx="53601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42091" y="4424370"/>
            <a:ext cx="122646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Score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58369" y="4442539"/>
            <a:ext cx="399738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92254" y="5078486"/>
            <a:ext cx="5251100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[Dataset Summary Screenshot Placeholder]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24183" y="5659923"/>
            <a:ext cx="5605413" cy="1199213"/>
          </a:xfrm>
          <a:custGeom>
            <a:avLst/>
            <a:gdLst/>
            <a:ahLst/>
            <a:cxnLst/>
            <a:rect l="l" t="t" r="r" b="b"/>
            <a:pathLst>
              <a:path w="5605413" h="1199213">
                <a:moveTo>
                  <a:pt x="36340" y="0"/>
                </a:moveTo>
                <a:lnTo>
                  <a:pt x="5532729" y="0"/>
                </a:lnTo>
                <a:cubicBezTo>
                  <a:pt x="5572871" y="0"/>
                  <a:pt x="5605413" y="32542"/>
                  <a:pt x="5605413" y="72684"/>
                </a:cubicBezTo>
                <a:lnTo>
                  <a:pt x="5605413" y="1126529"/>
                </a:lnTo>
                <a:cubicBezTo>
                  <a:pt x="5605413" y="1166671"/>
                  <a:pt x="5572871" y="1199213"/>
                  <a:pt x="5532729" y="1199213"/>
                </a:cubicBezTo>
                <a:lnTo>
                  <a:pt x="36340" y="1199213"/>
                </a:lnTo>
                <a:cubicBezTo>
                  <a:pt x="16270" y="1199213"/>
                  <a:pt x="0" y="1182943"/>
                  <a:pt x="0" y="116287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A8B5A0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224183" y="5659923"/>
            <a:ext cx="36340" cy="1199213"/>
          </a:xfrm>
          <a:custGeom>
            <a:avLst/>
            <a:gdLst/>
            <a:ahLst/>
            <a:cxnLst/>
            <a:rect l="l" t="t" r="r" b="b"/>
            <a:pathLst>
              <a:path w="36340" h="1199213">
                <a:moveTo>
                  <a:pt x="36340" y="0"/>
                </a:moveTo>
                <a:lnTo>
                  <a:pt x="36340" y="0"/>
                </a:lnTo>
                <a:lnTo>
                  <a:pt x="36340" y="1199213"/>
                </a:lnTo>
                <a:lnTo>
                  <a:pt x="36340" y="1199213"/>
                </a:lnTo>
                <a:cubicBezTo>
                  <a:pt x="16270" y="1199213"/>
                  <a:pt x="0" y="1182943"/>
                  <a:pt x="0" y="116287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56" name="Shape 54"/>
          <p:cNvSpPr/>
          <p:nvPr/>
        </p:nvSpPr>
        <p:spPr>
          <a:xfrm>
            <a:off x="6467205" y="5887046"/>
            <a:ext cx="122647" cy="163529"/>
          </a:xfrm>
          <a:custGeom>
            <a:avLst/>
            <a:gdLst/>
            <a:ahLst/>
            <a:cxnLst/>
            <a:rect l="l" t="t" r="r" b="b"/>
            <a:pathLst>
              <a:path w="122647" h="163529">
                <a:moveTo>
                  <a:pt x="93550" y="122647"/>
                </a:moveTo>
                <a:cubicBezTo>
                  <a:pt x="95882" y="115524"/>
                  <a:pt x="100545" y="109073"/>
                  <a:pt x="105815" y="103515"/>
                </a:cubicBezTo>
                <a:cubicBezTo>
                  <a:pt x="116259" y="92528"/>
                  <a:pt x="122647" y="77676"/>
                  <a:pt x="122647" y="61323"/>
                </a:cubicBezTo>
                <a:cubicBezTo>
                  <a:pt x="122647" y="27468"/>
                  <a:pt x="95179" y="0"/>
                  <a:pt x="61323" y="0"/>
                </a:cubicBezTo>
                <a:cubicBezTo>
                  <a:pt x="27468" y="0"/>
                  <a:pt x="0" y="27468"/>
                  <a:pt x="0" y="61323"/>
                </a:cubicBezTo>
                <a:cubicBezTo>
                  <a:pt x="0" y="77676"/>
                  <a:pt x="6388" y="92528"/>
                  <a:pt x="16832" y="103515"/>
                </a:cubicBezTo>
                <a:cubicBezTo>
                  <a:pt x="22102" y="109073"/>
                  <a:pt x="26797" y="115524"/>
                  <a:pt x="29097" y="122647"/>
                </a:cubicBezTo>
                <a:lnTo>
                  <a:pt x="93518" y="122647"/>
                </a:lnTo>
                <a:close/>
                <a:moveTo>
                  <a:pt x="91985" y="137978"/>
                </a:moveTo>
                <a:lnTo>
                  <a:pt x="30662" y="137978"/>
                </a:lnTo>
                <a:lnTo>
                  <a:pt x="30662" y="143088"/>
                </a:lnTo>
                <a:cubicBezTo>
                  <a:pt x="30662" y="157205"/>
                  <a:pt x="42096" y="168639"/>
                  <a:pt x="56213" y="168639"/>
                </a:cubicBezTo>
                <a:lnTo>
                  <a:pt x="66434" y="168639"/>
                </a:lnTo>
                <a:cubicBezTo>
                  <a:pt x="80551" y="168639"/>
                  <a:pt x="91985" y="157205"/>
                  <a:pt x="91985" y="143088"/>
                </a:cubicBezTo>
                <a:lnTo>
                  <a:pt x="91985" y="137978"/>
                </a:lnTo>
                <a:close/>
                <a:moveTo>
                  <a:pt x="58768" y="35772"/>
                </a:moveTo>
                <a:cubicBezTo>
                  <a:pt x="46056" y="35772"/>
                  <a:pt x="35772" y="46056"/>
                  <a:pt x="35772" y="58768"/>
                </a:cubicBezTo>
                <a:cubicBezTo>
                  <a:pt x="35772" y="63016"/>
                  <a:pt x="32354" y="66434"/>
                  <a:pt x="28107" y="66434"/>
                </a:cubicBezTo>
                <a:cubicBezTo>
                  <a:pt x="23859" y="66434"/>
                  <a:pt x="20441" y="63016"/>
                  <a:pt x="20441" y="58768"/>
                </a:cubicBezTo>
                <a:cubicBezTo>
                  <a:pt x="20441" y="37593"/>
                  <a:pt x="37593" y="20441"/>
                  <a:pt x="58768" y="20441"/>
                </a:cubicBezTo>
                <a:cubicBezTo>
                  <a:pt x="63016" y="20441"/>
                  <a:pt x="66434" y="23859"/>
                  <a:pt x="66434" y="28107"/>
                </a:cubicBezTo>
                <a:cubicBezTo>
                  <a:pt x="66434" y="32354"/>
                  <a:pt x="63016" y="35772"/>
                  <a:pt x="58768" y="35772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57" name="Text 55"/>
          <p:cNvSpPr/>
          <p:nvPr/>
        </p:nvSpPr>
        <p:spPr>
          <a:xfrm>
            <a:off x="6633006" y="5841621"/>
            <a:ext cx="509665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4052" y="6205019"/>
            <a:ext cx="5296525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suggested that </a:t>
            </a:r>
            <a:pPr>
              <a:lnSpc>
                <a:spcPct val="140000"/>
              </a:lnSpc>
            </a:pPr>
            <a:r>
              <a:rPr lang="en-US" sz="1145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behavioural factors may relate to productivity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the relationships were </a:t>
            </a:r>
            <a:pPr>
              <a:lnSpc>
                <a:spcPct val="140000"/>
              </a:lnSpc>
            </a:pPr>
            <a:r>
              <a:rPr lang="en-US" sz="1145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simple or strong enough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interpret on their own.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" name="Text 1"/>
          <p:cNvSpPr/>
          <p:nvPr/>
        </p:nvSpPr>
        <p:spPr>
          <a:xfrm>
            <a:off x="281781" y="31750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0250" y="317500"/>
            <a:ext cx="4500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Noticed from Exploration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889000"/>
            <a:ext cx="6858000" cy="5032375"/>
          </a:xfrm>
          <a:custGeom>
            <a:avLst/>
            <a:gdLst/>
            <a:ahLst/>
            <a:cxnLst/>
            <a:rect l="l" t="t" r="r" b="b"/>
            <a:pathLst>
              <a:path w="6858000" h="5032375">
                <a:moveTo>
                  <a:pt x="63509" y="0"/>
                </a:moveTo>
                <a:lnTo>
                  <a:pt x="6794491" y="0"/>
                </a:lnTo>
                <a:cubicBezTo>
                  <a:pt x="6829566" y="0"/>
                  <a:pt x="6858000" y="28434"/>
                  <a:pt x="6858000" y="63509"/>
                </a:cubicBezTo>
                <a:lnTo>
                  <a:pt x="6858000" y="4968866"/>
                </a:lnTo>
                <a:cubicBezTo>
                  <a:pt x="6858000" y="5003941"/>
                  <a:pt x="6829566" y="5032375"/>
                  <a:pt x="6794491" y="5032375"/>
                </a:cubicBezTo>
                <a:lnTo>
                  <a:pt x="63509" y="5032375"/>
                </a:lnTo>
                <a:cubicBezTo>
                  <a:pt x="28434" y="5032375"/>
                  <a:pt x="0" y="5003941"/>
                  <a:pt x="0" y="4968866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8313" y="1079500"/>
            <a:ext cx="655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Matrix &amp; Pairwise Relationships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428750"/>
            <a:ext cx="6477000" cy="4016375"/>
          </a:xfrm>
          <a:custGeom>
            <a:avLst/>
            <a:gdLst/>
            <a:ahLst/>
            <a:cxnLst/>
            <a:rect l="l" t="t" r="r" b="b"/>
            <a:pathLst>
              <a:path w="6477000" h="4016375">
                <a:moveTo>
                  <a:pt x="63499" y="0"/>
                </a:moveTo>
                <a:lnTo>
                  <a:pt x="6413501" y="0"/>
                </a:lnTo>
                <a:cubicBezTo>
                  <a:pt x="6448571" y="0"/>
                  <a:pt x="6477000" y="28429"/>
                  <a:pt x="6477000" y="63499"/>
                </a:cubicBezTo>
                <a:lnTo>
                  <a:pt x="6477000" y="3952876"/>
                </a:lnTo>
                <a:cubicBezTo>
                  <a:pt x="6477000" y="3987946"/>
                  <a:pt x="6448571" y="4016375"/>
                  <a:pt x="6413501" y="4016375"/>
                </a:cubicBezTo>
                <a:lnTo>
                  <a:pt x="63499" y="4016375"/>
                </a:lnTo>
                <a:cubicBezTo>
                  <a:pt x="28429" y="4016375"/>
                  <a:pt x="0" y="3987946"/>
                  <a:pt x="0" y="3952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9B8E7D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08375" y="2897188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61299" y="212545"/>
                </a:moveTo>
                <a:cubicBezTo>
                  <a:pt x="73670" y="126039"/>
                  <a:pt x="148177" y="59531"/>
                  <a:pt x="238125" y="59531"/>
                </a:cubicBezTo>
                <a:cubicBezTo>
                  <a:pt x="287424" y="59531"/>
                  <a:pt x="332073" y="79530"/>
                  <a:pt x="364443" y="111807"/>
                </a:cubicBezTo>
                <a:cubicBezTo>
                  <a:pt x="364629" y="111993"/>
                  <a:pt x="364815" y="112179"/>
                  <a:pt x="365001" y="112365"/>
                </a:cubicBezTo>
                <a:lnTo>
                  <a:pt x="372070" y="119062"/>
                </a:lnTo>
                <a:lnTo>
                  <a:pt x="327515" y="119062"/>
                </a:lnTo>
                <a:cubicBezTo>
                  <a:pt x="311051" y="119062"/>
                  <a:pt x="297749" y="132364"/>
                  <a:pt x="297749" y="148828"/>
                </a:cubicBezTo>
                <a:cubicBezTo>
                  <a:pt x="297749" y="165292"/>
                  <a:pt x="311051" y="178594"/>
                  <a:pt x="327515" y="178594"/>
                </a:cubicBezTo>
                <a:lnTo>
                  <a:pt x="446577" y="178594"/>
                </a:lnTo>
                <a:cubicBezTo>
                  <a:pt x="463042" y="178594"/>
                  <a:pt x="476343" y="165292"/>
                  <a:pt x="476343" y="148828"/>
                </a:cubicBezTo>
                <a:lnTo>
                  <a:pt x="476343" y="29766"/>
                </a:lnTo>
                <a:cubicBezTo>
                  <a:pt x="476343" y="13302"/>
                  <a:pt x="463042" y="0"/>
                  <a:pt x="446577" y="0"/>
                </a:cubicBezTo>
                <a:cubicBezTo>
                  <a:pt x="430113" y="0"/>
                  <a:pt x="416812" y="13302"/>
                  <a:pt x="416812" y="29766"/>
                </a:cubicBezTo>
                <a:lnTo>
                  <a:pt x="416812" y="79437"/>
                </a:lnTo>
                <a:lnTo>
                  <a:pt x="406301" y="69484"/>
                </a:lnTo>
                <a:cubicBezTo>
                  <a:pt x="363234" y="26603"/>
                  <a:pt x="303702" y="0"/>
                  <a:pt x="238125" y="0"/>
                </a:cubicBezTo>
                <a:cubicBezTo>
                  <a:pt x="118132" y="0"/>
                  <a:pt x="18883" y="88739"/>
                  <a:pt x="2418" y="204174"/>
                </a:cubicBezTo>
                <a:cubicBezTo>
                  <a:pt x="93" y="220452"/>
                  <a:pt x="11348" y="235521"/>
                  <a:pt x="27626" y="237846"/>
                </a:cubicBezTo>
                <a:cubicBezTo>
                  <a:pt x="43904" y="240171"/>
                  <a:pt x="58973" y="228823"/>
                  <a:pt x="61299" y="212638"/>
                </a:cubicBezTo>
                <a:close/>
                <a:moveTo>
                  <a:pt x="473832" y="272076"/>
                </a:moveTo>
                <a:cubicBezTo>
                  <a:pt x="476157" y="255798"/>
                  <a:pt x="464809" y="240729"/>
                  <a:pt x="448624" y="238404"/>
                </a:cubicBezTo>
                <a:cubicBezTo>
                  <a:pt x="432439" y="236079"/>
                  <a:pt x="417277" y="247427"/>
                  <a:pt x="414951" y="263612"/>
                </a:cubicBezTo>
                <a:cubicBezTo>
                  <a:pt x="402580" y="350118"/>
                  <a:pt x="328073" y="416626"/>
                  <a:pt x="238125" y="416626"/>
                </a:cubicBezTo>
                <a:cubicBezTo>
                  <a:pt x="188826" y="416626"/>
                  <a:pt x="144177" y="396627"/>
                  <a:pt x="111807" y="364350"/>
                </a:cubicBezTo>
                <a:cubicBezTo>
                  <a:pt x="111621" y="364164"/>
                  <a:pt x="111435" y="363978"/>
                  <a:pt x="111249" y="363792"/>
                </a:cubicBezTo>
                <a:lnTo>
                  <a:pt x="104180" y="357094"/>
                </a:lnTo>
                <a:lnTo>
                  <a:pt x="148735" y="357094"/>
                </a:lnTo>
                <a:cubicBezTo>
                  <a:pt x="165199" y="357094"/>
                  <a:pt x="178501" y="343793"/>
                  <a:pt x="178501" y="327329"/>
                </a:cubicBezTo>
                <a:cubicBezTo>
                  <a:pt x="178501" y="310865"/>
                  <a:pt x="165199" y="297563"/>
                  <a:pt x="148735" y="297563"/>
                </a:cubicBezTo>
                <a:lnTo>
                  <a:pt x="29766" y="297656"/>
                </a:lnTo>
                <a:cubicBezTo>
                  <a:pt x="21859" y="297656"/>
                  <a:pt x="14232" y="300819"/>
                  <a:pt x="8651" y="306493"/>
                </a:cubicBezTo>
                <a:cubicBezTo>
                  <a:pt x="3070" y="312167"/>
                  <a:pt x="-93" y="319701"/>
                  <a:pt x="0" y="327701"/>
                </a:cubicBezTo>
                <a:lnTo>
                  <a:pt x="930" y="445833"/>
                </a:lnTo>
                <a:cubicBezTo>
                  <a:pt x="1023" y="462297"/>
                  <a:pt x="14511" y="475506"/>
                  <a:pt x="30975" y="475320"/>
                </a:cubicBezTo>
                <a:cubicBezTo>
                  <a:pt x="47439" y="475134"/>
                  <a:pt x="60647" y="461739"/>
                  <a:pt x="60461" y="445275"/>
                </a:cubicBezTo>
                <a:lnTo>
                  <a:pt x="60089" y="397371"/>
                </a:lnTo>
                <a:lnTo>
                  <a:pt x="70042" y="406766"/>
                </a:lnTo>
                <a:cubicBezTo>
                  <a:pt x="113109" y="449647"/>
                  <a:pt x="172548" y="476250"/>
                  <a:pt x="238125" y="476250"/>
                </a:cubicBezTo>
                <a:cubicBezTo>
                  <a:pt x="358118" y="476250"/>
                  <a:pt x="457367" y="387511"/>
                  <a:pt x="473832" y="272076"/>
                </a:cubicBezTo>
                <a:close/>
              </a:path>
            </a:pathLst>
          </a:custGeom>
          <a:solidFill>
            <a:srgbClr val="9B8E7D">
              <a:alpha val="3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22438" y="3500438"/>
            <a:ext cx="404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Plot / Pairwise Plot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6406" y="3786188"/>
            <a:ext cx="404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9A959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Visualizing relationships between behavioural variables and productivity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219" y="5572125"/>
            <a:ext cx="653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[Correlation Plot Screenshot Placeholder]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81875" y="889000"/>
            <a:ext cx="4492625" cy="1682750"/>
          </a:xfrm>
          <a:custGeom>
            <a:avLst/>
            <a:gdLst/>
            <a:ahLst/>
            <a:cxnLst/>
            <a:rect l="l" t="t" r="r" b="b"/>
            <a:pathLst>
              <a:path w="4492625" h="1682750">
                <a:moveTo>
                  <a:pt x="31750" y="0"/>
                </a:moveTo>
                <a:lnTo>
                  <a:pt x="4429118" y="0"/>
                </a:lnTo>
                <a:cubicBezTo>
                  <a:pt x="4464192" y="0"/>
                  <a:pt x="4492625" y="28433"/>
                  <a:pt x="4492625" y="63507"/>
                </a:cubicBezTo>
                <a:lnTo>
                  <a:pt x="4492625" y="1619243"/>
                </a:lnTo>
                <a:cubicBezTo>
                  <a:pt x="4492625" y="1654317"/>
                  <a:pt x="4464192" y="1682750"/>
                  <a:pt x="4429118" y="1682750"/>
                </a:cubicBezTo>
                <a:lnTo>
                  <a:pt x="31750" y="1682750"/>
                </a:lnTo>
                <a:cubicBezTo>
                  <a:pt x="14215" y="1682750"/>
                  <a:pt x="0" y="1668535"/>
                  <a:pt x="0" y="165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81875" y="889000"/>
            <a:ext cx="31750" cy="1682750"/>
          </a:xfrm>
          <a:custGeom>
            <a:avLst/>
            <a:gdLst/>
            <a:ahLst/>
            <a:cxnLst/>
            <a:rect l="l" t="t" r="r" b="b"/>
            <a:pathLst>
              <a:path w="31750" h="1682750">
                <a:moveTo>
                  <a:pt x="31750" y="0"/>
                </a:moveTo>
                <a:lnTo>
                  <a:pt x="31750" y="0"/>
                </a:lnTo>
                <a:lnTo>
                  <a:pt x="31750" y="1682750"/>
                </a:lnTo>
                <a:lnTo>
                  <a:pt x="31750" y="1682750"/>
                </a:lnTo>
                <a:cubicBezTo>
                  <a:pt x="14227" y="1682750"/>
                  <a:pt x="0" y="1668523"/>
                  <a:pt x="0" y="165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4" name="Shape 12"/>
          <p:cNvSpPr/>
          <p:nvPr/>
        </p:nvSpPr>
        <p:spPr>
          <a:xfrm>
            <a:off x="7566422" y="1079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5" name="Text 13"/>
          <p:cNvSpPr/>
          <p:nvPr/>
        </p:nvSpPr>
        <p:spPr>
          <a:xfrm>
            <a:off x="7754938" y="1047750"/>
            <a:ext cx="404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Interesting Patterns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56500" y="1460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7" name="Text 15"/>
          <p:cNvSpPr/>
          <p:nvPr/>
        </p:nvSpPr>
        <p:spPr>
          <a:xfrm>
            <a:off x="7715250" y="1397000"/>
            <a:ext cx="4064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variables showed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to moderate relationships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productivity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56500" y="1968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9" name="Text 17"/>
          <p:cNvSpPr/>
          <p:nvPr/>
        </p:nvSpPr>
        <p:spPr>
          <a:xfrm>
            <a:off x="7715250" y="1905000"/>
            <a:ext cx="2714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predictors were also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related to each other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56500" y="2270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15250" y="2206625"/>
            <a:ext cx="3508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Apparent trends in plots did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guarantee independent effects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81875" y="2730500"/>
            <a:ext cx="4492625" cy="1476375"/>
          </a:xfrm>
          <a:custGeom>
            <a:avLst/>
            <a:gdLst/>
            <a:ahLst/>
            <a:cxnLst/>
            <a:rect l="l" t="t" r="r" b="b"/>
            <a:pathLst>
              <a:path w="4492625" h="1476375">
                <a:moveTo>
                  <a:pt x="31750" y="0"/>
                </a:moveTo>
                <a:lnTo>
                  <a:pt x="4429126" y="0"/>
                </a:lnTo>
                <a:cubicBezTo>
                  <a:pt x="4464196" y="0"/>
                  <a:pt x="4492625" y="28429"/>
                  <a:pt x="4492625" y="63499"/>
                </a:cubicBezTo>
                <a:lnTo>
                  <a:pt x="4492625" y="1412876"/>
                </a:lnTo>
                <a:cubicBezTo>
                  <a:pt x="4492625" y="1447946"/>
                  <a:pt x="4464196" y="1476375"/>
                  <a:pt x="4429126" y="1476375"/>
                </a:cubicBez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81875" y="2730500"/>
            <a:ext cx="31750" cy="1476375"/>
          </a:xfrm>
          <a:custGeom>
            <a:avLst/>
            <a:gdLst/>
            <a:ahLst/>
            <a:cxnLst/>
            <a:rect l="l" t="t" r="r" b="b"/>
            <a:pathLst>
              <a:path w="31750" h="1476375">
                <a:moveTo>
                  <a:pt x="31750" y="0"/>
                </a:moveTo>
                <a:lnTo>
                  <a:pt x="31750" y="0"/>
                </a:lnTo>
                <a:lnTo>
                  <a:pt x="31750" y="1476375"/>
                </a:ln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76344" y="292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5" name="Text 23"/>
          <p:cNvSpPr/>
          <p:nvPr/>
        </p:nvSpPr>
        <p:spPr>
          <a:xfrm>
            <a:off x="7754938" y="2889250"/>
            <a:ext cx="404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56500" y="33020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7" name="Text 25"/>
          <p:cNvSpPr/>
          <p:nvPr/>
        </p:nvSpPr>
        <p:spPr>
          <a:xfrm>
            <a:off x="7715250" y="3238500"/>
            <a:ext cx="3730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Unclear whether regression or classification was more appropriate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56500" y="3603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9" name="Text 27"/>
          <p:cNvSpPr/>
          <p:nvPr/>
        </p:nvSpPr>
        <p:spPr>
          <a:xfrm>
            <a:off x="7715250" y="3540125"/>
            <a:ext cx="3556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plots showed trends, but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independent influence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6500" y="39052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1" name="Text 29"/>
          <p:cNvSpPr/>
          <p:nvPr/>
        </p:nvSpPr>
        <p:spPr>
          <a:xfrm>
            <a:off x="7715250" y="3841750"/>
            <a:ext cx="3794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variables looked useful visually, but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necessarily in models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81875" y="4365625"/>
            <a:ext cx="4492625" cy="1047750"/>
          </a:xfrm>
          <a:custGeom>
            <a:avLst/>
            <a:gdLst/>
            <a:ahLst/>
            <a:cxnLst/>
            <a:rect l="l" t="t" r="r" b="b"/>
            <a:pathLst>
              <a:path w="4492625" h="1047750">
                <a:moveTo>
                  <a:pt x="31750" y="0"/>
                </a:moveTo>
                <a:lnTo>
                  <a:pt x="4429121" y="0"/>
                </a:lnTo>
                <a:cubicBezTo>
                  <a:pt x="4464193" y="0"/>
                  <a:pt x="4492625" y="28432"/>
                  <a:pt x="4492625" y="63504"/>
                </a:cubicBezTo>
                <a:lnTo>
                  <a:pt x="4492625" y="984246"/>
                </a:lnTo>
                <a:cubicBezTo>
                  <a:pt x="4492625" y="1019318"/>
                  <a:pt x="4464193" y="1047750"/>
                  <a:pt x="4429121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B8E7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81875" y="4365625"/>
            <a:ext cx="31750" cy="1047750"/>
          </a:xfrm>
          <a:custGeom>
            <a:avLst/>
            <a:gdLst/>
            <a:ahLst/>
            <a:cxnLst/>
            <a:rect l="l" t="t" r="r" b="b"/>
            <a:pathLst>
              <a:path w="31750" h="1047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4" name="Shape 32"/>
          <p:cNvSpPr/>
          <p:nvPr/>
        </p:nvSpPr>
        <p:spPr>
          <a:xfrm>
            <a:off x="7576344" y="4564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5016" y="71438"/>
                </a:moveTo>
                <a:cubicBezTo>
                  <a:pt x="125016" y="41867"/>
                  <a:pt x="101008" y="17859"/>
                  <a:pt x="71438" y="17859"/>
                </a:cubicBezTo>
                <a:cubicBezTo>
                  <a:pt x="41867" y="17859"/>
                  <a:pt x="17859" y="41867"/>
                  <a:pt x="17859" y="71438"/>
                </a:cubicBezTo>
                <a:cubicBezTo>
                  <a:pt x="17859" y="101008"/>
                  <a:pt x="41867" y="125016"/>
                  <a:pt x="71438" y="125016"/>
                </a:cubicBezTo>
                <a:cubicBezTo>
                  <a:pt x="101008" y="125016"/>
                  <a:pt x="125016" y="101008"/>
                  <a:pt x="125016" y="71438"/>
                </a:cubicBezTo>
                <a:close/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71438" y="93762"/>
                </a:moveTo>
                <a:cubicBezTo>
                  <a:pt x="83759" y="93762"/>
                  <a:pt x="93762" y="83759"/>
                  <a:pt x="93762" y="71438"/>
                </a:cubicBezTo>
                <a:cubicBezTo>
                  <a:pt x="93762" y="59116"/>
                  <a:pt x="83759" y="49113"/>
                  <a:pt x="71438" y="49113"/>
                </a:cubicBezTo>
                <a:cubicBezTo>
                  <a:pt x="59116" y="49113"/>
                  <a:pt x="49113" y="59116"/>
                  <a:pt x="49113" y="71438"/>
                </a:cubicBezTo>
                <a:cubicBezTo>
                  <a:pt x="49113" y="83759"/>
                  <a:pt x="59116" y="93762"/>
                  <a:pt x="71438" y="93762"/>
                </a:cubicBezTo>
                <a:close/>
                <a:moveTo>
                  <a:pt x="71438" y="31254"/>
                </a:moveTo>
                <a:cubicBezTo>
                  <a:pt x="93615" y="31254"/>
                  <a:pt x="111621" y="49260"/>
                  <a:pt x="111621" y="71438"/>
                </a:cubicBezTo>
                <a:cubicBezTo>
                  <a:pt x="111621" y="93615"/>
                  <a:pt x="93615" y="111621"/>
                  <a:pt x="71438" y="111621"/>
                </a:cubicBezTo>
                <a:cubicBezTo>
                  <a:pt x="49260" y="111621"/>
                  <a:pt x="31254" y="93615"/>
                  <a:pt x="31254" y="71438"/>
                </a:cubicBezTo>
                <a:cubicBezTo>
                  <a:pt x="31254" y="49260"/>
                  <a:pt x="49260" y="31254"/>
                  <a:pt x="71438" y="31254"/>
                </a:cubicBezTo>
                <a:close/>
                <a:moveTo>
                  <a:pt x="62508" y="71438"/>
                </a:moveTo>
                <a:cubicBezTo>
                  <a:pt x="62508" y="66509"/>
                  <a:pt x="66509" y="62508"/>
                  <a:pt x="71438" y="62508"/>
                </a:cubicBezTo>
                <a:cubicBezTo>
                  <a:pt x="76366" y="62508"/>
                  <a:pt x="80367" y="66509"/>
                  <a:pt x="80367" y="71438"/>
                </a:cubicBezTo>
                <a:cubicBezTo>
                  <a:pt x="80367" y="76366"/>
                  <a:pt x="76366" y="80367"/>
                  <a:pt x="71438" y="80367"/>
                </a:cubicBezTo>
                <a:cubicBezTo>
                  <a:pt x="66509" y="80367"/>
                  <a:pt x="62508" y="76366"/>
                  <a:pt x="62508" y="71438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5" name="Text 33"/>
          <p:cNvSpPr/>
          <p:nvPr/>
        </p:nvSpPr>
        <p:spPr>
          <a:xfrm>
            <a:off x="7739062" y="4524375"/>
            <a:ext cx="404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Refined Focus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56500" y="4841875"/>
            <a:ext cx="422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 from visual patterns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modelling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test whether one factor alone is enough, or whether productivity is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multi-factorial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3375" y="6080125"/>
            <a:ext cx="11541125" cy="460375"/>
          </a:xfrm>
          <a:custGeom>
            <a:avLst/>
            <a:gdLst/>
            <a:ahLst/>
            <a:cxnLst/>
            <a:rect l="l" t="t" r="r" b="b"/>
            <a:pathLst>
              <a:path w="11541125" h="460375">
                <a:moveTo>
                  <a:pt x="31750" y="0"/>
                </a:moveTo>
                <a:lnTo>
                  <a:pt x="11477625" y="0"/>
                </a:lnTo>
                <a:cubicBezTo>
                  <a:pt x="11512695" y="0"/>
                  <a:pt x="11541125" y="28430"/>
                  <a:pt x="11541125" y="63500"/>
                </a:cubicBezTo>
                <a:lnTo>
                  <a:pt x="11541125" y="396875"/>
                </a:lnTo>
                <a:cubicBezTo>
                  <a:pt x="11541125" y="431945"/>
                  <a:pt x="11512695" y="460375"/>
                  <a:pt x="11477625" y="460375"/>
                </a:cubicBezTo>
                <a:lnTo>
                  <a:pt x="31750" y="460375"/>
                </a:lnTo>
                <a:cubicBezTo>
                  <a:pt x="14227" y="460375"/>
                  <a:pt x="0" y="446148"/>
                  <a:pt x="0" y="428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3375" y="6080125"/>
            <a:ext cx="31750" cy="460375"/>
          </a:xfrm>
          <a:custGeom>
            <a:avLst/>
            <a:gdLst/>
            <a:ahLst/>
            <a:cxnLst/>
            <a:rect l="l" t="t" r="r" b="b"/>
            <a:pathLst>
              <a:path w="31750" h="460375">
                <a:moveTo>
                  <a:pt x="31750" y="0"/>
                </a:moveTo>
                <a:lnTo>
                  <a:pt x="31750" y="0"/>
                </a:lnTo>
                <a:lnTo>
                  <a:pt x="31750" y="460375"/>
                </a:lnTo>
                <a:lnTo>
                  <a:pt x="31750" y="460375"/>
                </a:lnTo>
                <a:cubicBezTo>
                  <a:pt x="14227" y="460375"/>
                  <a:pt x="0" y="446148"/>
                  <a:pt x="0" y="428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39" name="Shape 37"/>
          <p:cNvSpPr/>
          <p:nvPr/>
        </p:nvSpPr>
        <p:spPr>
          <a:xfrm>
            <a:off x="492125" y="62309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40" name="Text 38"/>
          <p:cNvSpPr/>
          <p:nvPr/>
        </p:nvSpPr>
        <p:spPr>
          <a:xfrm>
            <a:off x="674688" y="6207125"/>
            <a:ext cx="1113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Insight: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led us to test productivity in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ways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as a continuous outcome (regression) and as a high/low productivity classification problem.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825" y="323825"/>
            <a:ext cx="323825" cy="323825"/>
          </a:xfrm>
          <a:custGeom>
            <a:avLst/>
            <a:gdLst/>
            <a:ahLst/>
            <a:cxnLst/>
            <a:rect l="l" t="t" r="r" b="b"/>
            <a:pathLst>
              <a:path w="323825" h="323825">
                <a:moveTo>
                  <a:pt x="161912" y="0"/>
                </a:moveTo>
                <a:lnTo>
                  <a:pt x="161912" y="0"/>
                </a:lnTo>
                <a:cubicBezTo>
                  <a:pt x="251274" y="0"/>
                  <a:pt x="323825" y="72550"/>
                  <a:pt x="323825" y="161912"/>
                </a:cubicBezTo>
                <a:lnTo>
                  <a:pt x="323825" y="161912"/>
                </a:lnTo>
                <a:cubicBezTo>
                  <a:pt x="323825" y="251274"/>
                  <a:pt x="251274" y="323825"/>
                  <a:pt x="161912" y="323825"/>
                </a:cubicBezTo>
                <a:lnTo>
                  <a:pt x="161912" y="323825"/>
                </a:lnTo>
                <a:cubicBezTo>
                  <a:pt x="72550" y="323825"/>
                  <a:pt x="0" y="251274"/>
                  <a:pt x="0" y="161912"/>
                </a:cubicBezTo>
                <a:lnTo>
                  <a:pt x="0" y="161912"/>
                </a:lnTo>
                <a:cubicBezTo>
                  <a:pt x="0" y="72550"/>
                  <a:pt x="72550" y="0"/>
                  <a:pt x="161912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" name="Text 1"/>
          <p:cNvSpPr/>
          <p:nvPr/>
        </p:nvSpPr>
        <p:spPr>
          <a:xfrm>
            <a:off x="287394" y="323825"/>
            <a:ext cx="396685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4797" y="323825"/>
            <a:ext cx="6508876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Study Behaviours Predict Productivity Score?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0016" y="906709"/>
            <a:ext cx="5658837" cy="1505785"/>
          </a:xfrm>
          <a:custGeom>
            <a:avLst/>
            <a:gdLst/>
            <a:ahLst/>
            <a:cxnLst/>
            <a:rect l="l" t="t" r="r" b="b"/>
            <a:pathLst>
              <a:path w="5658837" h="1505785">
                <a:moveTo>
                  <a:pt x="32382" y="0"/>
                </a:moveTo>
                <a:lnTo>
                  <a:pt x="5594073" y="0"/>
                </a:lnTo>
                <a:cubicBezTo>
                  <a:pt x="5629841" y="0"/>
                  <a:pt x="5658837" y="28996"/>
                  <a:pt x="5658837" y="64764"/>
                </a:cubicBezTo>
                <a:lnTo>
                  <a:pt x="5658837" y="1441021"/>
                </a:lnTo>
                <a:cubicBezTo>
                  <a:pt x="5658837" y="1476789"/>
                  <a:pt x="5629841" y="1505785"/>
                  <a:pt x="5594073" y="1505785"/>
                </a:cubicBezTo>
                <a:lnTo>
                  <a:pt x="32382" y="1505785"/>
                </a:lnTo>
                <a:cubicBezTo>
                  <a:pt x="14498" y="1505785"/>
                  <a:pt x="0" y="1491287"/>
                  <a:pt x="0" y="147340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87" dist="809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0016" y="906709"/>
            <a:ext cx="32382" cy="1505785"/>
          </a:xfrm>
          <a:custGeom>
            <a:avLst/>
            <a:gdLst/>
            <a:ahLst/>
            <a:cxnLst/>
            <a:rect l="l" t="t" r="r" b="b"/>
            <a:pathLst>
              <a:path w="32382" h="1505785">
                <a:moveTo>
                  <a:pt x="32382" y="0"/>
                </a:moveTo>
                <a:lnTo>
                  <a:pt x="32382" y="0"/>
                </a:lnTo>
                <a:lnTo>
                  <a:pt x="32382" y="1505785"/>
                </a:lnTo>
                <a:lnTo>
                  <a:pt x="32382" y="1505785"/>
                </a:lnTo>
                <a:cubicBezTo>
                  <a:pt x="14498" y="1505785"/>
                  <a:pt x="0" y="1491287"/>
                  <a:pt x="0" y="147340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7" name="Shape 5"/>
          <p:cNvSpPr/>
          <p:nvPr/>
        </p:nvSpPr>
        <p:spPr>
          <a:xfrm>
            <a:off x="538359" y="1101004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161912" h="161912">
                <a:moveTo>
                  <a:pt x="20239" y="20239"/>
                </a:moveTo>
                <a:cubicBezTo>
                  <a:pt x="20239" y="14642"/>
                  <a:pt x="15717" y="10120"/>
                  <a:pt x="10120" y="10120"/>
                </a:cubicBezTo>
                <a:cubicBezTo>
                  <a:pt x="4522" y="10120"/>
                  <a:pt x="0" y="14642"/>
                  <a:pt x="0" y="20239"/>
                </a:cubicBezTo>
                <a:lnTo>
                  <a:pt x="0" y="126494"/>
                </a:lnTo>
                <a:cubicBezTo>
                  <a:pt x="0" y="140472"/>
                  <a:pt x="11321" y="151793"/>
                  <a:pt x="25299" y="151793"/>
                </a:cubicBezTo>
                <a:lnTo>
                  <a:pt x="151793" y="151793"/>
                </a:lnTo>
                <a:cubicBezTo>
                  <a:pt x="157390" y="151793"/>
                  <a:pt x="161912" y="147271"/>
                  <a:pt x="161912" y="141673"/>
                </a:cubicBezTo>
                <a:cubicBezTo>
                  <a:pt x="161912" y="136076"/>
                  <a:pt x="157390" y="131554"/>
                  <a:pt x="151793" y="131554"/>
                </a:cubicBezTo>
                <a:lnTo>
                  <a:pt x="25299" y="131554"/>
                </a:lnTo>
                <a:cubicBezTo>
                  <a:pt x="22516" y="131554"/>
                  <a:pt x="20239" y="129277"/>
                  <a:pt x="20239" y="126494"/>
                </a:cubicBezTo>
                <a:lnTo>
                  <a:pt x="20239" y="20239"/>
                </a:lnTo>
                <a:close/>
                <a:moveTo>
                  <a:pt x="148820" y="47625"/>
                </a:moveTo>
                <a:cubicBezTo>
                  <a:pt x="152773" y="43672"/>
                  <a:pt x="152773" y="37252"/>
                  <a:pt x="148820" y="33300"/>
                </a:cubicBezTo>
                <a:cubicBezTo>
                  <a:pt x="144867" y="29347"/>
                  <a:pt x="138448" y="29347"/>
                  <a:pt x="134495" y="33300"/>
                </a:cubicBezTo>
                <a:lnTo>
                  <a:pt x="101195" y="66631"/>
                </a:lnTo>
                <a:lnTo>
                  <a:pt x="83043" y="48510"/>
                </a:lnTo>
                <a:cubicBezTo>
                  <a:pt x="79090" y="44558"/>
                  <a:pt x="72671" y="44558"/>
                  <a:pt x="68718" y="48510"/>
                </a:cubicBezTo>
                <a:lnTo>
                  <a:pt x="38359" y="78869"/>
                </a:lnTo>
                <a:cubicBezTo>
                  <a:pt x="34406" y="82822"/>
                  <a:pt x="34406" y="89242"/>
                  <a:pt x="38359" y="93194"/>
                </a:cubicBezTo>
                <a:cubicBezTo>
                  <a:pt x="42312" y="97147"/>
                  <a:pt x="48732" y="97147"/>
                  <a:pt x="52685" y="93194"/>
                </a:cubicBezTo>
                <a:lnTo>
                  <a:pt x="75896" y="69983"/>
                </a:lnTo>
                <a:lnTo>
                  <a:pt x="94048" y="88135"/>
                </a:lnTo>
                <a:cubicBezTo>
                  <a:pt x="98001" y="92088"/>
                  <a:pt x="104421" y="92088"/>
                  <a:pt x="108374" y="88135"/>
                </a:cubicBezTo>
                <a:lnTo>
                  <a:pt x="148852" y="47657"/>
                </a:ln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8" name="Text 6"/>
          <p:cNvSpPr/>
          <p:nvPr/>
        </p:nvSpPr>
        <p:spPr>
          <a:xfrm>
            <a:off x="720510" y="1068622"/>
            <a:ext cx="5197386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Start with SLR?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8120" y="1489594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0" name="Text 8"/>
          <p:cNvSpPr/>
          <p:nvPr/>
        </p:nvSpPr>
        <p:spPr>
          <a:xfrm>
            <a:off x="680032" y="1424829"/>
            <a:ext cx="2266773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Gives a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baseline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comparison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8120" y="1797227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2" name="Text 10"/>
          <p:cNvSpPr/>
          <p:nvPr/>
        </p:nvSpPr>
        <p:spPr>
          <a:xfrm>
            <a:off x="680032" y="1732462"/>
            <a:ext cx="2485355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us understand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 and strength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120" y="2104861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680032" y="2040096"/>
            <a:ext cx="2841562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whether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behaviour alone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informative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0016" y="2574406"/>
            <a:ext cx="5658837" cy="1505785"/>
          </a:xfrm>
          <a:custGeom>
            <a:avLst/>
            <a:gdLst/>
            <a:ahLst/>
            <a:cxnLst/>
            <a:rect l="l" t="t" r="r" b="b"/>
            <a:pathLst>
              <a:path w="5658837" h="1505785">
                <a:moveTo>
                  <a:pt x="32382" y="0"/>
                </a:moveTo>
                <a:lnTo>
                  <a:pt x="5594073" y="0"/>
                </a:lnTo>
                <a:cubicBezTo>
                  <a:pt x="5629841" y="0"/>
                  <a:pt x="5658837" y="28996"/>
                  <a:pt x="5658837" y="64764"/>
                </a:cubicBezTo>
                <a:lnTo>
                  <a:pt x="5658837" y="1441021"/>
                </a:lnTo>
                <a:cubicBezTo>
                  <a:pt x="5658837" y="1476789"/>
                  <a:pt x="5629841" y="1505785"/>
                  <a:pt x="5594073" y="1505785"/>
                </a:cubicBezTo>
                <a:lnTo>
                  <a:pt x="32382" y="1505785"/>
                </a:lnTo>
                <a:cubicBezTo>
                  <a:pt x="14498" y="1505785"/>
                  <a:pt x="0" y="1491287"/>
                  <a:pt x="0" y="147340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87" dist="8096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016" y="2574406"/>
            <a:ext cx="32382" cy="1505785"/>
          </a:xfrm>
          <a:custGeom>
            <a:avLst/>
            <a:gdLst/>
            <a:ahLst/>
            <a:cxnLst/>
            <a:rect l="l" t="t" r="r" b="b"/>
            <a:pathLst>
              <a:path w="32382" h="1505785">
                <a:moveTo>
                  <a:pt x="32382" y="0"/>
                </a:moveTo>
                <a:lnTo>
                  <a:pt x="32382" y="0"/>
                </a:lnTo>
                <a:lnTo>
                  <a:pt x="32382" y="1505785"/>
                </a:lnTo>
                <a:lnTo>
                  <a:pt x="32382" y="1505785"/>
                </a:lnTo>
                <a:cubicBezTo>
                  <a:pt x="14498" y="1505785"/>
                  <a:pt x="0" y="1491287"/>
                  <a:pt x="0" y="147340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7" name="Shape 15"/>
          <p:cNvSpPr/>
          <p:nvPr/>
        </p:nvSpPr>
        <p:spPr>
          <a:xfrm>
            <a:off x="538359" y="2768701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161912" h="161912">
                <a:moveTo>
                  <a:pt x="73525" y="1644"/>
                </a:moveTo>
                <a:cubicBezTo>
                  <a:pt x="78237" y="-538"/>
                  <a:pt x="83676" y="-538"/>
                  <a:pt x="88388" y="1644"/>
                </a:cubicBezTo>
                <a:lnTo>
                  <a:pt x="157517" y="33584"/>
                </a:lnTo>
                <a:cubicBezTo>
                  <a:pt x="160205" y="34817"/>
                  <a:pt x="161912" y="37505"/>
                  <a:pt x="161912" y="40478"/>
                </a:cubicBezTo>
                <a:cubicBezTo>
                  <a:pt x="161912" y="43451"/>
                  <a:pt x="160205" y="46139"/>
                  <a:pt x="157517" y="47372"/>
                </a:cubicBezTo>
                <a:lnTo>
                  <a:pt x="88388" y="79312"/>
                </a:lnTo>
                <a:cubicBezTo>
                  <a:pt x="83676" y="81494"/>
                  <a:pt x="78237" y="81494"/>
                  <a:pt x="73525" y="79312"/>
                </a:cubicBezTo>
                <a:lnTo>
                  <a:pt x="4396" y="47372"/>
                </a:lnTo>
                <a:cubicBezTo>
                  <a:pt x="1708" y="46107"/>
                  <a:pt x="0" y="43419"/>
                  <a:pt x="0" y="40478"/>
                </a:cubicBezTo>
                <a:cubicBezTo>
                  <a:pt x="0" y="37537"/>
                  <a:pt x="1708" y="34817"/>
                  <a:pt x="4396" y="33584"/>
                </a:cubicBezTo>
                <a:lnTo>
                  <a:pt x="73525" y="1644"/>
                </a:lnTo>
                <a:close/>
                <a:moveTo>
                  <a:pt x="15211" y="69066"/>
                </a:moveTo>
                <a:lnTo>
                  <a:pt x="67168" y="93068"/>
                </a:lnTo>
                <a:cubicBezTo>
                  <a:pt x="75928" y="97116"/>
                  <a:pt x="86016" y="97116"/>
                  <a:pt x="94776" y="93068"/>
                </a:cubicBezTo>
                <a:lnTo>
                  <a:pt x="146733" y="69066"/>
                </a:lnTo>
                <a:lnTo>
                  <a:pt x="157517" y="74062"/>
                </a:lnTo>
                <a:cubicBezTo>
                  <a:pt x="160205" y="75296"/>
                  <a:pt x="161912" y="77984"/>
                  <a:pt x="161912" y="80956"/>
                </a:cubicBezTo>
                <a:cubicBezTo>
                  <a:pt x="161912" y="83929"/>
                  <a:pt x="160205" y="86617"/>
                  <a:pt x="157517" y="87850"/>
                </a:cubicBezTo>
                <a:lnTo>
                  <a:pt x="88388" y="119790"/>
                </a:lnTo>
                <a:cubicBezTo>
                  <a:pt x="83676" y="121972"/>
                  <a:pt x="78237" y="121972"/>
                  <a:pt x="73525" y="119790"/>
                </a:cubicBezTo>
                <a:lnTo>
                  <a:pt x="4396" y="87850"/>
                </a:lnTo>
                <a:cubicBezTo>
                  <a:pt x="1708" y="86585"/>
                  <a:pt x="0" y="83897"/>
                  <a:pt x="0" y="80956"/>
                </a:cubicBezTo>
                <a:cubicBezTo>
                  <a:pt x="0" y="78015"/>
                  <a:pt x="1708" y="75296"/>
                  <a:pt x="4396" y="74062"/>
                </a:cubicBezTo>
                <a:lnTo>
                  <a:pt x="15179" y="69066"/>
                </a:lnTo>
                <a:close/>
                <a:moveTo>
                  <a:pt x="4396" y="114540"/>
                </a:moveTo>
                <a:lnTo>
                  <a:pt x="15179" y="109544"/>
                </a:lnTo>
                <a:lnTo>
                  <a:pt x="67137" y="133546"/>
                </a:lnTo>
                <a:cubicBezTo>
                  <a:pt x="75896" y="137594"/>
                  <a:pt x="85984" y="137594"/>
                  <a:pt x="94744" y="133546"/>
                </a:cubicBezTo>
                <a:lnTo>
                  <a:pt x="146701" y="109544"/>
                </a:lnTo>
                <a:lnTo>
                  <a:pt x="157485" y="114540"/>
                </a:lnTo>
                <a:cubicBezTo>
                  <a:pt x="160173" y="115774"/>
                  <a:pt x="161881" y="118462"/>
                  <a:pt x="161881" y="121434"/>
                </a:cubicBezTo>
                <a:cubicBezTo>
                  <a:pt x="161881" y="124407"/>
                  <a:pt x="160173" y="127095"/>
                  <a:pt x="157485" y="128328"/>
                </a:cubicBezTo>
                <a:lnTo>
                  <a:pt x="88356" y="160268"/>
                </a:lnTo>
                <a:cubicBezTo>
                  <a:pt x="83644" y="162450"/>
                  <a:pt x="78205" y="162450"/>
                  <a:pt x="73493" y="160268"/>
                </a:cubicBezTo>
                <a:lnTo>
                  <a:pt x="4396" y="128328"/>
                </a:lnTo>
                <a:cubicBezTo>
                  <a:pt x="1708" y="127063"/>
                  <a:pt x="0" y="124375"/>
                  <a:pt x="0" y="121434"/>
                </a:cubicBezTo>
                <a:cubicBezTo>
                  <a:pt x="0" y="118493"/>
                  <a:pt x="1708" y="115774"/>
                  <a:pt x="4396" y="11454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8" name="Text 16"/>
          <p:cNvSpPr/>
          <p:nvPr/>
        </p:nvSpPr>
        <p:spPr>
          <a:xfrm>
            <a:off x="720510" y="2736319"/>
            <a:ext cx="5197386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SLR to MLR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8120" y="3157291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0" name="Text 18"/>
          <p:cNvSpPr/>
          <p:nvPr/>
        </p:nvSpPr>
        <p:spPr>
          <a:xfrm>
            <a:off x="680032" y="3092526"/>
            <a:ext cx="2987283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is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unlikely to depend on one factor only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8120" y="3464924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2" name="Text 20"/>
          <p:cNvSpPr/>
          <p:nvPr/>
        </p:nvSpPr>
        <p:spPr>
          <a:xfrm>
            <a:off x="680032" y="3400159"/>
            <a:ext cx="2776797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regression gives a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realistic picture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120" y="3772558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4" name="Text 22"/>
          <p:cNvSpPr/>
          <p:nvPr/>
        </p:nvSpPr>
        <p:spPr>
          <a:xfrm>
            <a:off x="680032" y="3707793"/>
            <a:ext cx="3383968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us to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variables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controlling for others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0016" y="4242104"/>
            <a:ext cx="5658837" cy="1505785"/>
          </a:xfrm>
          <a:custGeom>
            <a:avLst/>
            <a:gdLst/>
            <a:ahLst/>
            <a:cxnLst/>
            <a:rect l="l" t="t" r="r" b="b"/>
            <a:pathLst>
              <a:path w="5658837" h="1505785">
                <a:moveTo>
                  <a:pt x="32382" y="0"/>
                </a:moveTo>
                <a:lnTo>
                  <a:pt x="5594073" y="0"/>
                </a:lnTo>
                <a:cubicBezTo>
                  <a:pt x="5629841" y="0"/>
                  <a:pt x="5658837" y="28996"/>
                  <a:pt x="5658837" y="64764"/>
                </a:cubicBezTo>
                <a:lnTo>
                  <a:pt x="5658837" y="1441021"/>
                </a:lnTo>
                <a:cubicBezTo>
                  <a:pt x="5658837" y="1476789"/>
                  <a:pt x="5629841" y="1505785"/>
                  <a:pt x="5594073" y="1505785"/>
                </a:cubicBezTo>
                <a:lnTo>
                  <a:pt x="32382" y="1505785"/>
                </a:lnTo>
                <a:cubicBezTo>
                  <a:pt x="14498" y="1505785"/>
                  <a:pt x="0" y="1491287"/>
                  <a:pt x="0" y="147340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87" dist="8096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0016" y="4242104"/>
            <a:ext cx="32382" cy="1505785"/>
          </a:xfrm>
          <a:custGeom>
            <a:avLst/>
            <a:gdLst/>
            <a:ahLst/>
            <a:cxnLst/>
            <a:rect l="l" t="t" r="r" b="b"/>
            <a:pathLst>
              <a:path w="32382" h="1505785">
                <a:moveTo>
                  <a:pt x="32382" y="0"/>
                </a:moveTo>
                <a:lnTo>
                  <a:pt x="32382" y="0"/>
                </a:lnTo>
                <a:lnTo>
                  <a:pt x="32382" y="1505785"/>
                </a:lnTo>
                <a:lnTo>
                  <a:pt x="32382" y="1505785"/>
                </a:lnTo>
                <a:cubicBezTo>
                  <a:pt x="14498" y="1505785"/>
                  <a:pt x="0" y="1491287"/>
                  <a:pt x="0" y="147340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7" name="Shape 25"/>
          <p:cNvSpPr/>
          <p:nvPr/>
        </p:nvSpPr>
        <p:spPr>
          <a:xfrm>
            <a:off x="538359" y="4436398"/>
            <a:ext cx="161912" cy="161912"/>
          </a:xfrm>
          <a:custGeom>
            <a:avLst/>
            <a:gdLst/>
            <a:ahLst/>
            <a:cxnLst/>
            <a:rect l="l" t="t" r="r" b="b"/>
            <a:pathLst>
              <a:path w="161912" h="161912">
                <a:moveTo>
                  <a:pt x="131554" y="65777"/>
                </a:moveTo>
                <a:cubicBezTo>
                  <a:pt x="131554" y="80292"/>
                  <a:pt x="126842" y="93700"/>
                  <a:pt x="118904" y="104579"/>
                </a:cubicBezTo>
                <a:lnTo>
                  <a:pt x="158940" y="144646"/>
                </a:lnTo>
                <a:cubicBezTo>
                  <a:pt x="162893" y="148599"/>
                  <a:pt x="162893" y="155018"/>
                  <a:pt x="158940" y="158971"/>
                </a:cubicBezTo>
                <a:cubicBezTo>
                  <a:pt x="154987" y="162924"/>
                  <a:pt x="148567" y="162924"/>
                  <a:pt x="144614" y="158971"/>
                </a:cubicBezTo>
                <a:lnTo>
                  <a:pt x="104579" y="118904"/>
                </a:lnTo>
                <a:cubicBezTo>
                  <a:pt x="93700" y="126842"/>
                  <a:pt x="80292" y="131554"/>
                  <a:pt x="65777" y="131554"/>
                </a:cubicBezTo>
                <a:cubicBezTo>
                  <a:pt x="29441" y="131554"/>
                  <a:pt x="0" y="102112"/>
                  <a:pt x="0" y="65777"/>
                </a:cubicBezTo>
                <a:cubicBezTo>
                  <a:pt x="0" y="29441"/>
                  <a:pt x="29441" y="0"/>
                  <a:pt x="65777" y="0"/>
                </a:cubicBezTo>
                <a:cubicBezTo>
                  <a:pt x="102112" y="0"/>
                  <a:pt x="131554" y="29441"/>
                  <a:pt x="131554" y="65777"/>
                </a:cubicBezTo>
                <a:close/>
                <a:moveTo>
                  <a:pt x="65777" y="35418"/>
                </a:moveTo>
                <a:cubicBezTo>
                  <a:pt x="61571" y="35418"/>
                  <a:pt x="58187" y="38802"/>
                  <a:pt x="58187" y="43008"/>
                </a:cubicBezTo>
                <a:lnTo>
                  <a:pt x="58187" y="58187"/>
                </a:lnTo>
                <a:lnTo>
                  <a:pt x="43008" y="58187"/>
                </a:lnTo>
                <a:cubicBezTo>
                  <a:pt x="38802" y="58187"/>
                  <a:pt x="35418" y="61571"/>
                  <a:pt x="35418" y="65777"/>
                </a:cubicBezTo>
                <a:cubicBezTo>
                  <a:pt x="35418" y="69983"/>
                  <a:pt x="38802" y="73367"/>
                  <a:pt x="43008" y="73367"/>
                </a:cubicBezTo>
                <a:lnTo>
                  <a:pt x="58187" y="73367"/>
                </a:lnTo>
                <a:lnTo>
                  <a:pt x="58187" y="88546"/>
                </a:lnTo>
                <a:cubicBezTo>
                  <a:pt x="58187" y="92752"/>
                  <a:pt x="61571" y="96135"/>
                  <a:pt x="65777" y="96135"/>
                </a:cubicBezTo>
                <a:cubicBezTo>
                  <a:pt x="69983" y="96135"/>
                  <a:pt x="73367" y="92752"/>
                  <a:pt x="73367" y="88546"/>
                </a:cubicBezTo>
                <a:lnTo>
                  <a:pt x="73367" y="73367"/>
                </a:lnTo>
                <a:lnTo>
                  <a:pt x="88546" y="73367"/>
                </a:lnTo>
                <a:cubicBezTo>
                  <a:pt x="92752" y="73367"/>
                  <a:pt x="96135" y="69983"/>
                  <a:pt x="96135" y="65777"/>
                </a:cubicBezTo>
                <a:cubicBezTo>
                  <a:pt x="96135" y="61571"/>
                  <a:pt x="92752" y="58187"/>
                  <a:pt x="88546" y="58187"/>
                </a:cubicBezTo>
                <a:lnTo>
                  <a:pt x="73367" y="58187"/>
                </a:lnTo>
                <a:lnTo>
                  <a:pt x="73367" y="43008"/>
                </a:lnTo>
                <a:cubicBezTo>
                  <a:pt x="73367" y="38802"/>
                  <a:pt x="69983" y="35418"/>
                  <a:pt x="65777" y="35418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8" name="Text 26"/>
          <p:cNvSpPr/>
          <p:nvPr/>
        </p:nvSpPr>
        <p:spPr>
          <a:xfrm>
            <a:off x="720510" y="4404016"/>
            <a:ext cx="5197386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120" y="4824988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0" name="Text 28"/>
          <p:cNvSpPr/>
          <p:nvPr/>
        </p:nvSpPr>
        <p:spPr>
          <a:xfrm>
            <a:off x="680032" y="4760223"/>
            <a:ext cx="2679649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predictors appeared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useful on their own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8120" y="5132622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2" name="Text 30"/>
          <p:cNvSpPr/>
          <p:nvPr/>
        </p:nvSpPr>
        <p:spPr>
          <a:xfrm>
            <a:off x="680032" y="5067857"/>
            <a:ext cx="2542024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became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weaker in the multiple model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8120" y="5440255"/>
            <a:ext cx="64765" cy="64765"/>
          </a:xfrm>
          <a:custGeom>
            <a:avLst/>
            <a:gdLst/>
            <a:ahLst/>
            <a:cxnLst/>
            <a:rect l="l" t="t" r="r" b="b"/>
            <a:pathLst>
              <a:path w="64765" h="64765">
                <a:moveTo>
                  <a:pt x="32382" y="0"/>
                </a:moveTo>
                <a:lnTo>
                  <a:pt x="32382" y="0"/>
                </a:lnTo>
                <a:cubicBezTo>
                  <a:pt x="50267" y="0"/>
                  <a:pt x="64765" y="14498"/>
                  <a:pt x="64765" y="32382"/>
                </a:cubicBezTo>
                <a:lnTo>
                  <a:pt x="64765" y="32382"/>
                </a:lnTo>
                <a:cubicBezTo>
                  <a:pt x="64765" y="50267"/>
                  <a:pt x="50267" y="64765"/>
                  <a:pt x="32382" y="64765"/>
                </a:cubicBezTo>
                <a:lnTo>
                  <a:pt x="32382" y="64765"/>
                </a:lnTo>
                <a:cubicBezTo>
                  <a:pt x="14498" y="64765"/>
                  <a:pt x="0" y="50267"/>
                  <a:pt x="0" y="32382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4" name="Text 32"/>
          <p:cNvSpPr/>
          <p:nvPr/>
        </p:nvSpPr>
        <p:spPr>
          <a:xfrm>
            <a:off x="680032" y="5375490"/>
            <a:ext cx="3448733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suggests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overlapping information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combined effects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2135" y="906709"/>
            <a:ext cx="5675028" cy="2525833"/>
          </a:xfrm>
          <a:custGeom>
            <a:avLst/>
            <a:gdLst/>
            <a:ahLst/>
            <a:cxnLst/>
            <a:rect l="l" t="t" r="r" b="b"/>
            <a:pathLst>
              <a:path w="5675028" h="2525833">
                <a:moveTo>
                  <a:pt x="64762" y="0"/>
                </a:moveTo>
                <a:lnTo>
                  <a:pt x="5610266" y="0"/>
                </a:lnTo>
                <a:cubicBezTo>
                  <a:pt x="5646033" y="0"/>
                  <a:pt x="5675028" y="28995"/>
                  <a:pt x="5675028" y="64762"/>
                </a:cubicBezTo>
                <a:lnTo>
                  <a:pt x="5675028" y="2461070"/>
                </a:lnTo>
                <a:cubicBezTo>
                  <a:pt x="5675028" y="2496838"/>
                  <a:pt x="5646033" y="2525833"/>
                  <a:pt x="5610266" y="2525833"/>
                </a:cubicBezTo>
                <a:lnTo>
                  <a:pt x="64762" y="2525833"/>
                </a:lnTo>
                <a:cubicBezTo>
                  <a:pt x="28995" y="2525833"/>
                  <a:pt x="0" y="2496838"/>
                  <a:pt x="0" y="2461070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87" dist="8096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17618" y="1068622"/>
            <a:ext cx="5424064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Linear Regression Example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4048" y="1392446"/>
            <a:ext cx="5351203" cy="1619124"/>
          </a:xfrm>
          <a:custGeom>
            <a:avLst/>
            <a:gdLst/>
            <a:ahLst/>
            <a:cxnLst/>
            <a:rect l="l" t="t" r="r" b="b"/>
            <a:pathLst>
              <a:path w="5351203" h="1619124">
                <a:moveTo>
                  <a:pt x="64765" y="0"/>
                </a:moveTo>
                <a:lnTo>
                  <a:pt x="5286438" y="0"/>
                </a:lnTo>
                <a:cubicBezTo>
                  <a:pt x="5322207" y="0"/>
                  <a:pt x="5351203" y="28996"/>
                  <a:pt x="5351203" y="64765"/>
                </a:cubicBezTo>
                <a:lnTo>
                  <a:pt x="5351203" y="1554359"/>
                </a:lnTo>
                <a:cubicBezTo>
                  <a:pt x="5351203" y="1590127"/>
                  <a:pt x="5322207" y="1619124"/>
                  <a:pt x="5286438" y="1619124"/>
                </a:cubicBezTo>
                <a:lnTo>
                  <a:pt x="64765" y="1619124"/>
                </a:lnTo>
                <a:cubicBezTo>
                  <a:pt x="28996" y="1619124"/>
                  <a:pt x="0" y="1590127"/>
                  <a:pt x="0" y="1554359"/>
                </a:cubicBezTo>
                <a:lnTo>
                  <a:pt x="0" y="64765"/>
                </a:lnTo>
                <a:cubicBezTo>
                  <a:pt x="0" y="28996"/>
                  <a:pt x="28996" y="0"/>
                  <a:pt x="64765" y="0"/>
                </a:cubicBezTo>
                <a:close/>
              </a:path>
            </a:pathLst>
          </a:custGeom>
          <a:solidFill>
            <a:srgbClr val="9B8E7D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834849" y="1764845"/>
            <a:ext cx="388590" cy="388590"/>
          </a:xfrm>
          <a:custGeom>
            <a:avLst/>
            <a:gdLst/>
            <a:ahLst/>
            <a:cxnLst/>
            <a:rect l="l" t="t" r="r" b="b"/>
            <a:pathLst>
              <a:path w="388590" h="388590">
                <a:moveTo>
                  <a:pt x="50016" y="173423"/>
                </a:moveTo>
                <a:cubicBezTo>
                  <a:pt x="60110" y="102840"/>
                  <a:pt x="120903" y="48574"/>
                  <a:pt x="194295" y="48574"/>
                </a:cubicBezTo>
                <a:cubicBezTo>
                  <a:pt x="234520" y="48574"/>
                  <a:pt x="270950" y="64891"/>
                  <a:pt x="297362" y="91227"/>
                </a:cubicBezTo>
                <a:cubicBezTo>
                  <a:pt x="297514" y="91379"/>
                  <a:pt x="297666" y="91531"/>
                  <a:pt x="297818" y="91683"/>
                </a:cubicBezTo>
                <a:lnTo>
                  <a:pt x="303586" y="97147"/>
                </a:lnTo>
                <a:lnTo>
                  <a:pt x="267231" y="97147"/>
                </a:lnTo>
                <a:cubicBezTo>
                  <a:pt x="253798" y="97147"/>
                  <a:pt x="242944" y="108001"/>
                  <a:pt x="242944" y="121434"/>
                </a:cubicBezTo>
                <a:cubicBezTo>
                  <a:pt x="242944" y="134868"/>
                  <a:pt x="253798" y="145721"/>
                  <a:pt x="267231" y="145721"/>
                </a:cubicBezTo>
                <a:lnTo>
                  <a:pt x="364379" y="145721"/>
                </a:lnTo>
                <a:cubicBezTo>
                  <a:pt x="377812" y="145721"/>
                  <a:pt x="388666" y="134868"/>
                  <a:pt x="388666" y="121434"/>
                </a:cubicBezTo>
                <a:lnTo>
                  <a:pt x="388666" y="24287"/>
                </a:lnTo>
                <a:cubicBezTo>
                  <a:pt x="388666" y="10853"/>
                  <a:pt x="377812" y="0"/>
                  <a:pt x="364379" y="0"/>
                </a:cubicBezTo>
                <a:cubicBezTo>
                  <a:pt x="350945" y="0"/>
                  <a:pt x="340092" y="10853"/>
                  <a:pt x="340092" y="24287"/>
                </a:cubicBezTo>
                <a:lnTo>
                  <a:pt x="340092" y="64816"/>
                </a:lnTo>
                <a:lnTo>
                  <a:pt x="331516" y="56695"/>
                </a:lnTo>
                <a:cubicBezTo>
                  <a:pt x="296375" y="21706"/>
                  <a:pt x="247802" y="0"/>
                  <a:pt x="194295" y="0"/>
                </a:cubicBezTo>
                <a:cubicBezTo>
                  <a:pt x="96388" y="0"/>
                  <a:pt x="15407" y="72405"/>
                  <a:pt x="1973" y="166593"/>
                </a:cubicBezTo>
                <a:cubicBezTo>
                  <a:pt x="76" y="179875"/>
                  <a:pt x="9259" y="192170"/>
                  <a:pt x="22541" y="194067"/>
                </a:cubicBezTo>
                <a:cubicBezTo>
                  <a:pt x="35823" y="195965"/>
                  <a:pt x="48118" y="186705"/>
                  <a:pt x="50016" y="173499"/>
                </a:cubicBezTo>
                <a:close/>
                <a:moveTo>
                  <a:pt x="386616" y="221997"/>
                </a:moveTo>
                <a:cubicBezTo>
                  <a:pt x="388514" y="208715"/>
                  <a:pt x="379254" y="196420"/>
                  <a:pt x="366048" y="194523"/>
                </a:cubicBezTo>
                <a:cubicBezTo>
                  <a:pt x="352842" y="192625"/>
                  <a:pt x="340471" y="201884"/>
                  <a:pt x="338574" y="215090"/>
                </a:cubicBezTo>
                <a:cubicBezTo>
                  <a:pt x="328480" y="285674"/>
                  <a:pt x="267687" y="339940"/>
                  <a:pt x="194295" y="339940"/>
                </a:cubicBezTo>
                <a:cubicBezTo>
                  <a:pt x="154070" y="339940"/>
                  <a:pt x="117639" y="323622"/>
                  <a:pt x="91227" y="297286"/>
                </a:cubicBezTo>
                <a:cubicBezTo>
                  <a:pt x="91076" y="297134"/>
                  <a:pt x="90924" y="296983"/>
                  <a:pt x="90772" y="296831"/>
                </a:cubicBezTo>
                <a:lnTo>
                  <a:pt x="85004" y="291366"/>
                </a:lnTo>
                <a:lnTo>
                  <a:pt x="121358" y="291366"/>
                </a:lnTo>
                <a:cubicBezTo>
                  <a:pt x="134792" y="291366"/>
                  <a:pt x="145645" y="280513"/>
                  <a:pt x="145645" y="267079"/>
                </a:cubicBezTo>
                <a:cubicBezTo>
                  <a:pt x="145645" y="253646"/>
                  <a:pt x="134792" y="242793"/>
                  <a:pt x="121358" y="242793"/>
                </a:cubicBezTo>
                <a:lnTo>
                  <a:pt x="24287" y="242869"/>
                </a:lnTo>
                <a:cubicBezTo>
                  <a:pt x="17836" y="242869"/>
                  <a:pt x="11612" y="245449"/>
                  <a:pt x="7058" y="250079"/>
                </a:cubicBezTo>
                <a:cubicBezTo>
                  <a:pt x="2505" y="254708"/>
                  <a:pt x="-76" y="260856"/>
                  <a:pt x="0" y="267383"/>
                </a:cubicBezTo>
                <a:lnTo>
                  <a:pt x="759" y="363772"/>
                </a:lnTo>
                <a:cubicBezTo>
                  <a:pt x="835" y="377205"/>
                  <a:pt x="11840" y="387982"/>
                  <a:pt x="25274" y="387831"/>
                </a:cubicBezTo>
                <a:cubicBezTo>
                  <a:pt x="38707" y="387679"/>
                  <a:pt x="49484" y="376750"/>
                  <a:pt x="49333" y="363316"/>
                </a:cubicBezTo>
                <a:lnTo>
                  <a:pt x="49029" y="324229"/>
                </a:lnTo>
                <a:lnTo>
                  <a:pt x="57150" y="331895"/>
                </a:lnTo>
                <a:cubicBezTo>
                  <a:pt x="92290" y="366883"/>
                  <a:pt x="140788" y="388590"/>
                  <a:pt x="194295" y="388590"/>
                </a:cubicBezTo>
                <a:cubicBezTo>
                  <a:pt x="292201" y="388590"/>
                  <a:pt x="373183" y="316184"/>
                  <a:pt x="386616" y="221997"/>
                </a:cubicBezTo>
                <a:close/>
              </a:path>
            </a:pathLst>
          </a:custGeom>
          <a:solidFill>
            <a:srgbClr val="9B8E7D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06243" y="2250582"/>
            <a:ext cx="1845801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Scatter plot with regression line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10291" y="2477259"/>
            <a:ext cx="1837705" cy="1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2" dirty="0">
                <a:solidFill>
                  <a:srgbClr val="9A959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Hours vs. Productivity Score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5713" y="3108717"/>
            <a:ext cx="5407873" cy="1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2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[SLR Plot Screenshot Placeholder]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2135" y="3594454"/>
            <a:ext cx="5675028" cy="2663458"/>
          </a:xfrm>
          <a:custGeom>
            <a:avLst/>
            <a:gdLst/>
            <a:ahLst/>
            <a:cxnLst/>
            <a:rect l="l" t="t" r="r" b="b"/>
            <a:pathLst>
              <a:path w="5675028" h="2663458">
                <a:moveTo>
                  <a:pt x="64775" y="0"/>
                </a:moveTo>
                <a:lnTo>
                  <a:pt x="5610253" y="0"/>
                </a:lnTo>
                <a:cubicBezTo>
                  <a:pt x="5646027" y="0"/>
                  <a:pt x="5675028" y="29001"/>
                  <a:pt x="5675028" y="64775"/>
                </a:cubicBezTo>
                <a:lnTo>
                  <a:pt x="5675028" y="2598683"/>
                </a:lnTo>
                <a:cubicBezTo>
                  <a:pt x="5675028" y="2634457"/>
                  <a:pt x="5646027" y="2663458"/>
                  <a:pt x="5610253" y="2663458"/>
                </a:cubicBezTo>
                <a:lnTo>
                  <a:pt x="64775" y="2663458"/>
                </a:lnTo>
                <a:cubicBezTo>
                  <a:pt x="29001" y="2663458"/>
                  <a:pt x="0" y="2634457"/>
                  <a:pt x="0" y="2598683"/>
                </a:cubicBezTo>
                <a:lnTo>
                  <a:pt x="0" y="64775"/>
                </a:lnTo>
                <a:cubicBezTo>
                  <a:pt x="0" y="29025"/>
                  <a:pt x="29025" y="0"/>
                  <a:pt x="64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87" dist="8096" dir="540000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17618" y="3756367"/>
            <a:ext cx="5424064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Linear Regression Results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4048" y="4080191"/>
            <a:ext cx="5351203" cy="1756749"/>
          </a:xfrm>
          <a:custGeom>
            <a:avLst/>
            <a:gdLst/>
            <a:ahLst/>
            <a:cxnLst/>
            <a:rect l="l" t="t" r="r" b="b"/>
            <a:pathLst>
              <a:path w="5351203" h="1756749">
                <a:moveTo>
                  <a:pt x="64771" y="0"/>
                </a:moveTo>
                <a:lnTo>
                  <a:pt x="5286432" y="0"/>
                </a:lnTo>
                <a:cubicBezTo>
                  <a:pt x="5322204" y="0"/>
                  <a:pt x="5351203" y="28999"/>
                  <a:pt x="5351203" y="64771"/>
                </a:cubicBezTo>
                <a:lnTo>
                  <a:pt x="5351203" y="1691978"/>
                </a:lnTo>
                <a:cubicBezTo>
                  <a:pt x="5351203" y="1727750"/>
                  <a:pt x="5322204" y="1756749"/>
                  <a:pt x="5286432" y="1756749"/>
                </a:cubicBezTo>
                <a:lnTo>
                  <a:pt x="64771" y="1756749"/>
                </a:lnTo>
                <a:cubicBezTo>
                  <a:pt x="28999" y="1756749"/>
                  <a:pt x="0" y="1727750"/>
                  <a:pt x="0" y="1691978"/>
                </a:cubicBezTo>
                <a:lnTo>
                  <a:pt x="0" y="64771"/>
                </a:lnTo>
                <a:cubicBezTo>
                  <a:pt x="0" y="29023"/>
                  <a:pt x="29023" y="0"/>
                  <a:pt x="64771" y="0"/>
                </a:cubicBezTo>
                <a:close/>
              </a:path>
            </a:pathLst>
          </a:custGeom>
          <a:solidFill>
            <a:srgbClr val="A8B5A0">
              <a:alpha val="5098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3578" y="4209721"/>
          <a:ext cx="5092143" cy="1497689"/>
        </p:xfrm>
        <a:graphic>
          <a:graphicData uri="http://schemas.openxmlformats.org/drawingml/2006/table">
            <a:tbl>
              <a:tblPr/>
              <a:tblGrid>
                <a:gridCol w="2112956"/>
                <a:gridCol w="1716271"/>
                <a:gridCol w="1262916"/>
              </a:tblGrid>
              <a:tr h="299538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Variable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9B8E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Coefficient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9B8E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p-value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9B8E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538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Study Hours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0.XXX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0.05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538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Sleep Quality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0.XXX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0.05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538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Stress Level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-0.XXX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0.05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9538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R²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765" marB="6476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b="1" u="none" dirty="0">
                          <a:solidFill>
                            <a:srgbClr val="5C56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0.XX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6" name="Text 43"/>
          <p:cNvSpPr/>
          <p:nvPr/>
        </p:nvSpPr>
        <p:spPr>
          <a:xfrm>
            <a:off x="6325713" y="5934088"/>
            <a:ext cx="5407873" cy="1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2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[MLR Results Table Placeholder]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40016" y="6387442"/>
            <a:ext cx="11528159" cy="469546"/>
          </a:xfrm>
          <a:custGeom>
            <a:avLst/>
            <a:gdLst/>
            <a:ahLst/>
            <a:cxnLst/>
            <a:rect l="l" t="t" r="r" b="b"/>
            <a:pathLst>
              <a:path w="11528159" h="469546">
                <a:moveTo>
                  <a:pt x="32382" y="0"/>
                </a:moveTo>
                <a:lnTo>
                  <a:pt x="11463395" y="0"/>
                </a:lnTo>
                <a:cubicBezTo>
                  <a:pt x="11499163" y="0"/>
                  <a:pt x="11528159" y="28996"/>
                  <a:pt x="11528159" y="64764"/>
                </a:cubicBezTo>
                <a:lnTo>
                  <a:pt x="11528159" y="404781"/>
                </a:lnTo>
                <a:cubicBezTo>
                  <a:pt x="11528159" y="440550"/>
                  <a:pt x="11499163" y="469546"/>
                  <a:pt x="11463395" y="469546"/>
                </a:cubicBezTo>
                <a:lnTo>
                  <a:pt x="32382" y="469546"/>
                </a:lnTo>
                <a:cubicBezTo>
                  <a:pt x="14498" y="469546"/>
                  <a:pt x="0" y="455048"/>
                  <a:pt x="0" y="437163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9B8E7D">
              <a:alpha val="1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340016" y="6387442"/>
            <a:ext cx="32382" cy="469546"/>
          </a:xfrm>
          <a:custGeom>
            <a:avLst/>
            <a:gdLst/>
            <a:ahLst/>
            <a:cxnLst/>
            <a:rect l="l" t="t" r="r" b="b"/>
            <a:pathLst>
              <a:path w="32382" h="469546">
                <a:moveTo>
                  <a:pt x="32382" y="0"/>
                </a:moveTo>
                <a:lnTo>
                  <a:pt x="32382" y="0"/>
                </a:lnTo>
                <a:lnTo>
                  <a:pt x="32382" y="469546"/>
                </a:lnTo>
                <a:lnTo>
                  <a:pt x="32382" y="469546"/>
                </a:lnTo>
                <a:cubicBezTo>
                  <a:pt x="14498" y="469546"/>
                  <a:pt x="0" y="455048"/>
                  <a:pt x="0" y="437163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49" name="Shape 46"/>
          <p:cNvSpPr/>
          <p:nvPr/>
        </p:nvSpPr>
        <p:spPr>
          <a:xfrm>
            <a:off x="493833" y="6541259"/>
            <a:ext cx="145721" cy="129530"/>
          </a:xfrm>
          <a:custGeom>
            <a:avLst/>
            <a:gdLst/>
            <a:ahLst/>
            <a:cxnLst/>
            <a:rect l="l" t="t" r="r" b="b"/>
            <a:pathLst>
              <a:path w="145721" h="129530">
                <a:moveTo>
                  <a:pt x="78300" y="-4781"/>
                </a:moveTo>
                <a:cubicBezTo>
                  <a:pt x="77263" y="-6805"/>
                  <a:pt x="75163" y="-8096"/>
                  <a:pt x="72886" y="-8096"/>
                </a:cubicBezTo>
                <a:cubicBezTo>
                  <a:pt x="70609" y="-8096"/>
                  <a:pt x="68509" y="-6805"/>
                  <a:pt x="67472" y="-4781"/>
                </a:cubicBezTo>
                <a:lnTo>
                  <a:pt x="48852" y="31699"/>
                </a:lnTo>
                <a:lnTo>
                  <a:pt x="8399" y="38125"/>
                </a:lnTo>
                <a:cubicBezTo>
                  <a:pt x="6148" y="38479"/>
                  <a:pt x="4275" y="40073"/>
                  <a:pt x="3567" y="42249"/>
                </a:cubicBezTo>
                <a:cubicBezTo>
                  <a:pt x="2859" y="44425"/>
                  <a:pt x="3441" y="46803"/>
                  <a:pt x="5034" y="48422"/>
                </a:cubicBezTo>
                <a:lnTo>
                  <a:pt x="33976" y="77389"/>
                </a:lnTo>
                <a:lnTo>
                  <a:pt x="27601" y="117842"/>
                </a:lnTo>
                <a:cubicBezTo>
                  <a:pt x="27247" y="120093"/>
                  <a:pt x="28183" y="122370"/>
                  <a:pt x="30030" y="123711"/>
                </a:cubicBezTo>
                <a:cubicBezTo>
                  <a:pt x="31876" y="125052"/>
                  <a:pt x="34305" y="125254"/>
                  <a:pt x="36354" y="124217"/>
                </a:cubicBezTo>
                <a:lnTo>
                  <a:pt x="72886" y="105648"/>
                </a:lnTo>
                <a:lnTo>
                  <a:pt x="109392" y="124217"/>
                </a:lnTo>
                <a:cubicBezTo>
                  <a:pt x="111416" y="125254"/>
                  <a:pt x="113870" y="125052"/>
                  <a:pt x="115717" y="123711"/>
                </a:cubicBezTo>
                <a:cubicBezTo>
                  <a:pt x="117564" y="122370"/>
                  <a:pt x="118500" y="120119"/>
                  <a:pt x="118145" y="117842"/>
                </a:cubicBezTo>
                <a:lnTo>
                  <a:pt x="111745" y="77389"/>
                </a:lnTo>
                <a:lnTo>
                  <a:pt x="140687" y="48422"/>
                </a:lnTo>
                <a:cubicBezTo>
                  <a:pt x="142306" y="46803"/>
                  <a:pt x="142862" y="44425"/>
                  <a:pt x="142154" y="42249"/>
                </a:cubicBezTo>
                <a:cubicBezTo>
                  <a:pt x="141446" y="40073"/>
                  <a:pt x="139599" y="38479"/>
                  <a:pt x="137322" y="38125"/>
                </a:cubicBezTo>
                <a:lnTo>
                  <a:pt x="96894" y="31699"/>
                </a:lnTo>
                <a:lnTo>
                  <a:pt x="78300" y="-4781"/>
                </a:ln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50" name="Text 47"/>
          <p:cNvSpPr/>
          <p:nvPr/>
        </p:nvSpPr>
        <p:spPr>
          <a:xfrm>
            <a:off x="688934" y="6516972"/>
            <a:ext cx="11114477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single factor was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enough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explain productivity well; the multiple regression model provided a </a:t>
            </a:r>
            <a:pPr>
              <a:lnSpc>
                <a:spcPct val="140000"/>
              </a:lnSpc>
            </a:pPr>
            <a:r>
              <a:rPr lang="en-US" sz="102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meaningful interpretation</a:t>
            </a:r>
            <a:pPr>
              <a:lnSpc>
                <a:spcPct val="140000"/>
              </a:lnSpc>
            </a:pPr>
            <a:r>
              <a:rPr lang="en-US" sz="102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621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Regression Helped Us Understand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5581650" cy="2209800"/>
          </a:xfrm>
          <a:custGeom>
            <a:avLst/>
            <a:gdLst/>
            <a:ahLst/>
            <a:cxnLst/>
            <a:rect l="l" t="t" r="r" b="b"/>
            <a:pathLst>
              <a:path w="5581650" h="2209800">
                <a:moveTo>
                  <a:pt x="38100" y="0"/>
                </a:moveTo>
                <a:lnTo>
                  <a:pt x="5505456" y="0"/>
                </a:lnTo>
                <a:cubicBezTo>
                  <a:pt x="5547537" y="0"/>
                  <a:pt x="5581650" y="34113"/>
                  <a:pt x="5581650" y="76194"/>
                </a:cubicBezTo>
                <a:lnTo>
                  <a:pt x="5581650" y="2133606"/>
                </a:lnTo>
                <a:cubicBezTo>
                  <a:pt x="5581650" y="2175687"/>
                  <a:pt x="5547537" y="2209800"/>
                  <a:pt x="5505456" y="2209800"/>
                </a:cubicBezTo>
                <a:lnTo>
                  <a:pt x="38100" y="2209800"/>
                </a:lnTo>
                <a:cubicBezTo>
                  <a:pt x="17072" y="2209800"/>
                  <a:pt x="0" y="2192728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0668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3810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38100" y="2209800"/>
                </a:lnTo>
                <a:cubicBezTo>
                  <a:pt x="17072" y="2209800"/>
                  <a:pt x="0" y="2192728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7" name="Shape 5"/>
          <p:cNvSpPr/>
          <p:nvPr/>
        </p:nvSpPr>
        <p:spPr>
          <a:xfrm>
            <a:off x="676275" y="1333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8" name="Text 6"/>
          <p:cNvSpPr/>
          <p:nvPr/>
        </p:nvSpPr>
        <p:spPr>
          <a:xfrm>
            <a:off x="933450" y="1295400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700" y="179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1790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4900" y="1790700"/>
            <a:ext cx="3648075" cy="314325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Behaviour matters, but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in a one-variable way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700" y="22598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225980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2259806"/>
            <a:ext cx="4410075" cy="314325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effects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weakened after accounting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other variables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27289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7289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" y="2728913"/>
            <a:ext cx="4610100" cy="314325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 should be cautious: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is not causation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464719"/>
            <a:ext cx="5581650" cy="2095500"/>
          </a:xfrm>
          <a:custGeom>
            <a:avLst/>
            <a:gdLst/>
            <a:ahLst/>
            <a:cxnLst/>
            <a:rect l="l" t="t" r="r" b="b"/>
            <a:pathLst>
              <a:path w="5581650" h="209550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2019308"/>
                </a:lnTo>
                <a:cubicBezTo>
                  <a:pt x="5581650" y="2061388"/>
                  <a:pt x="5547538" y="2095500"/>
                  <a:pt x="5505458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3464719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275" y="37314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1" name="Text 19"/>
          <p:cNvSpPr/>
          <p:nvPr/>
        </p:nvSpPr>
        <p:spPr>
          <a:xfrm>
            <a:off x="933450" y="3693319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" y="42648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" y="4188619"/>
            <a:ext cx="2762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trends alone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were not enough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" y="4695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" y="4619625"/>
            <a:ext cx="3371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models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were useful as a starting point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7700" y="512683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" y="5050631"/>
            <a:ext cx="48672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regression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better captured the complexity of productivity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1066800"/>
            <a:ext cx="5600700" cy="4495800"/>
          </a:xfrm>
          <a:custGeom>
            <a:avLst/>
            <a:gdLst/>
            <a:ahLst/>
            <a:cxnLst/>
            <a:rect l="l" t="t" r="r" b="b"/>
            <a:pathLst>
              <a:path w="5600700" h="4495800">
                <a:moveTo>
                  <a:pt x="76204" y="0"/>
                </a:moveTo>
                <a:lnTo>
                  <a:pt x="5524496" y="0"/>
                </a:lnTo>
                <a:cubicBezTo>
                  <a:pt x="5566582" y="0"/>
                  <a:pt x="5600700" y="34118"/>
                  <a:pt x="5600700" y="76204"/>
                </a:cubicBezTo>
                <a:lnTo>
                  <a:pt x="5600700" y="4419596"/>
                </a:lnTo>
                <a:cubicBezTo>
                  <a:pt x="5600700" y="4461682"/>
                  <a:pt x="5566582" y="4495800"/>
                  <a:pt x="5524496" y="4495800"/>
                </a:cubicBezTo>
                <a:lnTo>
                  <a:pt x="76204" y="4495800"/>
                </a:lnTo>
                <a:cubicBezTo>
                  <a:pt x="34118" y="4495800"/>
                  <a:pt x="0" y="4461682"/>
                  <a:pt x="0" y="44195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91275" y="129540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 Comparison: SLR vs. MLR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8900" y="1714500"/>
            <a:ext cx="5143500" cy="3133725"/>
          </a:xfrm>
          <a:custGeom>
            <a:avLst/>
            <a:gdLst/>
            <a:ahLst/>
            <a:cxnLst/>
            <a:rect l="l" t="t" r="r" b="b"/>
            <a:pathLst>
              <a:path w="5143500" h="3133725">
                <a:moveTo>
                  <a:pt x="76212" y="0"/>
                </a:moveTo>
                <a:lnTo>
                  <a:pt x="5067288" y="0"/>
                </a:lnTo>
                <a:cubicBezTo>
                  <a:pt x="5109379" y="0"/>
                  <a:pt x="5143500" y="34121"/>
                  <a:pt x="5143500" y="76212"/>
                </a:cubicBezTo>
                <a:lnTo>
                  <a:pt x="5143500" y="3057513"/>
                </a:lnTo>
                <a:cubicBezTo>
                  <a:pt x="5143500" y="3099604"/>
                  <a:pt x="5109379" y="3133725"/>
                  <a:pt x="5067288" y="3133725"/>
                </a:cubicBezTo>
                <a:lnTo>
                  <a:pt x="76212" y="3133725"/>
                </a:lnTo>
                <a:cubicBezTo>
                  <a:pt x="34121" y="3133725"/>
                  <a:pt x="0" y="3099604"/>
                  <a:pt x="0" y="3057513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9B8E7D">
              <a:alpha val="5098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9050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Hours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220980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77275" y="22098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29400" y="2438400"/>
            <a:ext cx="2305050" cy="114300"/>
          </a:xfrm>
          <a:custGeom>
            <a:avLst/>
            <a:gdLst/>
            <a:ahLst/>
            <a:cxnLst/>
            <a:rect l="l" t="t" r="r" b="b"/>
            <a:pathLst>
              <a:path w="2305050" h="114300">
                <a:moveTo>
                  <a:pt x="57150" y="0"/>
                </a:moveTo>
                <a:lnTo>
                  <a:pt x="2247900" y="0"/>
                </a:lnTo>
                <a:cubicBezTo>
                  <a:pt x="2279442" y="0"/>
                  <a:pt x="2305050" y="25608"/>
                  <a:pt x="2305050" y="57150"/>
                </a:cubicBezTo>
                <a:lnTo>
                  <a:pt x="2305050" y="57150"/>
                </a:lnTo>
                <a:cubicBezTo>
                  <a:pt x="2305050" y="88692"/>
                  <a:pt x="2279442" y="114300"/>
                  <a:pt x="22479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B5A0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2438400"/>
            <a:ext cx="1038225" cy="114300"/>
          </a:xfrm>
          <a:custGeom>
            <a:avLst/>
            <a:gdLst/>
            <a:ahLst/>
            <a:cxnLst/>
            <a:rect l="l" t="t" r="r" b="b"/>
            <a:pathLst>
              <a:path w="1038225" h="114300">
                <a:moveTo>
                  <a:pt x="57150" y="0"/>
                </a:moveTo>
                <a:lnTo>
                  <a:pt x="981075" y="0"/>
                </a:lnTo>
                <a:cubicBezTo>
                  <a:pt x="1012617" y="0"/>
                  <a:pt x="1038225" y="25608"/>
                  <a:pt x="1038225" y="57150"/>
                </a:cubicBezTo>
                <a:lnTo>
                  <a:pt x="1038225" y="57150"/>
                </a:lnTo>
                <a:cubicBezTo>
                  <a:pt x="1038225" y="88692"/>
                  <a:pt x="1012617" y="114300"/>
                  <a:pt x="9810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36" name="Text 34"/>
          <p:cNvSpPr/>
          <p:nvPr/>
        </p:nvSpPr>
        <p:spPr>
          <a:xfrm>
            <a:off x="9086850" y="22098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34725" y="22098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0.28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86850" y="2438400"/>
            <a:ext cx="2305050" cy="114300"/>
          </a:xfrm>
          <a:custGeom>
            <a:avLst/>
            <a:gdLst/>
            <a:ahLst/>
            <a:cxnLst/>
            <a:rect l="l" t="t" r="r" b="b"/>
            <a:pathLst>
              <a:path w="2305050" h="114300">
                <a:moveTo>
                  <a:pt x="57150" y="0"/>
                </a:moveTo>
                <a:lnTo>
                  <a:pt x="2247900" y="0"/>
                </a:lnTo>
                <a:cubicBezTo>
                  <a:pt x="2279442" y="0"/>
                  <a:pt x="2305050" y="25608"/>
                  <a:pt x="2305050" y="57150"/>
                </a:cubicBezTo>
                <a:lnTo>
                  <a:pt x="2305050" y="57150"/>
                </a:lnTo>
                <a:cubicBezTo>
                  <a:pt x="2305050" y="88692"/>
                  <a:pt x="2279442" y="114300"/>
                  <a:pt x="22479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086850" y="2438400"/>
            <a:ext cx="647700" cy="114300"/>
          </a:xfrm>
          <a:custGeom>
            <a:avLst/>
            <a:gdLst/>
            <a:ahLst/>
            <a:cxnLst/>
            <a:rect l="l" t="t" r="r" b="b"/>
            <a:pathLst>
              <a:path w="647700" h="114300">
                <a:moveTo>
                  <a:pt x="57150" y="0"/>
                </a:moveTo>
                <a:lnTo>
                  <a:pt x="590550" y="0"/>
                </a:lnTo>
                <a:cubicBezTo>
                  <a:pt x="622092" y="0"/>
                  <a:pt x="647700" y="25608"/>
                  <a:pt x="647700" y="57150"/>
                </a:cubicBezTo>
                <a:lnTo>
                  <a:pt x="647700" y="57150"/>
                </a:lnTo>
                <a:cubicBezTo>
                  <a:pt x="647700" y="88692"/>
                  <a:pt x="622092" y="114300"/>
                  <a:pt x="590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27051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Sleep Quality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29400" y="300990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77275" y="30099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0.38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29400" y="3238500"/>
            <a:ext cx="2305050" cy="114300"/>
          </a:xfrm>
          <a:custGeom>
            <a:avLst/>
            <a:gdLst/>
            <a:ahLst/>
            <a:cxnLst/>
            <a:rect l="l" t="t" r="r" b="b"/>
            <a:pathLst>
              <a:path w="2305050" h="114300">
                <a:moveTo>
                  <a:pt x="57150" y="0"/>
                </a:moveTo>
                <a:lnTo>
                  <a:pt x="2247900" y="0"/>
                </a:lnTo>
                <a:cubicBezTo>
                  <a:pt x="2279442" y="0"/>
                  <a:pt x="2305050" y="25608"/>
                  <a:pt x="2305050" y="57150"/>
                </a:cubicBezTo>
                <a:lnTo>
                  <a:pt x="2305050" y="57150"/>
                </a:lnTo>
                <a:cubicBezTo>
                  <a:pt x="2305050" y="88692"/>
                  <a:pt x="2279442" y="114300"/>
                  <a:pt x="22479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B5A0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29400" y="3238500"/>
            <a:ext cx="876300" cy="114300"/>
          </a:xfrm>
          <a:custGeom>
            <a:avLst/>
            <a:gdLst/>
            <a:ahLst/>
            <a:cxnLst/>
            <a:rect l="l" t="t" r="r" b="b"/>
            <a:pathLst>
              <a:path w="876300" h="114300">
                <a:moveTo>
                  <a:pt x="57150" y="0"/>
                </a:moveTo>
                <a:lnTo>
                  <a:pt x="819150" y="0"/>
                </a:lnTo>
                <a:cubicBezTo>
                  <a:pt x="850692" y="0"/>
                  <a:pt x="876300" y="25608"/>
                  <a:pt x="876300" y="57150"/>
                </a:cubicBezTo>
                <a:lnTo>
                  <a:pt x="876300" y="57150"/>
                </a:lnTo>
                <a:cubicBezTo>
                  <a:pt x="876300" y="88692"/>
                  <a:pt x="850692" y="114300"/>
                  <a:pt x="819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45" name="Text 43"/>
          <p:cNvSpPr/>
          <p:nvPr/>
        </p:nvSpPr>
        <p:spPr>
          <a:xfrm>
            <a:off x="9086850" y="30099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44250" y="300990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0.22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86850" y="3238500"/>
            <a:ext cx="2305050" cy="114300"/>
          </a:xfrm>
          <a:custGeom>
            <a:avLst/>
            <a:gdLst/>
            <a:ahLst/>
            <a:cxnLst/>
            <a:rect l="l" t="t" r="r" b="b"/>
            <a:pathLst>
              <a:path w="2305050" h="114300">
                <a:moveTo>
                  <a:pt x="57150" y="0"/>
                </a:moveTo>
                <a:lnTo>
                  <a:pt x="2247900" y="0"/>
                </a:lnTo>
                <a:cubicBezTo>
                  <a:pt x="2279442" y="0"/>
                  <a:pt x="2305050" y="25608"/>
                  <a:pt x="2305050" y="57150"/>
                </a:cubicBezTo>
                <a:lnTo>
                  <a:pt x="2305050" y="57150"/>
                </a:lnTo>
                <a:cubicBezTo>
                  <a:pt x="2305050" y="88692"/>
                  <a:pt x="2279442" y="114300"/>
                  <a:pt x="22479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086850" y="3238500"/>
            <a:ext cx="504825" cy="114300"/>
          </a:xfrm>
          <a:custGeom>
            <a:avLst/>
            <a:gdLst/>
            <a:ahLst/>
            <a:cxnLst/>
            <a:rect l="l" t="t" r="r" b="b"/>
            <a:pathLst>
              <a:path w="504825" h="114300">
                <a:moveTo>
                  <a:pt x="57150" y="0"/>
                </a:moveTo>
                <a:lnTo>
                  <a:pt x="447675" y="0"/>
                </a:lnTo>
                <a:cubicBezTo>
                  <a:pt x="479217" y="0"/>
                  <a:pt x="504825" y="25608"/>
                  <a:pt x="504825" y="57150"/>
                </a:cubicBezTo>
                <a:lnTo>
                  <a:pt x="504825" y="57150"/>
                </a:lnTo>
                <a:cubicBezTo>
                  <a:pt x="504825" y="88692"/>
                  <a:pt x="479217" y="114300"/>
                  <a:pt x="447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49" name="Text 47"/>
          <p:cNvSpPr/>
          <p:nvPr/>
        </p:nvSpPr>
        <p:spPr>
          <a:xfrm>
            <a:off x="6629400" y="35052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Stress Level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29400" y="381000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20125" y="38100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-0.42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629400" y="4038600"/>
            <a:ext cx="2305050" cy="114300"/>
          </a:xfrm>
          <a:custGeom>
            <a:avLst/>
            <a:gdLst/>
            <a:ahLst/>
            <a:cxnLst/>
            <a:rect l="l" t="t" r="r" b="b"/>
            <a:pathLst>
              <a:path w="2305050" h="114300">
                <a:moveTo>
                  <a:pt x="57150" y="0"/>
                </a:moveTo>
                <a:lnTo>
                  <a:pt x="2247900" y="0"/>
                </a:lnTo>
                <a:cubicBezTo>
                  <a:pt x="2279442" y="0"/>
                  <a:pt x="2305050" y="25608"/>
                  <a:pt x="2305050" y="57150"/>
                </a:cubicBezTo>
                <a:lnTo>
                  <a:pt x="2305050" y="57150"/>
                </a:lnTo>
                <a:cubicBezTo>
                  <a:pt x="2305050" y="88692"/>
                  <a:pt x="2279442" y="114300"/>
                  <a:pt x="22479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B5A0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29400" y="4038600"/>
            <a:ext cx="971550" cy="114300"/>
          </a:xfrm>
          <a:custGeom>
            <a:avLst/>
            <a:gdLst/>
            <a:ahLst/>
            <a:cxnLst/>
            <a:rect l="l" t="t" r="r" b="b"/>
            <a:pathLst>
              <a:path w="971550" h="114300">
                <a:moveTo>
                  <a:pt x="57150" y="0"/>
                </a:moveTo>
                <a:lnTo>
                  <a:pt x="914400" y="0"/>
                </a:lnTo>
                <a:cubicBezTo>
                  <a:pt x="945942" y="0"/>
                  <a:pt x="971550" y="25608"/>
                  <a:pt x="971550" y="57150"/>
                </a:cubicBezTo>
                <a:lnTo>
                  <a:pt x="971550" y="57150"/>
                </a:lnTo>
                <a:cubicBezTo>
                  <a:pt x="971550" y="88692"/>
                  <a:pt x="945942" y="114300"/>
                  <a:pt x="9144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54" name="Text 52"/>
          <p:cNvSpPr/>
          <p:nvPr/>
        </p:nvSpPr>
        <p:spPr>
          <a:xfrm>
            <a:off x="9086850" y="38100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06150" y="3810000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-0.31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86850" y="4038600"/>
            <a:ext cx="2305050" cy="114300"/>
          </a:xfrm>
          <a:custGeom>
            <a:avLst/>
            <a:gdLst/>
            <a:ahLst/>
            <a:cxnLst/>
            <a:rect l="l" t="t" r="r" b="b"/>
            <a:pathLst>
              <a:path w="2305050" h="114300">
                <a:moveTo>
                  <a:pt x="57150" y="0"/>
                </a:moveTo>
                <a:lnTo>
                  <a:pt x="2247900" y="0"/>
                </a:lnTo>
                <a:cubicBezTo>
                  <a:pt x="2279442" y="0"/>
                  <a:pt x="2305050" y="25608"/>
                  <a:pt x="2305050" y="57150"/>
                </a:cubicBezTo>
                <a:lnTo>
                  <a:pt x="2305050" y="57150"/>
                </a:lnTo>
                <a:cubicBezTo>
                  <a:pt x="2305050" y="88692"/>
                  <a:pt x="2279442" y="114300"/>
                  <a:pt x="22479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86850" y="4038600"/>
            <a:ext cx="714375" cy="114300"/>
          </a:xfrm>
          <a:custGeom>
            <a:avLst/>
            <a:gdLst/>
            <a:ahLst/>
            <a:cxnLst/>
            <a:rect l="l" t="t" r="r" b="b"/>
            <a:pathLst>
              <a:path w="714375" h="114300">
                <a:moveTo>
                  <a:pt x="57150" y="0"/>
                </a:moveTo>
                <a:lnTo>
                  <a:pt x="657225" y="0"/>
                </a:lnTo>
                <a:cubicBezTo>
                  <a:pt x="688767" y="0"/>
                  <a:pt x="714375" y="25608"/>
                  <a:pt x="714375" y="57150"/>
                </a:cubicBezTo>
                <a:lnTo>
                  <a:pt x="714375" y="57150"/>
                </a:lnTo>
                <a:cubicBezTo>
                  <a:pt x="714375" y="88692"/>
                  <a:pt x="688767" y="114300"/>
                  <a:pt x="6572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58" name="Shape 56"/>
          <p:cNvSpPr/>
          <p:nvPr/>
        </p:nvSpPr>
        <p:spPr>
          <a:xfrm>
            <a:off x="6629400" y="4310063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  <a:lnTo>
                  <a:pt x="4762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596063" y="4467225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sizes decrease when controlling for other variables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05563" y="500062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[Coefficient Comparison Visualization]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00050" y="5710238"/>
            <a:ext cx="11410950" cy="942975"/>
          </a:xfrm>
          <a:custGeom>
            <a:avLst/>
            <a:gdLst/>
            <a:ahLst/>
            <a:cxnLst/>
            <a:rect l="l" t="t" r="r" b="b"/>
            <a:pathLst>
              <a:path w="11410950" h="942975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866773"/>
                </a:lnTo>
                <a:cubicBezTo>
                  <a:pt x="11410950" y="908858"/>
                  <a:pt x="11376833" y="942975"/>
                  <a:pt x="11334748" y="942975"/>
                </a:cubicBezTo>
                <a:lnTo>
                  <a:pt x="38100" y="942975"/>
                </a:lnTo>
                <a:cubicBezTo>
                  <a:pt x="17072" y="942975"/>
                  <a:pt x="0" y="925903"/>
                  <a:pt x="0" y="904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00050" y="5710238"/>
            <a:ext cx="38100" cy="942975"/>
          </a:xfrm>
          <a:custGeom>
            <a:avLst/>
            <a:gdLst/>
            <a:ahLst/>
            <a:cxnLst/>
            <a:rect l="l" t="t" r="r" b="b"/>
            <a:pathLst>
              <a:path w="38100" h="942975">
                <a:moveTo>
                  <a:pt x="38100" y="0"/>
                </a:moveTo>
                <a:lnTo>
                  <a:pt x="38100" y="0"/>
                </a:lnTo>
                <a:lnTo>
                  <a:pt x="38100" y="942975"/>
                </a:lnTo>
                <a:lnTo>
                  <a:pt x="38100" y="942975"/>
                </a:lnTo>
                <a:cubicBezTo>
                  <a:pt x="17072" y="942975"/>
                  <a:pt x="0" y="925903"/>
                  <a:pt x="0" y="904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63" name="Shape 61"/>
          <p:cNvSpPr/>
          <p:nvPr/>
        </p:nvSpPr>
        <p:spPr>
          <a:xfrm>
            <a:off x="654844" y="591978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64" name="Text 62"/>
          <p:cNvSpPr/>
          <p:nvPr/>
        </p:nvSpPr>
        <p:spPr>
          <a:xfrm>
            <a:off x="885825" y="5900738"/>
            <a:ext cx="108204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Insight: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Regression suggested that student productivity is better understood as the result of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interacting factors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one dominant habit.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" name="Text 1"/>
          <p:cNvSpPr/>
          <p:nvPr/>
        </p:nvSpPr>
        <p:spPr>
          <a:xfrm>
            <a:off x="281781" y="31750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0250" y="317500"/>
            <a:ext cx="74533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We Classify Students into High and Low Productivity?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889000"/>
            <a:ext cx="5667375" cy="1476375"/>
          </a:xfrm>
          <a:custGeom>
            <a:avLst/>
            <a:gdLst/>
            <a:ahLst/>
            <a:cxnLst/>
            <a:rect l="l" t="t" r="r" b="b"/>
            <a:pathLst>
              <a:path w="5667375" h="1476375">
                <a:moveTo>
                  <a:pt x="31750" y="0"/>
                </a:moveTo>
                <a:lnTo>
                  <a:pt x="5603876" y="0"/>
                </a:lnTo>
                <a:cubicBezTo>
                  <a:pt x="5638946" y="0"/>
                  <a:pt x="5667375" y="28429"/>
                  <a:pt x="5667375" y="63499"/>
                </a:cubicBezTo>
                <a:lnTo>
                  <a:pt x="5667375" y="1412876"/>
                </a:lnTo>
                <a:cubicBezTo>
                  <a:pt x="5667375" y="1447946"/>
                  <a:pt x="5638946" y="1476375"/>
                  <a:pt x="5603876" y="1476375"/>
                </a:cubicBez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889000"/>
            <a:ext cx="31750" cy="1476375"/>
          </a:xfrm>
          <a:custGeom>
            <a:avLst/>
            <a:gdLst/>
            <a:ahLst/>
            <a:cxnLst/>
            <a:rect l="l" t="t" r="r" b="b"/>
            <a:pathLst>
              <a:path w="31750" h="1476375">
                <a:moveTo>
                  <a:pt x="31750" y="0"/>
                </a:moveTo>
                <a:lnTo>
                  <a:pt x="31750" y="0"/>
                </a:lnTo>
                <a:lnTo>
                  <a:pt x="31750" y="1476375"/>
                </a:ln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7" name="Shape 5"/>
          <p:cNvSpPr/>
          <p:nvPr/>
        </p:nvSpPr>
        <p:spPr>
          <a:xfrm>
            <a:off x="527844" y="1079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54570"/>
                </a:moveTo>
                <a:cubicBezTo>
                  <a:pt x="73887" y="54570"/>
                  <a:pt x="69453" y="59004"/>
                  <a:pt x="69453" y="64492"/>
                </a:cubicBezTo>
                <a:cubicBezTo>
                  <a:pt x="69453" y="68616"/>
                  <a:pt x="66135" y="71934"/>
                  <a:pt x="62012" y="71934"/>
                </a:cubicBezTo>
                <a:cubicBezTo>
                  <a:pt x="57888" y="71934"/>
                  <a:pt x="54570" y="68616"/>
                  <a:pt x="54570" y="64492"/>
                </a:cubicBezTo>
                <a:cubicBezTo>
                  <a:pt x="54570" y="50788"/>
                  <a:pt x="65670" y="39688"/>
                  <a:pt x="79375" y="39688"/>
                </a:cubicBezTo>
                <a:cubicBezTo>
                  <a:pt x="93080" y="39688"/>
                  <a:pt x="104180" y="50788"/>
                  <a:pt x="104180" y="64492"/>
                </a:cubicBezTo>
                <a:cubicBezTo>
                  <a:pt x="104180" y="79127"/>
                  <a:pt x="93018" y="85328"/>
                  <a:pt x="86816" y="87592"/>
                </a:cubicBezTo>
                <a:lnTo>
                  <a:pt x="86816" y="88770"/>
                </a:lnTo>
                <a:cubicBezTo>
                  <a:pt x="86816" y="92894"/>
                  <a:pt x="83499" y="96211"/>
                  <a:pt x="79375" y="96211"/>
                </a:cubicBezTo>
                <a:cubicBezTo>
                  <a:pt x="75251" y="96211"/>
                  <a:pt x="71934" y="92894"/>
                  <a:pt x="71934" y="88770"/>
                </a:cubicBezTo>
                <a:lnTo>
                  <a:pt x="71934" y="86258"/>
                </a:lnTo>
                <a:cubicBezTo>
                  <a:pt x="71934" y="79902"/>
                  <a:pt x="76522" y="75344"/>
                  <a:pt x="81266" y="73794"/>
                </a:cubicBezTo>
                <a:cubicBezTo>
                  <a:pt x="83251" y="73143"/>
                  <a:pt x="85359" y="72089"/>
                  <a:pt x="86909" y="70600"/>
                </a:cubicBezTo>
                <a:cubicBezTo>
                  <a:pt x="88243" y="69298"/>
                  <a:pt x="89297" y="67500"/>
                  <a:pt x="89297" y="64523"/>
                </a:cubicBezTo>
                <a:cubicBezTo>
                  <a:pt x="89297" y="59035"/>
                  <a:pt x="84863" y="54601"/>
                  <a:pt x="79375" y="54601"/>
                </a:cubicBezTo>
                <a:close/>
                <a:moveTo>
                  <a:pt x="69453" y="114102"/>
                </a:moveTo>
                <a:cubicBezTo>
                  <a:pt x="69453" y="108626"/>
                  <a:pt x="73899" y="104180"/>
                  <a:pt x="79375" y="104180"/>
                </a:cubicBezTo>
                <a:cubicBezTo>
                  <a:pt x="84851" y="104180"/>
                  <a:pt x="89297" y="108626"/>
                  <a:pt x="89297" y="114102"/>
                </a:cubicBezTo>
                <a:cubicBezTo>
                  <a:pt x="89297" y="119578"/>
                  <a:pt x="84851" y="124023"/>
                  <a:pt x="79375" y="124023"/>
                </a:cubicBezTo>
                <a:cubicBezTo>
                  <a:pt x="73899" y="124023"/>
                  <a:pt x="69453" y="119578"/>
                  <a:pt x="69453" y="114102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8" name="Text 6"/>
          <p:cNvSpPr/>
          <p:nvPr/>
        </p:nvSpPr>
        <p:spPr>
          <a:xfrm>
            <a:off x="706438" y="1047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Logistic Regression?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460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1397000"/>
            <a:ext cx="2540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tells us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productivity changes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1762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" y="1698625"/>
            <a:ext cx="36750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asks whether students can be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separated into groups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0637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" y="2000250"/>
            <a:ext cx="2794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converted productivity into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outcome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375" y="2524125"/>
            <a:ext cx="5667375" cy="1476375"/>
          </a:xfrm>
          <a:custGeom>
            <a:avLst/>
            <a:gdLst/>
            <a:ahLst/>
            <a:cxnLst/>
            <a:rect l="l" t="t" r="r" b="b"/>
            <a:pathLst>
              <a:path w="5667375" h="1476375">
                <a:moveTo>
                  <a:pt x="31750" y="0"/>
                </a:moveTo>
                <a:lnTo>
                  <a:pt x="5603876" y="0"/>
                </a:lnTo>
                <a:cubicBezTo>
                  <a:pt x="5638946" y="0"/>
                  <a:pt x="5667375" y="28429"/>
                  <a:pt x="5667375" y="63499"/>
                </a:cubicBezTo>
                <a:lnTo>
                  <a:pt x="5667375" y="1412876"/>
                </a:lnTo>
                <a:cubicBezTo>
                  <a:pt x="5667375" y="1447946"/>
                  <a:pt x="5638946" y="1476375"/>
                  <a:pt x="5603876" y="1476375"/>
                </a:cubicBez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375" y="2524125"/>
            <a:ext cx="31750" cy="1476375"/>
          </a:xfrm>
          <a:custGeom>
            <a:avLst/>
            <a:gdLst/>
            <a:ahLst/>
            <a:cxnLst/>
            <a:rect l="l" t="t" r="r" b="b"/>
            <a:pathLst>
              <a:path w="31750" h="1476375">
                <a:moveTo>
                  <a:pt x="31750" y="0"/>
                </a:moveTo>
                <a:lnTo>
                  <a:pt x="31750" y="0"/>
                </a:lnTo>
                <a:lnTo>
                  <a:pt x="31750" y="1476375"/>
                </a:ln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7" name="Shape 15"/>
          <p:cNvSpPr/>
          <p:nvPr/>
        </p:nvSpPr>
        <p:spPr>
          <a:xfrm>
            <a:off x="537766" y="27146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89297" y="0"/>
                </a:moveTo>
                <a:lnTo>
                  <a:pt x="39688" y="0"/>
                </a:lnTo>
                <a:cubicBezTo>
                  <a:pt x="34199" y="0"/>
                  <a:pt x="29766" y="4434"/>
                  <a:pt x="29766" y="9922"/>
                </a:cubicBezTo>
                <a:cubicBezTo>
                  <a:pt x="29766" y="15410"/>
                  <a:pt x="34199" y="19844"/>
                  <a:pt x="39688" y="19844"/>
                </a:cubicBezTo>
                <a:lnTo>
                  <a:pt x="39688" y="66818"/>
                </a:lnTo>
                <a:lnTo>
                  <a:pt x="2325" y="132178"/>
                </a:lnTo>
                <a:cubicBezTo>
                  <a:pt x="806" y="134875"/>
                  <a:pt x="0" y="137883"/>
                  <a:pt x="0" y="140984"/>
                </a:cubicBezTo>
                <a:cubicBezTo>
                  <a:pt x="0" y="150813"/>
                  <a:pt x="7938" y="158750"/>
                  <a:pt x="17766" y="158750"/>
                </a:cubicBezTo>
                <a:lnTo>
                  <a:pt x="121140" y="158750"/>
                </a:lnTo>
                <a:cubicBezTo>
                  <a:pt x="130938" y="158750"/>
                  <a:pt x="138906" y="150813"/>
                  <a:pt x="138906" y="140984"/>
                </a:cubicBezTo>
                <a:cubicBezTo>
                  <a:pt x="138906" y="137883"/>
                  <a:pt x="138100" y="134844"/>
                  <a:pt x="136581" y="132178"/>
                </a:cubicBezTo>
                <a:lnTo>
                  <a:pt x="99219" y="66818"/>
                </a:lnTo>
                <a:lnTo>
                  <a:pt x="99219" y="19844"/>
                </a:lnTo>
                <a:cubicBezTo>
                  <a:pt x="104707" y="19844"/>
                  <a:pt x="109141" y="15410"/>
                  <a:pt x="109141" y="9922"/>
                </a:cubicBezTo>
                <a:cubicBezTo>
                  <a:pt x="109141" y="4434"/>
                  <a:pt x="104707" y="0"/>
                  <a:pt x="99219" y="0"/>
                </a:cubicBezTo>
                <a:lnTo>
                  <a:pt x="89297" y="0"/>
                </a:lnTo>
                <a:close/>
                <a:moveTo>
                  <a:pt x="59531" y="66818"/>
                </a:moveTo>
                <a:lnTo>
                  <a:pt x="59531" y="19844"/>
                </a:lnTo>
                <a:lnTo>
                  <a:pt x="79375" y="19844"/>
                </a:lnTo>
                <a:lnTo>
                  <a:pt x="79375" y="66818"/>
                </a:lnTo>
                <a:cubicBezTo>
                  <a:pt x="79375" y="70259"/>
                  <a:pt x="80274" y="73670"/>
                  <a:pt x="81979" y="76677"/>
                </a:cubicBezTo>
                <a:lnTo>
                  <a:pt x="94878" y="99219"/>
                </a:lnTo>
                <a:lnTo>
                  <a:pt x="44028" y="99219"/>
                </a:lnTo>
                <a:lnTo>
                  <a:pt x="56927" y="76677"/>
                </a:lnTo>
                <a:cubicBezTo>
                  <a:pt x="58632" y="73670"/>
                  <a:pt x="59531" y="70290"/>
                  <a:pt x="59531" y="66818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8" name="Text 16"/>
          <p:cNvSpPr/>
          <p:nvPr/>
        </p:nvSpPr>
        <p:spPr>
          <a:xfrm>
            <a:off x="706438" y="2682875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Tested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3095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0" name="Text 18"/>
          <p:cNvSpPr/>
          <p:nvPr/>
        </p:nvSpPr>
        <p:spPr>
          <a:xfrm>
            <a:off x="666750" y="3032125"/>
            <a:ext cx="22780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logistic regression: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predictor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33972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2" name="Text 20"/>
          <p:cNvSpPr/>
          <p:nvPr/>
        </p:nvSpPr>
        <p:spPr>
          <a:xfrm>
            <a:off x="666750" y="3333750"/>
            <a:ext cx="3071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logistic regression: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several predictors together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8000" y="36988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4" name="Text 22"/>
          <p:cNvSpPr/>
          <p:nvPr/>
        </p:nvSpPr>
        <p:spPr>
          <a:xfrm>
            <a:off x="666750" y="3635375"/>
            <a:ext cx="3508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 performance using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confusion matrix and ROC/AUC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4159250"/>
            <a:ext cx="5667375" cy="1476375"/>
          </a:xfrm>
          <a:custGeom>
            <a:avLst/>
            <a:gdLst/>
            <a:ahLst/>
            <a:cxnLst/>
            <a:rect l="l" t="t" r="r" b="b"/>
            <a:pathLst>
              <a:path w="5667375" h="1476375">
                <a:moveTo>
                  <a:pt x="31750" y="0"/>
                </a:moveTo>
                <a:lnTo>
                  <a:pt x="5603876" y="0"/>
                </a:lnTo>
                <a:cubicBezTo>
                  <a:pt x="5638946" y="0"/>
                  <a:pt x="5667375" y="28429"/>
                  <a:pt x="5667375" y="63499"/>
                </a:cubicBezTo>
                <a:lnTo>
                  <a:pt x="5667375" y="1412876"/>
                </a:lnTo>
                <a:cubicBezTo>
                  <a:pt x="5667375" y="1447946"/>
                  <a:pt x="5638946" y="1476375"/>
                  <a:pt x="5603876" y="1476375"/>
                </a:cubicBez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375" y="4159250"/>
            <a:ext cx="31750" cy="1476375"/>
          </a:xfrm>
          <a:custGeom>
            <a:avLst/>
            <a:gdLst/>
            <a:ahLst/>
            <a:cxnLst/>
            <a:rect l="l" t="t" r="r" b="b"/>
            <a:pathLst>
              <a:path w="31750" h="1476375">
                <a:moveTo>
                  <a:pt x="31750" y="0"/>
                </a:moveTo>
                <a:lnTo>
                  <a:pt x="31750" y="0"/>
                </a:lnTo>
                <a:lnTo>
                  <a:pt x="31750" y="1476375"/>
                </a:ln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7844" y="4349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28" name="Text 26"/>
          <p:cNvSpPr/>
          <p:nvPr/>
        </p:nvSpPr>
        <p:spPr>
          <a:xfrm>
            <a:off x="706438" y="431800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47307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0" name="Text 28"/>
          <p:cNvSpPr/>
          <p:nvPr/>
        </p:nvSpPr>
        <p:spPr>
          <a:xfrm>
            <a:off x="666750" y="4667250"/>
            <a:ext cx="27860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single predictor had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classification ability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8000" y="50323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2" name="Text 30"/>
          <p:cNvSpPr/>
          <p:nvPr/>
        </p:nvSpPr>
        <p:spPr>
          <a:xfrm>
            <a:off x="666750" y="4968875"/>
            <a:ext cx="2254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predictors improved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model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8000" y="53340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34" name="Text 32"/>
          <p:cNvSpPr/>
          <p:nvPr/>
        </p:nvSpPr>
        <p:spPr>
          <a:xfrm>
            <a:off x="666750" y="5270500"/>
            <a:ext cx="3690937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behaviour alone still did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perfectly separate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two groups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889000"/>
            <a:ext cx="5683250" cy="2317750"/>
          </a:xfrm>
          <a:custGeom>
            <a:avLst/>
            <a:gdLst/>
            <a:ahLst/>
            <a:cxnLst/>
            <a:rect l="l" t="t" r="r" b="b"/>
            <a:pathLst>
              <a:path w="5683250" h="2317750">
                <a:moveTo>
                  <a:pt x="63506" y="0"/>
                </a:moveTo>
                <a:lnTo>
                  <a:pt x="5619744" y="0"/>
                </a:lnTo>
                <a:cubicBezTo>
                  <a:pt x="5654817" y="0"/>
                  <a:pt x="5683250" y="28433"/>
                  <a:pt x="5683250" y="63506"/>
                </a:cubicBezTo>
                <a:lnTo>
                  <a:pt x="5683250" y="2254244"/>
                </a:lnTo>
                <a:cubicBezTo>
                  <a:pt x="5683250" y="2289317"/>
                  <a:pt x="5654817" y="2317750"/>
                  <a:pt x="5619744" y="2317750"/>
                </a:cubicBezTo>
                <a:lnTo>
                  <a:pt x="63506" y="2317750"/>
                </a:lnTo>
                <a:cubicBezTo>
                  <a:pt x="28433" y="2317750"/>
                  <a:pt x="0" y="2289317"/>
                  <a:pt x="0" y="2254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14281" y="1047750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0000" y="1365250"/>
            <a:ext cx="5365750" cy="1428750"/>
          </a:xfrm>
          <a:custGeom>
            <a:avLst/>
            <a:gdLst/>
            <a:ahLst/>
            <a:cxnLst/>
            <a:rect l="l" t="t" r="r" b="b"/>
            <a:pathLst>
              <a:path w="5365750" h="1428750">
                <a:moveTo>
                  <a:pt x="63494" y="0"/>
                </a:moveTo>
                <a:lnTo>
                  <a:pt x="5302256" y="0"/>
                </a:lnTo>
                <a:cubicBezTo>
                  <a:pt x="5337323" y="0"/>
                  <a:pt x="5365750" y="28427"/>
                  <a:pt x="5365750" y="63494"/>
                </a:cubicBezTo>
                <a:lnTo>
                  <a:pt x="5365750" y="1365256"/>
                </a:lnTo>
                <a:cubicBezTo>
                  <a:pt x="5365750" y="1400323"/>
                  <a:pt x="5337323" y="1428750"/>
                  <a:pt x="5302256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9B8E7D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921625" y="1349375"/>
            <a:ext cx="1079500" cy="698500"/>
          </a:xfrm>
          <a:custGeom>
            <a:avLst/>
            <a:gdLst/>
            <a:ahLst/>
            <a:cxnLst/>
            <a:rect l="l" t="t" r="r" b="b"/>
            <a:pathLst>
              <a:path w="1079500" h="698500">
                <a:moveTo>
                  <a:pt x="31747" y="0"/>
                </a:moveTo>
                <a:lnTo>
                  <a:pt x="1047753" y="0"/>
                </a:lnTo>
                <a:cubicBezTo>
                  <a:pt x="1065286" y="0"/>
                  <a:pt x="1079500" y="14214"/>
                  <a:pt x="1079500" y="31747"/>
                </a:cubicBezTo>
                <a:lnTo>
                  <a:pt x="1079500" y="666753"/>
                </a:lnTo>
                <a:cubicBezTo>
                  <a:pt x="1079500" y="684286"/>
                  <a:pt x="1065286" y="698500"/>
                  <a:pt x="104775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A8B5A0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020844" y="1476375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Negative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01000" y="1666875"/>
            <a:ext cx="92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64625" y="1349375"/>
            <a:ext cx="1079500" cy="698500"/>
          </a:xfrm>
          <a:custGeom>
            <a:avLst/>
            <a:gdLst/>
            <a:ahLst/>
            <a:cxnLst/>
            <a:rect l="l" t="t" r="r" b="b"/>
            <a:pathLst>
              <a:path w="1079500" h="698500">
                <a:moveTo>
                  <a:pt x="31747" y="0"/>
                </a:moveTo>
                <a:lnTo>
                  <a:pt x="1047753" y="0"/>
                </a:lnTo>
                <a:cubicBezTo>
                  <a:pt x="1065286" y="0"/>
                  <a:pt x="1079500" y="14214"/>
                  <a:pt x="1079500" y="31747"/>
                </a:cubicBezTo>
                <a:lnTo>
                  <a:pt x="1079500" y="666753"/>
                </a:lnTo>
                <a:cubicBezTo>
                  <a:pt x="1079500" y="684286"/>
                  <a:pt x="1065286" y="698500"/>
                  <a:pt x="104775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C4A99B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163844" y="1476375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44000" y="1666875"/>
            <a:ext cx="92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XX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921625" y="2111375"/>
            <a:ext cx="1079500" cy="698500"/>
          </a:xfrm>
          <a:custGeom>
            <a:avLst/>
            <a:gdLst/>
            <a:ahLst/>
            <a:cxnLst/>
            <a:rect l="l" t="t" r="r" b="b"/>
            <a:pathLst>
              <a:path w="1079500" h="698500">
                <a:moveTo>
                  <a:pt x="31747" y="0"/>
                </a:moveTo>
                <a:lnTo>
                  <a:pt x="1047753" y="0"/>
                </a:lnTo>
                <a:cubicBezTo>
                  <a:pt x="1065286" y="0"/>
                  <a:pt x="1079500" y="14214"/>
                  <a:pt x="1079500" y="31747"/>
                </a:cubicBezTo>
                <a:lnTo>
                  <a:pt x="1079500" y="666753"/>
                </a:lnTo>
                <a:cubicBezTo>
                  <a:pt x="1079500" y="684286"/>
                  <a:pt x="1065286" y="698500"/>
                  <a:pt x="104775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C4A99B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020844" y="2238375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01000" y="2428875"/>
            <a:ext cx="92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64625" y="2111375"/>
            <a:ext cx="1079500" cy="698500"/>
          </a:xfrm>
          <a:custGeom>
            <a:avLst/>
            <a:gdLst/>
            <a:ahLst/>
            <a:cxnLst/>
            <a:rect l="l" t="t" r="r" b="b"/>
            <a:pathLst>
              <a:path w="1079500" h="698500">
                <a:moveTo>
                  <a:pt x="31747" y="0"/>
                </a:moveTo>
                <a:lnTo>
                  <a:pt x="1047753" y="0"/>
                </a:lnTo>
                <a:cubicBezTo>
                  <a:pt x="1065286" y="0"/>
                  <a:pt x="1079500" y="14214"/>
                  <a:pt x="1079500" y="31747"/>
                </a:cubicBezTo>
                <a:lnTo>
                  <a:pt x="1079500" y="666753"/>
                </a:lnTo>
                <a:cubicBezTo>
                  <a:pt x="1079500" y="684286"/>
                  <a:pt x="1065286" y="698500"/>
                  <a:pt x="1047753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A8B5A0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163844" y="2238375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Positive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44000" y="2428875"/>
            <a:ext cx="92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XX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22219" y="28892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[Confusion Matrix Screenshot Placeholder]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250" y="3365500"/>
            <a:ext cx="5683250" cy="2317750"/>
          </a:xfrm>
          <a:custGeom>
            <a:avLst/>
            <a:gdLst/>
            <a:ahLst/>
            <a:cxnLst/>
            <a:rect l="l" t="t" r="r" b="b"/>
            <a:pathLst>
              <a:path w="5683250" h="2317750">
                <a:moveTo>
                  <a:pt x="63506" y="0"/>
                </a:moveTo>
                <a:lnTo>
                  <a:pt x="5619744" y="0"/>
                </a:lnTo>
                <a:cubicBezTo>
                  <a:pt x="5654817" y="0"/>
                  <a:pt x="5683250" y="28433"/>
                  <a:pt x="5683250" y="63506"/>
                </a:cubicBezTo>
                <a:lnTo>
                  <a:pt x="5683250" y="2254244"/>
                </a:lnTo>
                <a:cubicBezTo>
                  <a:pt x="5683250" y="2289317"/>
                  <a:pt x="5654817" y="2317750"/>
                  <a:pt x="5619744" y="2317750"/>
                </a:cubicBezTo>
                <a:lnTo>
                  <a:pt x="63506" y="2317750"/>
                </a:lnTo>
                <a:cubicBezTo>
                  <a:pt x="28433" y="2317750"/>
                  <a:pt x="0" y="2289317"/>
                  <a:pt x="0" y="2254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314281" y="3524250"/>
            <a:ext cx="543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 Curve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0000" y="3841750"/>
            <a:ext cx="5365750" cy="1428750"/>
          </a:xfrm>
          <a:custGeom>
            <a:avLst/>
            <a:gdLst/>
            <a:ahLst/>
            <a:cxnLst/>
            <a:rect l="l" t="t" r="r" b="b"/>
            <a:pathLst>
              <a:path w="5365750" h="1428750">
                <a:moveTo>
                  <a:pt x="63494" y="0"/>
                </a:moveTo>
                <a:lnTo>
                  <a:pt x="5302256" y="0"/>
                </a:lnTo>
                <a:cubicBezTo>
                  <a:pt x="5337323" y="0"/>
                  <a:pt x="5365750" y="28427"/>
                  <a:pt x="5365750" y="63494"/>
                </a:cubicBezTo>
                <a:lnTo>
                  <a:pt x="5365750" y="1365256"/>
                </a:lnTo>
                <a:cubicBezTo>
                  <a:pt x="5365750" y="1400323"/>
                  <a:pt x="5337323" y="1428750"/>
                  <a:pt x="5302256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A8B5A0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842375" y="412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A8B5A0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50250" y="4603750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 Curve with AUC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54219" y="4826000"/>
            <a:ext cx="135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discrimination ability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22219" y="5365750"/>
            <a:ext cx="542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[ROC Curve Screenshot Placeholder]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91250" y="5842000"/>
            <a:ext cx="2778125" cy="730250"/>
          </a:xfrm>
          <a:custGeom>
            <a:avLst/>
            <a:gdLst/>
            <a:ahLst/>
            <a:cxnLst/>
            <a:rect l="l" t="t" r="r" b="b"/>
            <a:pathLst>
              <a:path w="2778125" h="730250">
                <a:moveTo>
                  <a:pt x="63503" y="0"/>
                </a:moveTo>
                <a:lnTo>
                  <a:pt x="2714622" y="0"/>
                </a:lnTo>
                <a:cubicBezTo>
                  <a:pt x="2749694" y="0"/>
                  <a:pt x="2778125" y="28431"/>
                  <a:pt x="2778125" y="63503"/>
                </a:cubicBezTo>
                <a:lnTo>
                  <a:pt x="2778125" y="666747"/>
                </a:lnTo>
                <a:cubicBezTo>
                  <a:pt x="2778125" y="701819"/>
                  <a:pt x="2749694" y="730250"/>
                  <a:pt x="2714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9B8E7D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290469" y="5969000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58719" y="6159500"/>
            <a:ext cx="2643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XX%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96375" y="5842000"/>
            <a:ext cx="2778125" cy="730250"/>
          </a:xfrm>
          <a:custGeom>
            <a:avLst/>
            <a:gdLst/>
            <a:ahLst/>
            <a:cxnLst/>
            <a:rect l="l" t="t" r="r" b="b"/>
            <a:pathLst>
              <a:path w="2778125" h="730250">
                <a:moveTo>
                  <a:pt x="63503" y="0"/>
                </a:moveTo>
                <a:lnTo>
                  <a:pt x="2714622" y="0"/>
                </a:lnTo>
                <a:cubicBezTo>
                  <a:pt x="2749694" y="0"/>
                  <a:pt x="2778125" y="28431"/>
                  <a:pt x="2778125" y="63503"/>
                </a:cubicBezTo>
                <a:lnTo>
                  <a:pt x="2778125" y="666747"/>
                </a:lnTo>
                <a:cubicBezTo>
                  <a:pt x="2778125" y="701819"/>
                  <a:pt x="2749694" y="730250"/>
                  <a:pt x="2714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A8B5A0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195594" y="5969000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A95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63844" y="6159500"/>
            <a:ext cx="2643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0.XX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33375" y="6699250"/>
            <a:ext cx="11541125" cy="666750"/>
          </a:xfrm>
          <a:custGeom>
            <a:avLst/>
            <a:gdLst/>
            <a:ahLst/>
            <a:cxnLst/>
            <a:rect l="l" t="t" r="r" b="b"/>
            <a:pathLst>
              <a:path w="11541125" h="666750">
                <a:moveTo>
                  <a:pt x="3175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603249"/>
                </a:lnTo>
                <a:cubicBezTo>
                  <a:pt x="11541125" y="638320"/>
                  <a:pt x="11512695" y="666750"/>
                  <a:pt x="1147762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33375" y="669925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66" name="Shape 64"/>
          <p:cNvSpPr/>
          <p:nvPr/>
        </p:nvSpPr>
        <p:spPr>
          <a:xfrm>
            <a:off x="492125" y="6850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67" name="Text 65"/>
          <p:cNvSpPr/>
          <p:nvPr/>
        </p:nvSpPr>
        <p:spPr>
          <a:xfrm>
            <a:off x="674688" y="6826250"/>
            <a:ext cx="11136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Insight: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Classification gave us a second perspective on productivity, but also showed that the distinction between high and low productivity is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completely explained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behaviour variables alone.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b963585cd434c230a1d0320543b2a5eac78a64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681" b="6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7F5F3">
              <a:alpha val="90196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5" name="Text 2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5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6300" y="381000"/>
            <a:ext cx="5762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Limitations, Lessons, and 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1028700"/>
            <a:ext cx="3667125" cy="3114675"/>
          </a:xfrm>
          <a:custGeom>
            <a:avLst/>
            <a:gdLst/>
            <a:ahLst/>
            <a:cxnLst/>
            <a:rect l="l" t="t" r="r" b="b"/>
            <a:pathLst>
              <a:path w="3667125" h="3114675">
                <a:moveTo>
                  <a:pt x="38100" y="0"/>
                </a:moveTo>
                <a:lnTo>
                  <a:pt x="3590940" y="0"/>
                </a:lnTo>
                <a:cubicBezTo>
                  <a:pt x="3633016" y="0"/>
                  <a:pt x="3667125" y="34109"/>
                  <a:pt x="3667125" y="76185"/>
                </a:cubicBezTo>
                <a:lnTo>
                  <a:pt x="3667125" y="3038490"/>
                </a:lnTo>
                <a:cubicBezTo>
                  <a:pt x="3667125" y="3080566"/>
                  <a:pt x="3633016" y="3114675"/>
                  <a:pt x="3590940" y="3114675"/>
                </a:cubicBezTo>
                <a:lnTo>
                  <a:pt x="38100" y="3114675"/>
                </a:lnTo>
                <a:cubicBezTo>
                  <a:pt x="17058" y="3114675"/>
                  <a:pt x="0" y="3097617"/>
                  <a:pt x="0" y="3076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0050" y="1028700"/>
            <a:ext cx="38100" cy="3114675"/>
          </a:xfrm>
          <a:custGeom>
            <a:avLst/>
            <a:gdLst/>
            <a:ahLst/>
            <a:cxnLst/>
            <a:rect l="l" t="t" r="r" b="b"/>
            <a:pathLst>
              <a:path w="38100" h="3114675">
                <a:moveTo>
                  <a:pt x="38100" y="0"/>
                </a:moveTo>
                <a:lnTo>
                  <a:pt x="38100" y="0"/>
                </a:lnTo>
                <a:lnTo>
                  <a:pt x="38100" y="3114675"/>
                </a:lnTo>
                <a:lnTo>
                  <a:pt x="38100" y="3114675"/>
                </a:lnTo>
                <a:cubicBezTo>
                  <a:pt x="17072" y="3114675"/>
                  <a:pt x="0" y="3097603"/>
                  <a:pt x="0" y="3076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9" name="Shape 6"/>
          <p:cNvSpPr/>
          <p:nvPr/>
        </p:nvSpPr>
        <p:spPr>
          <a:xfrm>
            <a:off x="633413" y="1257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10" name="Text 7"/>
          <p:cNvSpPr/>
          <p:nvPr/>
        </p:nvSpPr>
        <p:spPr>
          <a:xfrm>
            <a:off x="847725" y="12192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Difficulties We Faced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60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" y="16383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visually promising variables were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significant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final models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9600" y="2362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" y="22860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modelling initially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 due to preprocessing order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9600" y="3009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16" name="Text 13"/>
          <p:cNvSpPr/>
          <p:nvPr/>
        </p:nvSpPr>
        <p:spPr>
          <a:xfrm>
            <a:off x="800100" y="29337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learned that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creation should happen before train/test split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73451" y="1028700"/>
            <a:ext cx="3667125" cy="3114675"/>
          </a:xfrm>
          <a:custGeom>
            <a:avLst/>
            <a:gdLst/>
            <a:ahLst/>
            <a:cxnLst/>
            <a:rect l="l" t="t" r="r" b="b"/>
            <a:pathLst>
              <a:path w="3667125" h="3114675">
                <a:moveTo>
                  <a:pt x="38100" y="0"/>
                </a:moveTo>
                <a:lnTo>
                  <a:pt x="3590940" y="0"/>
                </a:lnTo>
                <a:cubicBezTo>
                  <a:pt x="3633016" y="0"/>
                  <a:pt x="3667125" y="34109"/>
                  <a:pt x="3667125" y="76185"/>
                </a:cubicBezTo>
                <a:lnTo>
                  <a:pt x="3667125" y="3038490"/>
                </a:lnTo>
                <a:cubicBezTo>
                  <a:pt x="3667125" y="3080566"/>
                  <a:pt x="3633016" y="3114675"/>
                  <a:pt x="3590940" y="3114675"/>
                </a:cubicBezTo>
                <a:lnTo>
                  <a:pt x="38100" y="3114675"/>
                </a:lnTo>
                <a:cubicBezTo>
                  <a:pt x="17058" y="3114675"/>
                  <a:pt x="0" y="3097617"/>
                  <a:pt x="0" y="3076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73451" y="1028700"/>
            <a:ext cx="38100" cy="3114675"/>
          </a:xfrm>
          <a:custGeom>
            <a:avLst/>
            <a:gdLst/>
            <a:ahLst/>
            <a:cxnLst/>
            <a:rect l="l" t="t" r="r" b="b"/>
            <a:pathLst>
              <a:path w="38100" h="3114675">
                <a:moveTo>
                  <a:pt x="38100" y="0"/>
                </a:moveTo>
                <a:lnTo>
                  <a:pt x="38100" y="0"/>
                </a:lnTo>
                <a:lnTo>
                  <a:pt x="38100" y="3114675"/>
                </a:lnTo>
                <a:lnTo>
                  <a:pt x="38100" y="3114675"/>
                </a:lnTo>
                <a:cubicBezTo>
                  <a:pt x="17072" y="3114675"/>
                  <a:pt x="0" y="3097603"/>
                  <a:pt x="0" y="3076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19" name="Shape 16"/>
          <p:cNvSpPr/>
          <p:nvPr/>
        </p:nvSpPr>
        <p:spPr>
          <a:xfrm>
            <a:off x="4506813" y="1257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0" name="Text 17"/>
          <p:cNvSpPr/>
          <p:nvPr/>
        </p:nvSpPr>
        <p:spPr>
          <a:xfrm>
            <a:off x="4721126" y="12192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483001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2" name="Text 19"/>
          <p:cNvSpPr/>
          <p:nvPr/>
        </p:nvSpPr>
        <p:spPr>
          <a:xfrm>
            <a:off x="4673501" y="16383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Behavioural variables may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capture all influences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productivity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83001" y="2362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4" name="Text 21"/>
          <p:cNvSpPr/>
          <p:nvPr/>
        </p:nvSpPr>
        <p:spPr>
          <a:xfrm>
            <a:off x="4673501" y="22860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loses information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original continuous score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83001" y="3009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26" name="Text 23"/>
          <p:cNvSpPr/>
          <p:nvPr/>
        </p:nvSpPr>
        <p:spPr>
          <a:xfrm>
            <a:off x="4673501" y="293370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show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association, not causation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47000" y="1028700"/>
            <a:ext cx="3667125" cy="3114675"/>
          </a:xfrm>
          <a:custGeom>
            <a:avLst/>
            <a:gdLst/>
            <a:ahLst/>
            <a:cxnLst/>
            <a:rect l="l" t="t" r="r" b="b"/>
            <a:pathLst>
              <a:path w="3667125" h="3114675">
                <a:moveTo>
                  <a:pt x="38100" y="0"/>
                </a:moveTo>
                <a:lnTo>
                  <a:pt x="3590940" y="0"/>
                </a:lnTo>
                <a:cubicBezTo>
                  <a:pt x="3633016" y="0"/>
                  <a:pt x="3667125" y="34109"/>
                  <a:pt x="3667125" y="76185"/>
                </a:cubicBezTo>
                <a:lnTo>
                  <a:pt x="3667125" y="3038490"/>
                </a:lnTo>
                <a:cubicBezTo>
                  <a:pt x="3667125" y="3080566"/>
                  <a:pt x="3633016" y="3114675"/>
                  <a:pt x="3590940" y="3114675"/>
                </a:cubicBezTo>
                <a:lnTo>
                  <a:pt x="38100" y="3114675"/>
                </a:lnTo>
                <a:cubicBezTo>
                  <a:pt x="17058" y="3114675"/>
                  <a:pt x="0" y="3097617"/>
                  <a:pt x="0" y="3076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147000" y="1028700"/>
            <a:ext cx="38100" cy="3114675"/>
          </a:xfrm>
          <a:custGeom>
            <a:avLst/>
            <a:gdLst/>
            <a:ahLst/>
            <a:cxnLst/>
            <a:rect l="l" t="t" r="r" b="b"/>
            <a:pathLst>
              <a:path w="38100" h="3114675">
                <a:moveTo>
                  <a:pt x="38100" y="0"/>
                </a:moveTo>
                <a:lnTo>
                  <a:pt x="38100" y="0"/>
                </a:lnTo>
                <a:lnTo>
                  <a:pt x="38100" y="3114675"/>
                </a:lnTo>
                <a:lnTo>
                  <a:pt x="38100" y="3114675"/>
                </a:lnTo>
                <a:cubicBezTo>
                  <a:pt x="17072" y="3114675"/>
                  <a:pt x="0" y="3097603"/>
                  <a:pt x="0" y="3076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29" name="Shape 26"/>
          <p:cNvSpPr/>
          <p:nvPr/>
        </p:nvSpPr>
        <p:spPr>
          <a:xfrm>
            <a:off x="8380363" y="1257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30" name="Text 27"/>
          <p:cNvSpPr/>
          <p:nvPr/>
        </p:nvSpPr>
        <p:spPr>
          <a:xfrm>
            <a:off x="8594675" y="12192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C56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Conclusion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56550" y="1714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32" name="Text 29"/>
          <p:cNvSpPr/>
          <p:nvPr/>
        </p:nvSpPr>
        <p:spPr>
          <a:xfrm>
            <a:off x="8547050" y="16383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can be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predicted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behavioural factors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356550" y="2362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34" name="Text 31"/>
          <p:cNvSpPr/>
          <p:nvPr/>
        </p:nvSpPr>
        <p:spPr>
          <a:xfrm>
            <a:off x="8547050" y="22860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factors matter more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any single habit alone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56550" y="3009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36" name="Text 33"/>
          <p:cNvSpPr/>
          <p:nvPr/>
        </p:nvSpPr>
        <p:spPr>
          <a:xfrm>
            <a:off x="8547050" y="2933700"/>
            <a:ext cx="3152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EDA, regression, and classification gave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C56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fuller understanding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00050" y="4333875"/>
            <a:ext cx="11410950" cy="1076325"/>
          </a:xfrm>
          <a:custGeom>
            <a:avLst/>
            <a:gdLst/>
            <a:ahLst/>
            <a:cxnLst/>
            <a:rect l="l" t="t" r="r" b="b"/>
            <a:pathLst>
              <a:path w="11410950" h="1076325">
                <a:moveTo>
                  <a:pt x="38100" y="0"/>
                </a:moveTo>
                <a:lnTo>
                  <a:pt x="11334746" y="0"/>
                </a:lnTo>
                <a:cubicBezTo>
                  <a:pt x="11376832" y="0"/>
                  <a:pt x="11410950" y="34118"/>
                  <a:pt x="11410950" y="76204"/>
                </a:cubicBezTo>
                <a:lnTo>
                  <a:pt x="11410950" y="1000121"/>
                </a:lnTo>
                <a:cubicBezTo>
                  <a:pt x="11410950" y="1042207"/>
                  <a:pt x="11376832" y="1076325"/>
                  <a:pt x="113347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>
              <a:alpha val="14902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00050" y="4333875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39" name="Shape 36"/>
          <p:cNvSpPr/>
          <p:nvPr/>
        </p:nvSpPr>
        <p:spPr>
          <a:xfrm>
            <a:off x="702469" y="4600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40" name="Text 37"/>
          <p:cNvSpPr/>
          <p:nvPr/>
        </p:nvSpPr>
        <p:spPr>
          <a:xfrm>
            <a:off x="923925" y="4562475"/>
            <a:ext cx="107061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Overall, student productivity appears to be influenced by multiple interacting behaviours, and modelling it from only one factor would oversimplify the problem.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748213" y="556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8B5A0">
              <a:alpha val="2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912519" y="5724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A8B5A0"/>
          </a:solidFill>
          <a:ln/>
        </p:spPr>
      </p:sp>
      <p:sp>
        <p:nvSpPr>
          <p:cNvPr id="43" name="Text 40"/>
          <p:cNvSpPr/>
          <p:nvPr/>
        </p:nvSpPr>
        <p:spPr>
          <a:xfrm>
            <a:off x="4652963" y="62484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848350" y="556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9B8E7D">
              <a:alpha val="2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012656" y="5724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9B8E7D"/>
          </a:solidFill>
          <a:ln/>
        </p:spPr>
      </p:sp>
      <p:sp>
        <p:nvSpPr>
          <p:cNvPr id="46" name="Text 43"/>
          <p:cNvSpPr/>
          <p:nvPr/>
        </p:nvSpPr>
        <p:spPr>
          <a:xfrm>
            <a:off x="5681663" y="62484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891338" y="5562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4A99B">
              <a:alpha val="2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091363" y="57245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C4A99B"/>
          </a:solidFill>
          <a:ln/>
        </p:spPr>
      </p:sp>
      <p:sp>
        <p:nvSpPr>
          <p:cNvPr id="49" name="Text 46"/>
          <p:cNvSpPr/>
          <p:nvPr/>
        </p:nvSpPr>
        <p:spPr>
          <a:xfrm>
            <a:off x="6853238" y="6248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C56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Really Drives Student Productivity?</dc:title>
  <dc:subject>What Really Drives Student Productivity?</dc:subject>
  <dc:creator>Kimi</dc:creator>
  <cp:lastModifiedBy>Kimi</cp:lastModifiedBy>
  <cp:revision>1</cp:revision>
  <dcterms:created xsi:type="dcterms:W3CDTF">2026-03-19T00:37:17Z</dcterms:created>
  <dcterms:modified xsi:type="dcterms:W3CDTF">2026-03-19T00:37:17Z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{"Label":"What Really Drives Student Productivity?","ContentProducer":"001191110108MACG2KBH8F10000","ProduceID":"19d037e2-6982-8b5b-8000-000043416a4f","ReservedCode1":"","ContentPropagator":"001191110108MACG2KBH8F20000","PropagateID":"19d037e2-6982-8b5b-8000-000043416a4f","ReservedCode2":""}</vt:lpwstr>
  </property>
</Properties>
</file>