
<file path=[Content_Types].xml><?xml version="1.0" encoding="utf-8"?>
<Types xmlns="http://schemas.openxmlformats.org/package/2006/content-types">
  <Default Extension="bin" ContentType="image/unknown"/>
  <Default Extension="fntdata" ContentType="application/x-fontdata"/>
  <Default Extension="jpg" ContentType="image/jp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embeddedFontLst>
    <p:embeddedFont>
      <p:font typeface="微软雅黑" panose="020B0503020204020204" pitchFamily="34" charset="-122"/>
      <p:regular r:id="rId11"/>
      <p:bold r:id="rId12"/>
    </p:embeddedFont>
    <p:embeddedFont>
      <p:font typeface="Liter" panose="020B0604020202020204" charset="0"/>
      <p:regular r:id="rId13"/>
    </p:embeddedFont>
    <p:embeddedFont>
      <p:font typeface="Quattrocento Sans" panose="020B0502050000020003" pitchFamily="34" charset="0"/>
      <p:regular r:id="rId14"/>
      <p:bold r:id="rId15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33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28894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27DB5-76B5-C03A-074C-4C40CC5FC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1AE173-C602-B3F1-7071-BFD33404C9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3A492D-781E-4194-3911-9226181386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C23C79-E9CC-B699-92A7-C1A61A7A72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7445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in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in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www.greenply.com:5001/eb216478dd37f010967c61f9194a6f25ebb8005d.jpg"/>
          <p:cNvPicPr>
            <a:picLocks noChangeAspect="1"/>
          </p:cNvPicPr>
          <p:nvPr/>
        </p:nvPicPr>
        <p:blipFill>
          <a:blip r:embed="rId3">
            <a:alphaModFix amt="30000"/>
          </a:blip>
          <a:srcRect l="3333" r="3333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7F5F3">
              <a:alpha val="85098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1"/>
          <p:cNvSpPr/>
          <p:nvPr/>
        </p:nvSpPr>
        <p:spPr>
          <a:xfrm>
            <a:off x="381000" y="590550"/>
            <a:ext cx="3286125" cy="381000"/>
          </a:xfrm>
          <a:custGeom>
            <a:avLst/>
            <a:gdLst/>
            <a:ahLst/>
            <a:cxnLst/>
            <a:rect l="l" t="t" r="r" b="b"/>
            <a:pathLst>
              <a:path w="3286125" h="381000">
                <a:moveTo>
                  <a:pt x="0" y="0"/>
                </a:moveTo>
                <a:lnTo>
                  <a:pt x="3286125" y="0"/>
                </a:lnTo>
                <a:lnTo>
                  <a:pt x="3286125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2"/>
          <p:cNvSpPr/>
          <p:nvPr/>
        </p:nvSpPr>
        <p:spPr>
          <a:xfrm>
            <a:off x="381000" y="590550"/>
            <a:ext cx="3362325" cy="381000"/>
          </a:xfrm>
          <a:prstGeom prst="rect">
            <a:avLst/>
          </a:prstGeom>
          <a:noFill/>
          <a:ln/>
        </p:spPr>
        <p:txBody>
          <a:bodyPr wrap="square" lIns="190500" tIns="76200" rIns="190500" bIns="76200" rtlCol="0" anchor="ctr"/>
          <a:lstStyle/>
          <a:p>
            <a:pPr>
              <a:lnSpc>
                <a:spcPct val="130000"/>
              </a:lnSpc>
            </a:pPr>
            <a:r>
              <a:rPr lang="en-US" sz="1200" b="1" kern="0" spc="120" dirty="0">
                <a:solidFill>
                  <a:srgbClr val="F7F5F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STUDENT PRODUCTIVITY RESEARCH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81000" y="1504950"/>
            <a:ext cx="117729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What Really Drives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Student Productivity?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381000" y="3524250"/>
            <a:ext cx="86487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An exploratory, regression, and classification analysis of student behavioural factors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00050" y="4352925"/>
            <a:ext cx="7296150" cy="1219200"/>
          </a:xfrm>
          <a:custGeom>
            <a:avLst/>
            <a:gdLst/>
            <a:ahLst/>
            <a:cxnLst/>
            <a:rect l="l" t="t" r="r" b="b"/>
            <a:pathLst>
              <a:path w="7296150" h="1219200">
                <a:moveTo>
                  <a:pt x="0" y="0"/>
                </a:moveTo>
                <a:lnTo>
                  <a:pt x="7296150" y="0"/>
                </a:lnTo>
                <a:lnTo>
                  <a:pt x="7296150" y="1219200"/>
                </a:lnTo>
                <a:lnTo>
                  <a:pt x="0" y="1219200"/>
                </a:lnTo>
                <a:lnTo>
                  <a:pt x="0" y="0"/>
                </a:lnTo>
                <a:close/>
              </a:path>
            </a:pathLst>
          </a:custGeom>
          <a:solidFill>
            <a:srgbClr val="9B8E7D">
              <a:alpha val="1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Shape 6"/>
          <p:cNvSpPr/>
          <p:nvPr/>
        </p:nvSpPr>
        <p:spPr>
          <a:xfrm>
            <a:off x="400050" y="4352925"/>
            <a:ext cx="38100" cy="1219200"/>
          </a:xfrm>
          <a:custGeom>
            <a:avLst/>
            <a:gdLst/>
            <a:ahLst/>
            <a:cxnLst/>
            <a:rect l="l" t="t" r="r" b="b"/>
            <a:pathLst>
              <a:path w="38100" h="1219200">
                <a:moveTo>
                  <a:pt x="0" y="0"/>
                </a:moveTo>
                <a:lnTo>
                  <a:pt x="38100" y="0"/>
                </a:lnTo>
                <a:lnTo>
                  <a:pt x="38100" y="1219200"/>
                </a:lnTo>
                <a:lnTo>
                  <a:pt x="0" y="1219200"/>
                </a:lnTo>
                <a:lnTo>
                  <a:pt x="0" y="0"/>
                </a:ln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7"/>
          <p:cNvSpPr/>
          <p:nvPr/>
        </p:nvSpPr>
        <p:spPr>
          <a:xfrm>
            <a:off x="647700" y="4543425"/>
            <a:ext cx="71342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Research Question: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7700" y="4886325"/>
            <a:ext cx="71247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Can students' study behaviours meaningfully predict productivity, or is productivity influenced by multiple interacting factors rather than any single habit alone?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381000" y="5786438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9B8E7D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0"/>
          <p:cNvSpPr/>
          <p:nvPr/>
        </p:nvSpPr>
        <p:spPr>
          <a:xfrm>
            <a:off x="381000" y="6019800"/>
            <a:ext cx="2790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A95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Dataset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381000" y="6248400"/>
            <a:ext cx="2800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Student Behaviour &amp; Productivity Dataset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0668000" y="6019800"/>
            <a:ext cx="114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050" dirty="0">
                <a:solidFill>
                  <a:srgbClr val="9A95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Research Team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0658475" y="6248400"/>
            <a:ext cx="11525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en-US" sz="1200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Group Members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3398" y="363398"/>
            <a:ext cx="363398" cy="363398"/>
          </a:xfrm>
          <a:custGeom>
            <a:avLst/>
            <a:gdLst/>
            <a:ahLst/>
            <a:cxnLst/>
            <a:rect l="l" t="t" r="r" b="b"/>
            <a:pathLst>
              <a:path w="363398" h="363398">
                <a:moveTo>
                  <a:pt x="181699" y="0"/>
                </a:moveTo>
                <a:lnTo>
                  <a:pt x="181699" y="0"/>
                </a:lnTo>
                <a:cubicBezTo>
                  <a:pt x="282049" y="0"/>
                  <a:pt x="363398" y="81349"/>
                  <a:pt x="363398" y="181699"/>
                </a:cubicBezTo>
                <a:lnTo>
                  <a:pt x="363398" y="181699"/>
                </a:lnTo>
                <a:cubicBezTo>
                  <a:pt x="363398" y="282049"/>
                  <a:pt x="282049" y="363398"/>
                  <a:pt x="181699" y="363398"/>
                </a:cubicBezTo>
                <a:lnTo>
                  <a:pt x="181699" y="363398"/>
                </a:lnTo>
                <a:cubicBezTo>
                  <a:pt x="81349" y="363398"/>
                  <a:pt x="0" y="282049"/>
                  <a:pt x="0" y="181699"/>
                </a:cubicBezTo>
                <a:lnTo>
                  <a:pt x="0" y="181699"/>
                </a:lnTo>
                <a:cubicBezTo>
                  <a:pt x="0" y="81349"/>
                  <a:pt x="81349" y="0"/>
                  <a:pt x="181699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322516" y="363398"/>
            <a:ext cx="445162" cy="363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88" b="1" dirty="0">
                <a:solidFill>
                  <a:srgbClr val="F7F5F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35815" y="363398"/>
            <a:ext cx="4006462" cy="363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575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Understanding the Dataset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1568" y="1017514"/>
            <a:ext cx="5605413" cy="1344572"/>
          </a:xfrm>
          <a:custGeom>
            <a:avLst/>
            <a:gdLst/>
            <a:ahLst/>
            <a:cxnLst/>
            <a:rect l="l" t="t" r="r" b="b"/>
            <a:pathLst>
              <a:path w="5605413" h="1344572">
                <a:moveTo>
                  <a:pt x="36340" y="0"/>
                </a:moveTo>
                <a:lnTo>
                  <a:pt x="5532739" y="0"/>
                </a:lnTo>
                <a:cubicBezTo>
                  <a:pt x="5572875" y="0"/>
                  <a:pt x="5605413" y="32537"/>
                  <a:pt x="5605413" y="72674"/>
                </a:cubicBezTo>
                <a:lnTo>
                  <a:pt x="5605413" y="1271898"/>
                </a:lnTo>
                <a:cubicBezTo>
                  <a:pt x="5605413" y="1312035"/>
                  <a:pt x="5572875" y="1344572"/>
                  <a:pt x="5532739" y="1344572"/>
                </a:cubicBezTo>
                <a:lnTo>
                  <a:pt x="36340" y="1344572"/>
                </a:lnTo>
                <a:cubicBezTo>
                  <a:pt x="16270" y="1344572"/>
                  <a:pt x="0" y="1328302"/>
                  <a:pt x="0" y="1308232"/>
                </a:cubicBezTo>
                <a:lnTo>
                  <a:pt x="0" y="36340"/>
                </a:lnTo>
                <a:cubicBezTo>
                  <a:pt x="0" y="16283"/>
                  <a:pt x="16283" y="0"/>
                  <a:pt x="3634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27255" dist="9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381568" y="1017514"/>
            <a:ext cx="36340" cy="1344572"/>
          </a:xfrm>
          <a:custGeom>
            <a:avLst/>
            <a:gdLst/>
            <a:ahLst/>
            <a:cxnLst/>
            <a:rect l="l" t="t" r="r" b="b"/>
            <a:pathLst>
              <a:path w="36340" h="1344572">
                <a:moveTo>
                  <a:pt x="36340" y="0"/>
                </a:moveTo>
                <a:lnTo>
                  <a:pt x="36340" y="0"/>
                </a:lnTo>
                <a:lnTo>
                  <a:pt x="36340" y="1344572"/>
                </a:lnTo>
                <a:lnTo>
                  <a:pt x="36340" y="1344572"/>
                </a:lnTo>
                <a:cubicBezTo>
                  <a:pt x="16270" y="1344572"/>
                  <a:pt x="0" y="1328302"/>
                  <a:pt x="0" y="1308232"/>
                </a:cubicBezTo>
                <a:lnTo>
                  <a:pt x="0" y="36340"/>
                </a:lnTo>
                <a:cubicBezTo>
                  <a:pt x="0" y="16283"/>
                  <a:pt x="16283" y="0"/>
                  <a:pt x="36340" y="0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604149" y="1235553"/>
            <a:ext cx="181699" cy="181699"/>
          </a:xfrm>
          <a:custGeom>
            <a:avLst/>
            <a:gdLst/>
            <a:ahLst/>
            <a:cxnLst/>
            <a:rect l="l" t="t" r="r" b="b"/>
            <a:pathLst>
              <a:path w="181699" h="181699">
                <a:moveTo>
                  <a:pt x="90849" y="181699"/>
                </a:moveTo>
                <a:cubicBezTo>
                  <a:pt x="140991" y="181699"/>
                  <a:pt x="181699" y="140991"/>
                  <a:pt x="181699" y="90849"/>
                </a:cubicBezTo>
                <a:cubicBezTo>
                  <a:pt x="181699" y="40708"/>
                  <a:pt x="140991" y="0"/>
                  <a:pt x="90849" y="0"/>
                </a:cubicBezTo>
                <a:cubicBezTo>
                  <a:pt x="40708" y="0"/>
                  <a:pt x="0" y="40708"/>
                  <a:pt x="0" y="90849"/>
                </a:cubicBezTo>
                <a:cubicBezTo>
                  <a:pt x="0" y="140991"/>
                  <a:pt x="40708" y="181699"/>
                  <a:pt x="90849" y="181699"/>
                </a:cubicBezTo>
                <a:close/>
                <a:moveTo>
                  <a:pt x="90849" y="62459"/>
                </a:moveTo>
                <a:cubicBezTo>
                  <a:pt x="84568" y="62459"/>
                  <a:pt x="79493" y="67534"/>
                  <a:pt x="79493" y="73815"/>
                </a:cubicBezTo>
                <a:cubicBezTo>
                  <a:pt x="79493" y="78535"/>
                  <a:pt x="75696" y="82332"/>
                  <a:pt x="70976" y="82332"/>
                </a:cubicBezTo>
                <a:cubicBezTo>
                  <a:pt x="66256" y="82332"/>
                  <a:pt x="62459" y="78535"/>
                  <a:pt x="62459" y="73815"/>
                </a:cubicBezTo>
                <a:cubicBezTo>
                  <a:pt x="62459" y="58129"/>
                  <a:pt x="75164" y="45425"/>
                  <a:pt x="90849" y="45425"/>
                </a:cubicBezTo>
                <a:cubicBezTo>
                  <a:pt x="106535" y="45425"/>
                  <a:pt x="119240" y="58129"/>
                  <a:pt x="119240" y="73815"/>
                </a:cubicBezTo>
                <a:cubicBezTo>
                  <a:pt x="119240" y="90566"/>
                  <a:pt x="106464" y="97663"/>
                  <a:pt x="99367" y="100254"/>
                </a:cubicBezTo>
                <a:lnTo>
                  <a:pt x="99367" y="101602"/>
                </a:lnTo>
                <a:cubicBezTo>
                  <a:pt x="99367" y="106322"/>
                  <a:pt x="95569" y="110120"/>
                  <a:pt x="90849" y="110120"/>
                </a:cubicBezTo>
                <a:cubicBezTo>
                  <a:pt x="86130" y="110120"/>
                  <a:pt x="82332" y="106322"/>
                  <a:pt x="82332" y="101602"/>
                </a:cubicBezTo>
                <a:lnTo>
                  <a:pt x="82332" y="98728"/>
                </a:lnTo>
                <a:cubicBezTo>
                  <a:pt x="82332" y="91453"/>
                  <a:pt x="87585" y="86236"/>
                  <a:pt x="93014" y="84462"/>
                </a:cubicBezTo>
                <a:cubicBezTo>
                  <a:pt x="95285" y="83716"/>
                  <a:pt x="97699" y="82510"/>
                  <a:pt x="99473" y="80806"/>
                </a:cubicBezTo>
                <a:cubicBezTo>
                  <a:pt x="100999" y="79316"/>
                  <a:pt x="102206" y="77258"/>
                  <a:pt x="102206" y="73851"/>
                </a:cubicBezTo>
                <a:cubicBezTo>
                  <a:pt x="102206" y="67569"/>
                  <a:pt x="97131" y="62495"/>
                  <a:pt x="90849" y="62495"/>
                </a:cubicBezTo>
                <a:close/>
                <a:moveTo>
                  <a:pt x="79493" y="130596"/>
                </a:moveTo>
                <a:cubicBezTo>
                  <a:pt x="79493" y="124328"/>
                  <a:pt x="84582" y="119240"/>
                  <a:pt x="90849" y="119240"/>
                </a:cubicBezTo>
                <a:cubicBezTo>
                  <a:pt x="97117" y="119240"/>
                  <a:pt x="102206" y="124328"/>
                  <a:pt x="102206" y="130596"/>
                </a:cubicBezTo>
                <a:cubicBezTo>
                  <a:pt x="102206" y="136864"/>
                  <a:pt x="97117" y="141952"/>
                  <a:pt x="90849" y="141952"/>
                </a:cubicBezTo>
                <a:cubicBezTo>
                  <a:pt x="84582" y="141952"/>
                  <a:pt x="79493" y="136864"/>
                  <a:pt x="79493" y="130596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808560" y="1199213"/>
            <a:ext cx="5087571" cy="254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31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Why This Dataset?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81437" y="1671630"/>
            <a:ext cx="72680" cy="72680"/>
          </a:xfrm>
          <a:custGeom>
            <a:avLst/>
            <a:gdLst/>
            <a:ahLst/>
            <a:cxnLst/>
            <a:rect l="l" t="t" r="r" b="b"/>
            <a:pathLst>
              <a:path w="72680" h="72680">
                <a:moveTo>
                  <a:pt x="36340" y="0"/>
                </a:moveTo>
                <a:lnTo>
                  <a:pt x="36340" y="0"/>
                </a:lnTo>
                <a:cubicBezTo>
                  <a:pt x="56396" y="0"/>
                  <a:pt x="72680" y="16283"/>
                  <a:pt x="72680" y="36340"/>
                </a:cubicBezTo>
                <a:lnTo>
                  <a:pt x="72680" y="36340"/>
                </a:lnTo>
                <a:cubicBezTo>
                  <a:pt x="72680" y="56396"/>
                  <a:pt x="56396" y="72680"/>
                  <a:pt x="36340" y="72680"/>
                </a:cubicBezTo>
                <a:lnTo>
                  <a:pt x="36340" y="72680"/>
                </a:lnTo>
                <a:cubicBezTo>
                  <a:pt x="16283" y="72680"/>
                  <a:pt x="0" y="56396"/>
                  <a:pt x="0" y="36340"/>
                </a:cubicBezTo>
                <a:lnTo>
                  <a:pt x="0" y="36340"/>
                </a:lnTo>
                <a:cubicBezTo>
                  <a:pt x="0" y="16283"/>
                  <a:pt x="16283" y="0"/>
                  <a:pt x="36340" y="0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763136" y="1598951"/>
            <a:ext cx="3452280" cy="2362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45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Real-world topic:</a:t>
            </a:r>
            <a:r>
              <a:rPr lang="en-US" sz="1145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Student behaviour and productivity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81437" y="2016858"/>
            <a:ext cx="72680" cy="72680"/>
          </a:xfrm>
          <a:custGeom>
            <a:avLst/>
            <a:gdLst/>
            <a:ahLst/>
            <a:cxnLst/>
            <a:rect l="l" t="t" r="r" b="b"/>
            <a:pathLst>
              <a:path w="72680" h="72680">
                <a:moveTo>
                  <a:pt x="36340" y="0"/>
                </a:moveTo>
                <a:lnTo>
                  <a:pt x="36340" y="0"/>
                </a:lnTo>
                <a:cubicBezTo>
                  <a:pt x="56396" y="0"/>
                  <a:pt x="72680" y="16283"/>
                  <a:pt x="72680" y="36340"/>
                </a:cubicBezTo>
                <a:lnTo>
                  <a:pt x="72680" y="36340"/>
                </a:lnTo>
                <a:cubicBezTo>
                  <a:pt x="72680" y="56396"/>
                  <a:pt x="56396" y="72680"/>
                  <a:pt x="36340" y="72680"/>
                </a:cubicBezTo>
                <a:lnTo>
                  <a:pt x="36340" y="72680"/>
                </a:lnTo>
                <a:cubicBezTo>
                  <a:pt x="16283" y="72680"/>
                  <a:pt x="0" y="56396"/>
                  <a:pt x="0" y="36340"/>
                </a:cubicBezTo>
                <a:lnTo>
                  <a:pt x="0" y="36340"/>
                </a:lnTo>
                <a:cubicBezTo>
                  <a:pt x="0" y="16283"/>
                  <a:pt x="16283" y="0"/>
                  <a:pt x="36340" y="0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763136" y="1944179"/>
            <a:ext cx="3470450" cy="2362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45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Suitable for both</a:t>
            </a:r>
            <a:r>
              <a:rPr lang="en-US" sz="1145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regression and classification analysis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81568" y="2543785"/>
            <a:ext cx="5605413" cy="1689800"/>
          </a:xfrm>
          <a:custGeom>
            <a:avLst/>
            <a:gdLst/>
            <a:ahLst/>
            <a:cxnLst/>
            <a:rect l="l" t="t" r="r" b="b"/>
            <a:pathLst>
              <a:path w="5605413" h="1689800">
                <a:moveTo>
                  <a:pt x="36340" y="0"/>
                </a:moveTo>
                <a:lnTo>
                  <a:pt x="5532735" y="0"/>
                </a:lnTo>
                <a:cubicBezTo>
                  <a:pt x="5572874" y="0"/>
                  <a:pt x="5605413" y="32539"/>
                  <a:pt x="5605413" y="72678"/>
                </a:cubicBezTo>
                <a:lnTo>
                  <a:pt x="5605413" y="1617122"/>
                </a:lnTo>
                <a:cubicBezTo>
                  <a:pt x="5605413" y="1657261"/>
                  <a:pt x="5572874" y="1689800"/>
                  <a:pt x="5532735" y="1689800"/>
                </a:cubicBezTo>
                <a:lnTo>
                  <a:pt x="36340" y="1689800"/>
                </a:lnTo>
                <a:cubicBezTo>
                  <a:pt x="16270" y="1689800"/>
                  <a:pt x="0" y="1673530"/>
                  <a:pt x="0" y="1653461"/>
                </a:cubicBezTo>
                <a:lnTo>
                  <a:pt x="0" y="36340"/>
                </a:lnTo>
                <a:cubicBezTo>
                  <a:pt x="0" y="16283"/>
                  <a:pt x="16283" y="0"/>
                  <a:pt x="3634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27255" dist="9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2"/>
          <p:cNvSpPr/>
          <p:nvPr/>
        </p:nvSpPr>
        <p:spPr>
          <a:xfrm>
            <a:off x="381568" y="2543785"/>
            <a:ext cx="36340" cy="1689800"/>
          </a:xfrm>
          <a:custGeom>
            <a:avLst/>
            <a:gdLst/>
            <a:ahLst/>
            <a:cxnLst/>
            <a:rect l="l" t="t" r="r" b="b"/>
            <a:pathLst>
              <a:path w="36340" h="1689800">
                <a:moveTo>
                  <a:pt x="36340" y="0"/>
                </a:moveTo>
                <a:lnTo>
                  <a:pt x="36340" y="0"/>
                </a:lnTo>
                <a:lnTo>
                  <a:pt x="36340" y="1689800"/>
                </a:lnTo>
                <a:lnTo>
                  <a:pt x="36340" y="1689800"/>
                </a:lnTo>
                <a:cubicBezTo>
                  <a:pt x="16270" y="1689800"/>
                  <a:pt x="0" y="1673530"/>
                  <a:pt x="0" y="1653461"/>
                </a:cubicBezTo>
                <a:lnTo>
                  <a:pt x="0" y="36340"/>
                </a:lnTo>
                <a:cubicBezTo>
                  <a:pt x="0" y="16283"/>
                  <a:pt x="16283" y="0"/>
                  <a:pt x="36340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592793" y="2761824"/>
            <a:ext cx="204411" cy="181699"/>
          </a:xfrm>
          <a:custGeom>
            <a:avLst/>
            <a:gdLst/>
            <a:ahLst/>
            <a:cxnLst/>
            <a:rect l="l" t="t" r="r" b="b"/>
            <a:pathLst>
              <a:path w="204411" h="181699">
                <a:moveTo>
                  <a:pt x="201075" y="19376"/>
                </a:moveTo>
                <a:cubicBezTo>
                  <a:pt x="205511" y="14940"/>
                  <a:pt x="205511" y="7736"/>
                  <a:pt x="201075" y="3300"/>
                </a:cubicBezTo>
                <a:cubicBezTo>
                  <a:pt x="196639" y="-1136"/>
                  <a:pt x="189435" y="-1136"/>
                  <a:pt x="184999" y="3300"/>
                </a:cubicBezTo>
                <a:lnTo>
                  <a:pt x="116862" y="71438"/>
                </a:lnTo>
                <a:lnTo>
                  <a:pt x="104548" y="59123"/>
                </a:lnTo>
                <a:cubicBezTo>
                  <a:pt x="103057" y="57633"/>
                  <a:pt x="100999" y="56781"/>
                  <a:pt x="98870" y="56781"/>
                </a:cubicBezTo>
                <a:cubicBezTo>
                  <a:pt x="94434" y="56781"/>
                  <a:pt x="90849" y="60365"/>
                  <a:pt x="90849" y="64801"/>
                </a:cubicBezTo>
                <a:lnTo>
                  <a:pt x="90849" y="75128"/>
                </a:lnTo>
                <a:lnTo>
                  <a:pt x="129283" y="113562"/>
                </a:lnTo>
                <a:lnTo>
                  <a:pt x="139610" y="113562"/>
                </a:lnTo>
                <a:cubicBezTo>
                  <a:pt x="144046" y="113562"/>
                  <a:pt x="147630" y="109978"/>
                  <a:pt x="147630" y="105542"/>
                </a:cubicBezTo>
                <a:cubicBezTo>
                  <a:pt x="147630" y="103412"/>
                  <a:pt x="146779" y="101354"/>
                  <a:pt x="145288" y="99863"/>
                </a:cubicBezTo>
                <a:lnTo>
                  <a:pt x="132974" y="87549"/>
                </a:lnTo>
                <a:lnTo>
                  <a:pt x="201111" y="19412"/>
                </a:lnTo>
                <a:close/>
                <a:moveTo>
                  <a:pt x="121050" y="125415"/>
                </a:moveTo>
                <a:lnTo>
                  <a:pt x="78996" y="83361"/>
                </a:lnTo>
                <a:cubicBezTo>
                  <a:pt x="63843" y="82048"/>
                  <a:pt x="48761" y="87514"/>
                  <a:pt x="37901" y="98373"/>
                </a:cubicBezTo>
                <a:lnTo>
                  <a:pt x="35062" y="101212"/>
                </a:lnTo>
                <a:cubicBezTo>
                  <a:pt x="27148" y="109126"/>
                  <a:pt x="22712" y="119843"/>
                  <a:pt x="22712" y="131022"/>
                </a:cubicBezTo>
                <a:cubicBezTo>
                  <a:pt x="22712" y="133435"/>
                  <a:pt x="25232" y="134997"/>
                  <a:pt x="27397" y="133932"/>
                </a:cubicBezTo>
                <a:lnTo>
                  <a:pt x="45531" y="124883"/>
                </a:lnTo>
                <a:cubicBezTo>
                  <a:pt x="47306" y="123995"/>
                  <a:pt x="48903" y="126338"/>
                  <a:pt x="47448" y="127686"/>
                </a:cubicBezTo>
                <a:lnTo>
                  <a:pt x="2591" y="168001"/>
                </a:lnTo>
                <a:cubicBezTo>
                  <a:pt x="958" y="169491"/>
                  <a:pt x="0" y="171620"/>
                  <a:pt x="0" y="173856"/>
                </a:cubicBezTo>
                <a:cubicBezTo>
                  <a:pt x="0" y="178186"/>
                  <a:pt x="3513" y="181699"/>
                  <a:pt x="7843" y="181699"/>
                </a:cubicBezTo>
                <a:lnTo>
                  <a:pt x="69344" y="181699"/>
                </a:lnTo>
                <a:cubicBezTo>
                  <a:pt x="83113" y="181699"/>
                  <a:pt x="96279" y="176234"/>
                  <a:pt x="106038" y="166510"/>
                </a:cubicBezTo>
                <a:cubicBezTo>
                  <a:pt x="116898" y="155651"/>
                  <a:pt x="122327" y="140568"/>
                  <a:pt x="121050" y="125415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808560" y="2725484"/>
            <a:ext cx="5087571" cy="254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31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Cleaning &amp; Preprocessing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81437" y="3197902"/>
            <a:ext cx="72680" cy="72680"/>
          </a:xfrm>
          <a:custGeom>
            <a:avLst/>
            <a:gdLst/>
            <a:ahLst/>
            <a:cxnLst/>
            <a:rect l="l" t="t" r="r" b="b"/>
            <a:pathLst>
              <a:path w="72680" h="72680">
                <a:moveTo>
                  <a:pt x="36340" y="0"/>
                </a:moveTo>
                <a:lnTo>
                  <a:pt x="36340" y="0"/>
                </a:lnTo>
                <a:cubicBezTo>
                  <a:pt x="56396" y="0"/>
                  <a:pt x="72680" y="16283"/>
                  <a:pt x="72680" y="36340"/>
                </a:cubicBezTo>
                <a:lnTo>
                  <a:pt x="72680" y="36340"/>
                </a:lnTo>
                <a:cubicBezTo>
                  <a:pt x="72680" y="56396"/>
                  <a:pt x="56396" y="72680"/>
                  <a:pt x="36340" y="72680"/>
                </a:cubicBezTo>
                <a:lnTo>
                  <a:pt x="36340" y="72680"/>
                </a:lnTo>
                <a:cubicBezTo>
                  <a:pt x="16283" y="72680"/>
                  <a:pt x="0" y="56396"/>
                  <a:pt x="0" y="36340"/>
                </a:cubicBezTo>
                <a:lnTo>
                  <a:pt x="0" y="36340"/>
                </a:lnTo>
                <a:cubicBezTo>
                  <a:pt x="0" y="16283"/>
                  <a:pt x="16283" y="0"/>
                  <a:pt x="36340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763136" y="3125222"/>
            <a:ext cx="2752739" cy="2362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45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Checked variable types and missing values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81437" y="3543130"/>
            <a:ext cx="72680" cy="72680"/>
          </a:xfrm>
          <a:custGeom>
            <a:avLst/>
            <a:gdLst/>
            <a:ahLst/>
            <a:cxnLst/>
            <a:rect l="l" t="t" r="r" b="b"/>
            <a:pathLst>
              <a:path w="72680" h="72680">
                <a:moveTo>
                  <a:pt x="36340" y="0"/>
                </a:moveTo>
                <a:lnTo>
                  <a:pt x="36340" y="0"/>
                </a:lnTo>
                <a:cubicBezTo>
                  <a:pt x="56396" y="0"/>
                  <a:pt x="72680" y="16283"/>
                  <a:pt x="72680" y="36340"/>
                </a:cubicBezTo>
                <a:lnTo>
                  <a:pt x="72680" y="36340"/>
                </a:lnTo>
                <a:cubicBezTo>
                  <a:pt x="72680" y="56396"/>
                  <a:pt x="56396" y="72680"/>
                  <a:pt x="36340" y="72680"/>
                </a:cubicBezTo>
                <a:lnTo>
                  <a:pt x="36340" y="72680"/>
                </a:lnTo>
                <a:cubicBezTo>
                  <a:pt x="16283" y="72680"/>
                  <a:pt x="0" y="56396"/>
                  <a:pt x="0" y="36340"/>
                </a:cubicBezTo>
                <a:lnTo>
                  <a:pt x="0" y="36340"/>
                </a:lnTo>
                <a:cubicBezTo>
                  <a:pt x="0" y="16283"/>
                  <a:pt x="16283" y="0"/>
                  <a:pt x="36340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763136" y="3470450"/>
            <a:ext cx="2116793" cy="2362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45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Prepared variables for modelling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81437" y="3888358"/>
            <a:ext cx="72680" cy="72680"/>
          </a:xfrm>
          <a:custGeom>
            <a:avLst/>
            <a:gdLst/>
            <a:ahLst/>
            <a:cxnLst/>
            <a:rect l="l" t="t" r="r" b="b"/>
            <a:pathLst>
              <a:path w="72680" h="72680">
                <a:moveTo>
                  <a:pt x="36340" y="0"/>
                </a:moveTo>
                <a:lnTo>
                  <a:pt x="36340" y="0"/>
                </a:lnTo>
                <a:cubicBezTo>
                  <a:pt x="56396" y="0"/>
                  <a:pt x="72680" y="16283"/>
                  <a:pt x="72680" y="36340"/>
                </a:cubicBezTo>
                <a:lnTo>
                  <a:pt x="72680" y="36340"/>
                </a:lnTo>
                <a:cubicBezTo>
                  <a:pt x="72680" y="56396"/>
                  <a:pt x="56396" y="72680"/>
                  <a:pt x="36340" y="72680"/>
                </a:cubicBezTo>
                <a:lnTo>
                  <a:pt x="36340" y="72680"/>
                </a:lnTo>
                <a:cubicBezTo>
                  <a:pt x="16283" y="72680"/>
                  <a:pt x="0" y="56396"/>
                  <a:pt x="0" y="36340"/>
                </a:cubicBezTo>
                <a:lnTo>
                  <a:pt x="0" y="36340"/>
                </a:lnTo>
                <a:cubicBezTo>
                  <a:pt x="0" y="16283"/>
                  <a:pt x="16283" y="0"/>
                  <a:pt x="36340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763136" y="3815678"/>
            <a:ext cx="3461365" cy="2362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45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Created binary productivity outcome for classification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81568" y="4415285"/>
            <a:ext cx="5605413" cy="1689800"/>
          </a:xfrm>
          <a:custGeom>
            <a:avLst/>
            <a:gdLst/>
            <a:ahLst/>
            <a:cxnLst/>
            <a:rect l="l" t="t" r="r" b="b"/>
            <a:pathLst>
              <a:path w="5605413" h="1689800">
                <a:moveTo>
                  <a:pt x="36340" y="0"/>
                </a:moveTo>
                <a:lnTo>
                  <a:pt x="5532735" y="0"/>
                </a:lnTo>
                <a:cubicBezTo>
                  <a:pt x="5572874" y="0"/>
                  <a:pt x="5605413" y="32539"/>
                  <a:pt x="5605413" y="72678"/>
                </a:cubicBezTo>
                <a:lnTo>
                  <a:pt x="5605413" y="1617122"/>
                </a:lnTo>
                <a:cubicBezTo>
                  <a:pt x="5605413" y="1657261"/>
                  <a:pt x="5572874" y="1689800"/>
                  <a:pt x="5532735" y="1689800"/>
                </a:cubicBezTo>
                <a:lnTo>
                  <a:pt x="36340" y="1689800"/>
                </a:lnTo>
                <a:cubicBezTo>
                  <a:pt x="16270" y="1689800"/>
                  <a:pt x="0" y="1673530"/>
                  <a:pt x="0" y="1653461"/>
                </a:cubicBezTo>
                <a:lnTo>
                  <a:pt x="0" y="36340"/>
                </a:lnTo>
                <a:cubicBezTo>
                  <a:pt x="0" y="16283"/>
                  <a:pt x="16283" y="0"/>
                  <a:pt x="3634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27255" dist="9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381568" y="4415285"/>
            <a:ext cx="36340" cy="1689800"/>
          </a:xfrm>
          <a:custGeom>
            <a:avLst/>
            <a:gdLst/>
            <a:ahLst/>
            <a:cxnLst/>
            <a:rect l="l" t="t" r="r" b="b"/>
            <a:pathLst>
              <a:path w="36340" h="1689800">
                <a:moveTo>
                  <a:pt x="36340" y="0"/>
                </a:moveTo>
                <a:lnTo>
                  <a:pt x="36340" y="0"/>
                </a:lnTo>
                <a:lnTo>
                  <a:pt x="36340" y="1689800"/>
                </a:lnTo>
                <a:lnTo>
                  <a:pt x="36340" y="1689800"/>
                </a:lnTo>
                <a:cubicBezTo>
                  <a:pt x="16270" y="1689800"/>
                  <a:pt x="0" y="1673530"/>
                  <a:pt x="0" y="1653461"/>
                </a:cubicBezTo>
                <a:lnTo>
                  <a:pt x="0" y="36340"/>
                </a:lnTo>
                <a:cubicBezTo>
                  <a:pt x="0" y="16283"/>
                  <a:pt x="16283" y="0"/>
                  <a:pt x="36340" y="0"/>
                </a:cubicBezTo>
                <a:close/>
              </a:path>
            </a:pathLst>
          </a:custGeom>
          <a:solidFill>
            <a:srgbClr val="C4A99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Shape 23"/>
          <p:cNvSpPr/>
          <p:nvPr/>
        </p:nvSpPr>
        <p:spPr>
          <a:xfrm>
            <a:off x="604149" y="4633323"/>
            <a:ext cx="181699" cy="181699"/>
          </a:xfrm>
          <a:custGeom>
            <a:avLst/>
            <a:gdLst/>
            <a:ahLst/>
            <a:cxnLst/>
            <a:rect l="l" t="t" r="r" b="b"/>
            <a:pathLst>
              <a:path w="181699" h="181699">
                <a:moveTo>
                  <a:pt x="147630" y="73815"/>
                </a:moveTo>
                <a:cubicBezTo>
                  <a:pt x="147630" y="90104"/>
                  <a:pt x="142343" y="105151"/>
                  <a:pt x="133435" y="117359"/>
                </a:cubicBezTo>
                <a:lnTo>
                  <a:pt x="178363" y="162322"/>
                </a:lnTo>
                <a:cubicBezTo>
                  <a:pt x="182799" y="166758"/>
                  <a:pt x="182799" y="173963"/>
                  <a:pt x="178363" y="178399"/>
                </a:cubicBezTo>
                <a:cubicBezTo>
                  <a:pt x="173927" y="182835"/>
                  <a:pt x="166723" y="182835"/>
                  <a:pt x="162287" y="178399"/>
                </a:cubicBezTo>
                <a:lnTo>
                  <a:pt x="117359" y="133435"/>
                </a:lnTo>
                <a:cubicBezTo>
                  <a:pt x="105151" y="142343"/>
                  <a:pt x="90104" y="147630"/>
                  <a:pt x="73815" y="147630"/>
                </a:cubicBezTo>
                <a:cubicBezTo>
                  <a:pt x="33039" y="147630"/>
                  <a:pt x="0" y="114591"/>
                  <a:pt x="0" y="73815"/>
                </a:cubicBezTo>
                <a:cubicBezTo>
                  <a:pt x="0" y="33039"/>
                  <a:pt x="33039" y="0"/>
                  <a:pt x="73815" y="0"/>
                </a:cubicBezTo>
                <a:cubicBezTo>
                  <a:pt x="114591" y="0"/>
                  <a:pt x="147630" y="33039"/>
                  <a:pt x="147630" y="73815"/>
                </a:cubicBezTo>
                <a:close/>
                <a:moveTo>
                  <a:pt x="73815" y="124918"/>
                </a:moveTo>
                <a:cubicBezTo>
                  <a:pt x="102020" y="124918"/>
                  <a:pt x="124918" y="102020"/>
                  <a:pt x="124918" y="73815"/>
                </a:cubicBezTo>
                <a:cubicBezTo>
                  <a:pt x="124918" y="45611"/>
                  <a:pt x="102020" y="22712"/>
                  <a:pt x="73815" y="22712"/>
                </a:cubicBezTo>
                <a:cubicBezTo>
                  <a:pt x="45611" y="22712"/>
                  <a:pt x="22712" y="45611"/>
                  <a:pt x="22712" y="73815"/>
                </a:cubicBezTo>
                <a:cubicBezTo>
                  <a:pt x="22712" y="102020"/>
                  <a:pt x="45611" y="124918"/>
                  <a:pt x="73815" y="124918"/>
                </a:cubicBezTo>
                <a:close/>
              </a:path>
            </a:pathLst>
          </a:custGeom>
          <a:solidFill>
            <a:srgbClr val="C4A99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808560" y="4596984"/>
            <a:ext cx="5087571" cy="254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31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Initial Exploration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81437" y="5069401"/>
            <a:ext cx="72680" cy="72680"/>
          </a:xfrm>
          <a:custGeom>
            <a:avLst/>
            <a:gdLst/>
            <a:ahLst/>
            <a:cxnLst/>
            <a:rect l="l" t="t" r="r" b="b"/>
            <a:pathLst>
              <a:path w="72680" h="72680">
                <a:moveTo>
                  <a:pt x="36340" y="0"/>
                </a:moveTo>
                <a:lnTo>
                  <a:pt x="36340" y="0"/>
                </a:lnTo>
                <a:cubicBezTo>
                  <a:pt x="56396" y="0"/>
                  <a:pt x="72680" y="16283"/>
                  <a:pt x="72680" y="36340"/>
                </a:cubicBezTo>
                <a:lnTo>
                  <a:pt x="72680" y="36340"/>
                </a:lnTo>
                <a:cubicBezTo>
                  <a:pt x="72680" y="56396"/>
                  <a:pt x="56396" y="72680"/>
                  <a:pt x="36340" y="72680"/>
                </a:cubicBezTo>
                <a:lnTo>
                  <a:pt x="36340" y="72680"/>
                </a:lnTo>
                <a:cubicBezTo>
                  <a:pt x="16283" y="72680"/>
                  <a:pt x="0" y="56396"/>
                  <a:pt x="0" y="36340"/>
                </a:cubicBezTo>
                <a:lnTo>
                  <a:pt x="0" y="36340"/>
                </a:lnTo>
                <a:cubicBezTo>
                  <a:pt x="0" y="16283"/>
                  <a:pt x="16283" y="0"/>
                  <a:pt x="36340" y="0"/>
                </a:cubicBezTo>
                <a:close/>
              </a:path>
            </a:pathLst>
          </a:custGeom>
          <a:solidFill>
            <a:srgbClr val="C4A99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763136" y="4996721"/>
            <a:ext cx="2652805" cy="2362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45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Examined individual feature distributions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81437" y="5414629"/>
            <a:ext cx="72680" cy="72680"/>
          </a:xfrm>
          <a:custGeom>
            <a:avLst/>
            <a:gdLst/>
            <a:ahLst/>
            <a:cxnLst/>
            <a:rect l="l" t="t" r="r" b="b"/>
            <a:pathLst>
              <a:path w="72680" h="72680">
                <a:moveTo>
                  <a:pt x="36340" y="0"/>
                </a:moveTo>
                <a:lnTo>
                  <a:pt x="36340" y="0"/>
                </a:lnTo>
                <a:cubicBezTo>
                  <a:pt x="56396" y="0"/>
                  <a:pt x="72680" y="16283"/>
                  <a:pt x="72680" y="36340"/>
                </a:cubicBezTo>
                <a:lnTo>
                  <a:pt x="72680" y="36340"/>
                </a:lnTo>
                <a:cubicBezTo>
                  <a:pt x="72680" y="56396"/>
                  <a:pt x="56396" y="72680"/>
                  <a:pt x="36340" y="72680"/>
                </a:cubicBezTo>
                <a:lnTo>
                  <a:pt x="36340" y="72680"/>
                </a:lnTo>
                <a:cubicBezTo>
                  <a:pt x="16283" y="72680"/>
                  <a:pt x="0" y="56396"/>
                  <a:pt x="0" y="36340"/>
                </a:cubicBezTo>
                <a:lnTo>
                  <a:pt x="0" y="36340"/>
                </a:lnTo>
                <a:cubicBezTo>
                  <a:pt x="0" y="16283"/>
                  <a:pt x="16283" y="0"/>
                  <a:pt x="36340" y="0"/>
                </a:cubicBezTo>
                <a:close/>
              </a:path>
            </a:pathLst>
          </a:custGeom>
          <a:solidFill>
            <a:srgbClr val="C4A99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763136" y="5341949"/>
            <a:ext cx="3361431" cy="2362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45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Used pairwise plots to explore variable relationships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81437" y="5759857"/>
            <a:ext cx="72680" cy="72680"/>
          </a:xfrm>
          <a:custGeom>
            <a:avLst/>
            <a:gdLst/>
            <a:ahLst/>
            <a:cxnLst/>
            <a:rect l="l" t="t" r="r" b="b"/>
            <a:pathLst>
              <a:path w="72680" h="72680">
                <a:moveTo>
                  <a:pt x="36340" y="0"/>
                </a:moveTo>
                <a:lnTo>
                  <a:pt x="36340" y="0"/>
                </a:lnTo>
                <a:cubicBezTo>
                  <a:pt x="56396" y="0"/>
                  <a:pt x="72680" y="16283"/>
                  <a:pt x="72680" y="36340"/>
                </a:cubicBezTo>
                <a:lnTo>
                  <a:pt x="72680" y="36340"/>
                </a:lnTo>
                <a:cubicBezTo>
                  <a:pt x="72680" y="56396"/>
                  <a:pt x="56396" y="72680"/>
                  <a:pt x="36340" y="72680"/>
                </a:cubicBezTo>
                <a:lnTo>
                  <a:pt x="36340" y="72680"/>
                </a:lnTo>
                <a:cubicBezTo>
                  <a:pt x="16283" y="72680"/>
                  <a:pt x="0" y="56396"/>
                  <a:pt x="0" y="36340"/>
                </a:cubicBezTo>
                <a:lnTo>
                  <a:pt x="0" y="36340"/>
                </a:lnTo>
                <a:cubicBezTo>
                  <a:pt x="0" y="16283"/>
                  <a:pt x="16283" y="0"/>
                  <a:pt x="36340" y="0"/>
                </a:cubicBezTo>
                <a:close/>
              </a:path>
            </a:pathLst>
          </a:custGeom>
          <a:solidFill>
            <a:srgbClr val="C4A99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/>
          <p:nvPr/>
        </p:nvSpPr>
        <p:spPr>
          <a:xfrm>
            <a:off x="763136" y="5687177"/>
            <a:ext cx="3279666" cy="2362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45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Looked for possible trends with productivity_score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206013" y="1017514"/>
            <a:ext cx="5623583" cy="4460709"/>
          </a:xfrm>
          <a:custGeom>
            <a:avLst/>
            <a:gdLst/>
            <a:ahLst/>
            <a:cxnLst/>
            <a:rect l="l" t="t" r="r" b="b"/>
            <a:pathLst>
              <a:path w="5623583" h="4460709">
                <a:moveTo>
                  <a:pt x="72665" y="0"/>
                </a:moveTo>
                <a:lnTo>
                  <a:pt x="5550918" y="0"/>
                </a:lnTo>
                <a:cubicBezTo>
                  <a:pt x="5591050" y="0"/>
                  <a:pt x="5623583" y="32533"/>
                  <a:pt x="5623583" y="72665"/>
                </a:cubicBezTo>
                <a:lnTo>
                  <a:pt x="5623583" y="4388044"/>
                </a:lnTo>
                <a:cubicBezTo>
                  <a:pt x="5623583" y="4428176"/>
                  <a:pt x="5591050" y="4460709"/>
                  <a:pt x="5550918" y="4460709"/>
                </a:cubicBezTo>
                <a:lnTo>
                  <a:pt x="72665" y="4460709"/>
                </a:lnTo>
                <a:cubicBezTo>
                  <a:pt x="32533" y="4460709"/>
                  <a:pt x="0" y="4428176"/>
                  <a:pt x="0" y="4388044"/>
                </a:cubicBezTo>
                <a:lnTo>
                  <a:pt x="0" y="72665"/>
                </a:lnTo>
                <a:cubicBezTo>
                  <a:pt x="0" y="32560"/>
                  <a:pt x="32560" y="0"/>
                  <a:pt x="72665" y="0"/>
                </a:cubicBezTo>
                <a:close/>
              </a:path>
            </a:pathLst>
          </a:custGeom>
          <a:solidFill>
            <a:srgbClr val="9B8E7D">
              <a:alpha val="5098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6378627" y="1235553"/>
            <a:ext cx="5278355" cy="254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31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Dataset Summary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4052" y="1635291"/>
            <a:ext cx="5187505" cy="3297836"/>
          </a:xfrm>
          <a:custGeom>
            <a:avLst/>
            <a:gdLst/>
            <a:ahLst/>
            <a:cxnLst/>
            <a:rect l="l" t="t" r="r" b="b"/>
            <a:pathLst>
              <a:path w="5187505" h="3297836">
                <a:moveTo>
                  <a:pt x="72684" y="0"/>
                </a:moveTo>
                <a:lnTo>
                  <a:pt x="5114821" y="0"/>
                </a:lnTo>
                <a:cubicBezTo>
                  <a:pt x="5154963" y="0"/>
                  <a:pt x="5187505" y="32542"/>
                  <a:pt x="5187505" y="72684"/>
                </a:cubicBezTo>
                <a:lnTo>
                  <a:pt x="5187505" y="3225152"/>
                </a:lnTo>
                <a:cubicBezTo>
                  <a:pt x="5187505" y="3265294"/>
                  <a:pt x="5154963" y="3297836"/>
                  <a:pt x="5114821" y="3297836"/>
                </a:cubicBezTo>
                <a:lnTo>
                  <a:pt x="72684" y="3297836"/>
                </a:lnTo>
                <a:cubicBezTo>
                  <a:pt x="32542" y="3297836"/>
                  <a:pt x="0" y="3265294"/>
                  <a:pt x="0" y="3225152"/>
                </a:cubicBezTo>
                <a:lnTo>
                  <a:pt x="0" y="72684"/>
                </a:lnTo>
                <a:cubicBezTo>
                  <a:pt x="0" y="32569"/>
                  <a:pt x="32569" y="0"/>
                  <a:pt x="72684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27255" dist="9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36" name="Shape 34"/>
          <p:cNvSpPr/>
          <p:nvPr/>
        </p:nvSpPr>
        <p:spPr>
          <a:xfrm>
            <a:off x="6642091" y="1853329"/>
            <a:ext cx="2307577" cy="835815"/>
          </a:xfrm>
          <a:custGeom>
            <a:avLst/>
            <a:gdLst/>
            <a:ahLst/>
            <a:cxnLst/>
            <a:rect l="l" t="t" r="r" b="b"/>
            <a:pathLst>
              <a:path w="2307577" h="835815">
                <a:moveTo>
                  <a:pt x="72682" y="0"/>
                </a:moveTo>
                <a:lnTo>
                  <a:pt x="2234894" y="0"/>
                </a:lnTo>
                <a:cubicBezTo>
                  <a:pt x="2275036" y="0"/>
                  <a:pt x="2307577" y="32541"/>
                  <a:pt x="2307577" y="72682"/>
                </a:cubicBezTo>
                <a:lnTo>
                  <a:pt x="2307577" y="763133"/>
                </a:lnTo>
                <a:cubicBezTo>
                  <a:pt x="2307577" y="803274"/>
                  <a:pt x="2275036" y="835815"/>
                  <a:pt x="2234894" y="835815"/>
                </a:cubicBezTo>
                <a:lnTo>
                  <a:pt x="72682" y="835815"/>
                </a:lnTo>
                <a:cubicBezTo>
                  <a:pt x="32541" y="835815"/>
                  <a:pt x="0" y="803274"/>
                  <a:pt x="0" y="763133"/>
                </a:cubicBezTo>
                <a:lnTo>
                  <a:pt x="0" y="72682"/>
                </a:lnTo>
                <a:cubicBezTo>
                  <a:pt x="0" y="32568"/>
                  <a:pt x="32568" y="0"/>
                  <a:pt x="72682" y="0"/>
                </a:cubicBezTo>
                <a:close/>
              </a:path>
            </a:pathLst>
          </a:custGeom>
          <a:solidFill>
            <a:srgbClr val="A8B5A0">
              <a:alpha val="1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7" name="Text 35"/>
          <p:cNvSpPr/>
          <p:nvPr/>
        </p:nvSpPr>
        <p:spPr>
          <a:xfrm>
            <a:off x="6755652" y="1998689"/>
            <a:ext cx="2080453" cy="181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1" dirty="0">
                <a:solidFill>
                  <a:srgbClr val="9A95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Observations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719313" y="2216727"/>
            <a:ext cx="2153133" cy="327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146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9090910" y="1853329"/>
            <a:ext cx="2307577" cy="835815"/>
          </a:xfrm>
          <a:custGeom>
            <a:avLst/>
            <a:gdLst/>
            <a:ahLst/>
            <a:cxnLst/>
            <a:rect l="l" t="t" r="r" b="b"/>
            <a:pathLst>
              <a:path w="2307577" h="835815">
                <a:moveTo>
                  <a:pt x="72682" y="0"/>
                </a:moveTo>
                <a:lnTo>
                  <a:pt x="2234894" y="0"/>
                </a:lnTo>
                <a:cubicBezTo>
                  <a:pt x="2275036" y="0"/>
                  <a:pt x="2307577" y="32541"/>
                  <a:pt x="2307577" y="72682"/>
                </a:cubicBezTo>
                <a:lnTo>
                  <a:pt x="2307577" y="763133"/>
                </a:lnTo>
                <a:cubicBezTo>
                  <a:pt x="2307577" y="803274"/>
                  <a:pt x="2275036" y="835815"/>
                  <a:pt x="2234894" y="835815"/>
                </a:cubicBezTo>
                <a:lnTo>
                  <a:pt x="72682" y="835815"/>
                </a:lnTo>
                <a:cubicBezTo>
                  <a:pt x="32541" y="835815"/>
                  <a:pt x="0" y="803274"/>
                  <a:pt x="0" y="763133"/>
                </a:cubicBezTo>
                <a:lnTo>
                  <a:pt x="0" y="72682"/>
                </a:lnTo>
                <a:cubicBezTo>
                  <a:pt x="0" y="32568"/>
                  <a:pt x="32568" y="0"/>
                  <a:pt x="72682" y="0"/>
                </a:cubicBezTo>
                <a:close/>
              </a:path>
            </a:pathLst>
          </a:custGeom>
          <a:solidFill>
            <a:srgbClr val="9B8E7D">
              <a:alpha val="1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8"/>
          <p:cNvSpPr/>
          <p:nvPr/>
        </p:nvSpPr>
        <p:spPr>
          <a:xfrm>
            <a:off x="9204472" y="1998689"/>
            <a:ext cx="2080453" cy="181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1" dirty="0">
                <a:solidFill>
                  <a:srgbClr val="9A95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Variables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68132" y="2216727"/>
            <a:ext cx="2153133" cy="327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146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642091" y="3275124"/>
            <a:ext cx="4751428" cy="9085"/>
          </a:xfrm>
          <a:custGeom>
            <a:avLst/>
            <a:gdLst/>
            <a:ahLst/>
            <a:cxnLst/>
            <a:rect l="l" t="t" r="r" b="b"/>
            <a:pathLst>
              <a:path w="4751428" h="9085">
                <a:moveTo>
                  <a:pt x="0" y="0"/>
                </a:moveTo>
                <a:lnTo>
                  <a:pt x="4751428" y="0"/>
                </a:lnTo>
                <a:lnTo>
                  <a:pt x="4751428" y="9085"/>
                </a:lnTo>
                <a:lnTo>
                  <a:pt x="0" y="9085"/>
                </a:lnTo>
                <a:lnTo>
                  <a:pt x="0" y="0"/>
                </a:lnTo>
                <a:close/>
              </a:path>
            </a:pathLst>
          </a:custGeom>
          <a:solidFill>
            <a:srgbClr val="9B8E7D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3" name="Text 41"/>
          <p:cNvSpPr/>
          <p:nvPr/>
        </p:nvSpPr>
        <p:spPr>
          <a:xfrm>
            <a:off x="6642091" y="2979863"/>
            <a:ext cx="853985" cy="218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45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Study Hours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10922095" y="2998033"/>
            <a:ext cx="536012" cy="181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01" dirty="0">
                <a:solidFill>
                  <a:srgbClr val="9A95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Numeric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642091" y="3756626"/>
            <a:ext cx="4751428" cy="9085"/>
          </a:xfrm>
          <a:custGeom>
            <a:avLst/>
            <a:gdLst/>
            <a:ahLst/>
            <a:cxnLst/>
            <a:rect l="l" t="t" r="r" b="b"/>
            <a:pathLst>
              <a:path w="4751428" h="9085">
                <a:moveTo>
                  <a:pt x="0" y="0"/>
                </a:moveTo>
                <a:lnTo>
                  <a:pt x="4751428" y="0"/>
                </a:lnTo>
                <a:lnTo>
                  <a:pt x="4751428" y="9085"/>
                </a:lnTo>
                <a:lnTo>
                  <a:pt x="0" y="9085"/>
                </a:lnTo>
                <a:lnTo>
                  <a:pt x="0" y="0"/>
                </a:lnTo>
                <a:close/>
              </a:path>
            </a:pathLst>
          </a:custGeom>
          <a:solidFill>
            <a:srgbClr val="9B8E7D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6" name="Text 44"/>
          <p:cNvSpPr/>
          <p:nvPr/>
        </p:nvSpPr>
        <p:spPr>
          <a:xfrm>
            <a:off x="6642091" y="3461365"/>
            <a:ext cx="908495" cy="218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45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Sleep Quality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10922095" y="3479535"/>
            <a:ext cx="536012" cy="181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01" dirty="0">
                <a:solidFill>
                  <a:srgbClr val="9A95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Numeric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2091" y="4238128"/>
            <a:ext cx="4751428" cy="9085"/>
          </a:xfrm>
          <a:custGeom>
            <a:avLst/>
            <a:gdLst/>
            <a:ahLst/>
            <a:cxnLst/>
            <a:rect l="l" t="t" r="r" b="b"/>
            <a:pathLst>
              <a:path w="4751428" h="9085">
                <a:moveTo>
                  <a:pt x="0" y="0"/>
                </a:moveTo>
                <a:lnTo>
                  <a:pt x="4751428" y="0"/>
                </a:lnTo>
                <a:lnTo>
                  <a:pt x="4751428" y="9085"/>
                </a:lnTo>
                <a:lnTo>
                  <a:pt x="0" y="9085"/>
                </a:lnTo>
                <a:lnTo>
                  <a:pt x="0" y="0"/>
                </a:lnTo>
                <a:close/>
              </a:path>
            </a:pathLst>
          </a:custGeom>
          <a:solidFill>
            <a:srgbClr val="9B8E7D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9" name="Text 47"/>
          <p:cNvSpPr/>
          <p:nvPr/>
        </p:nvSpPr>
        <p:spPr>
          <a:xfrm>
            <a:off x="6642091" y="3942867"/>
            <a:ext cx="817645" cy="218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45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Stress Level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10922095" y="3961037"/>
            <a:ext cx="536012" cy="181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01" dirty="0">
                <a:solidFill>
                  <a:srgbClr val="9A95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Numeric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6642091" y="4424370"/>
            <a:ext cx="1226468" cy="218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45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Productivity Score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11058369" y="4442539"/>
            <a:ext cx="399738" cy="181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01" dirty="0">
                <a:solidFill>
                  <a:srgbClr val="9A95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Target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6392254" y="5078486"/>
            <a:ext cx="5251100" cy="181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1" dirty="0">
                <a:solidFill>
                  <a:srgbClr val="9A95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[Dataset Summary Screenshot Placeholder]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6224183" y="5659923"/>
            <a:ext cx="5605413" cy="1199213"/>
          </a:xfrm>
          <a:custGeom>
            <a:avLst/>
            <a:gdLst/>
            <a:ahLst/>
            <a:cxnLst/>
            <a:rect l="l" t="t" r="r" b="b"/>
            <a:pathLst>
              <a:path w="5605413" h="1199213">
                <a:moveTo>
                  <a:pt x="36340" y="0"/>
                </a:moveTo>
                <a:lnTo>
                  <a:pt x="5532729" y="0"/>
                </a:lnTo>
                <a:cubicBezTo>
                  <a:pt x="5572871" y="0"/>
                  <a:pt x="5605413" y="32542"/>
                  <a:pt x="5605413" y="72684"/>
                </a:cubicBezTo>
                <a:lnTo>
                  <a:pt x="5605413" y="1126529"/>
                </a:lnTo>
                <a:cubicBezTo>
                  <a:pt x="5605413" y="1166671"/>
                  <a:pt x="5572871" y="1199213"/>
                  <a:pt x="5532729" y="1199213"/>
                </a:cubicBezTo>
                <a:lnTo>
                  <a:pt x="36340" y="1199213"/>
                </a:lnTo>
                <a:cubicBezTo>
                  <a:pt x="16270" y="1199213"/>
                  <a:pt x="0" y="1182943"/>
                  <a:pt x="0" y="1162873"/>
                </a:cubicBezTo>
                <a:lnTo>
                  <a:pt x="0" y="36340"/>
                </a:lnTo>
                <a:cubicBezTo>
                  <a:pt x="0" y="16283"/>
                  <a:pt x="16283" y="0"/>
                  <a:pt x="36340" y="0"/>
                </a:cubicBezTo>
                <a:close/>
              </a:path>
            </a:pathLst>
          </a:custGeom>
          <a:solidFill>
            <a:srgbClr val="A8B5A0">
              <a:alpha val="1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5" name="Shape 53"/>
          <p:cNvSpPr/>
          <p:nvPr/>
        </p:nvSpPr>
        <p:spPr>
          <a:xfrm>
            <a:off x="6224183" y="5659923"/>
            <a:ext cx="36340" cy="1199213"/>
          </a:xfrm>
          <a:custGeom>
            <a:avLst/>
            <a:gdLst/>
            <a:ahLst/>
            <a:cxnLst/>
            <a:rect l="l" t="t" r="r" b="b"/>
            <a:pathLst>
              <a:path w="36340" h="1199213">
                <a:moveTo>
                  <a:pt x="36340" y="0"/>
                </a:moveTo>
                <a:lnTo>
                  <a:pt x="36340" y="0"/>
                </a:lnTo>
                <a:lnTo>
                  <a:pt x="36340" y="1199213"/>
                </a:lnTo>
                <a:lnTo>
                  <a:pt x="36340" y="1199213"/>
                </a:lnTo>
                <a:cubicBezTo>
                  <a:pt x="16270" y="1199213"/>
                  <a:pt x="0" y="1182943"/>
                  <a:pt x="0" y="1162873"/>
                </a:cubicBezTo>
                <a:lnTo>
                  <a:pt x="0" y="36340"/>
                </a:lnTo>
                <a:cubicBezTo>
                  <a:pt x="0" y="16283"/>
                  <a:pt x="16283" y="0"/>
                  <a:pt x="36340" y="0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6" name="Shape 54"/>
          <p:cNvSpPr/>
          <p:nvPr/>
        </p:nvSpPr>
        <p:spPr>
          <a:xfrm>
            <a:off x="6467205" y="5887046"/>
            <a:ext cx="122647" cy="163529"/>
          </a:xfrm>
          <a:custGeom>
            <a:avLst/>
            <a:gdLst/>
            <a:ahLst/>
            <a:cxnLst/>
            <a:rect l="l" t="t" r="r" b="b"/>
            <a:pathLst>
              <a:path w="122647" h="163529">
                <a:moveTo>
                  <a:pt x="93550" y="122647"/>
                </a:moveTo>
                <a:cubicBezTo>
                  <a:pt x="95882" y="115524"/>
                  <a:pt x="100545" y="109073"/>
                  <a:pt x="105815" y="103515"/>
                </a:cubicBezTo>
                <a:cubicBezTo>
                  <a:pt x="116259" y="92528"/>
                  <a:pt x="122647" y="77676"/>
                  <a:pt x="122647" y="61323"/>
                </a:cubicBezTo>
                <a:cubicBezTo>
                  <a:pt x="122647" y="27468"/>
                  <a:pt x="95179" y="0"/>
                  <a:pt x="61323" y="0"/>
                </a:cubicBezTo>
                <a:cubicBezTo>
                  <a:pt x="27468" y="0"/>
                  <a:pt x="0" y="27468"/>
                  <a:pt x="0" y="61323"/>
                </a:cubicBezTo>
                <a:cubicBezTo>
                  <a:pt x="0" y="77676"/>
                  <a:pt x="6388" y="92528"/>
                  <a:pt x="16832" y="103515"/>
                </a:cubicBezTo>
                <a:cubicBezTo>
                  <a:pt x="22102" y="109073"/>
                  <a:pt x="26797" y="115524"/>
                  <a:pt x="29097" y="122647"/>
                </a:cubicBezTo>
                <a:lnTo>
                  <a:pt x="93518" y="122647"/>
                </a:lnTo>
                <a:close/>
                <a:moveTo>
                  <a:pt x="91985" y="137978"/>
                </a:moveTo>
                <a:lnTo>
                  <a:pt x="30662" y="137978"/>
                </a:lnTo>
                <a:lnTo>
                  <a:pt x="30662" y="143088"/>
                </a:lnTo>
                <a:cubicBezTo>
                  <a:pt x="30662" y="157205"/>
                  <a:pt x="42096" y="168639"/>
                  <a:pt x="56213" y="168639"/>
                </a:cubicBezTo>
                <a:lnTo>
                  <a:pt x="66434" y="168639"/>
                </a:lnTo>
                <a:cubicBezTo>
                  <a:pt x="80551" y="168639"/>
                  <a:pt x="91985" y="157205"/>
                  <a:pt x="91985" y="143088"/>
                </a:cubicBezTo>
                <a:lnTo>
                  <a:pt x="91985" y="137978"/>
                </a:lnTo>
                <a:close/>
                <a:moveTo>
                  <a:pt x="58768" y="35772"/>
                </a:moveTo>
                <a:cubicBezTo>
                  <a:pt x="46056" y="35772"/>
                  <a:pt x="35772" y="46056"/>
                  <a:pt x="35772" y="58768"/>
                </a:cubicBezTo>
                <a:cubicBezTo>
                  <a:pt x="35772" y="63016"/>
                  <a:pt x="32354" y="66434"/>
                  <a:pt x="28107" y="66434"/>
                </a:cubicBezTo>
                <a:cubicBezTo>
                  <a:pt x="23859" y="66434"/>
                  <a:pt x="20441" y="63016"/>
                  <a:pt x="20441" y="58768"/>
                </a:cubicBezTo>
                <a:cubicBezTo>
                  <a:pt x="20441" y="37593"/>
                  <a:pt x="37593" y="20441"/>
                  <a:pt x="58768" y="20441"/>
                </a:cubicBezTo>
                <a:cubicBezTo>
                  <a:pt x="63016" y="20441"/>
                  <a:pt x="66434" y="23859"/>
                  <a:pt x="66434" y="28107"/>
                </a:cubicBezTo>
                <a:cubicBezTo>
                  <a:pt x="66434" y="32354"/>
                  <a:pt x="63016" y="35772"/>
                  <a:pt x="58768" y="35772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7" name="Text 55"/>
          <p:cNvSpPr/>
          <p:nvPr/>
        </p:nvSpPr>
        <p:spPr>
          <a:xfrm>
            <a:off x="6633006" y="5841621"/>
            <a:ext cx="5096656" cy="254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88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Insight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6424052" y="6205019"/>
            <a:ext cx="5296525" cy="4724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45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EDA suggested that </a:t>
            </a:r>
            <a:r>
              <a:rPr lang="en-US" sz="1145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some behavioural factors may relate to productivity</a:t>
            </a:r>
            <a:r>
              <a:rPr lang="en-US" sz="1145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but the relationships were </a:t>
            </a:r>
            <a:r>
              <a:rPr lang="en-US" sz="1145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not simple or strong enough</a:t>
            </a:r>
            <a:r>
              <a:rPr lang="en-US" sz="1145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to interpret on their own.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7500" y="317500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158750" y="0"/>
                </a:moveTo>
                <a:lnTo>
                  <a:pt x="158750" y="0"/>
                </a:lnTo>
                <a:cubicBezTo>
                  <a:pt x="246367" y="0"/>
                  <a:pt x="317500" y="71133"/>
                  <a:pt x="317500" y="158750"/>
                </a:cubicBezTo>
                <a:lnTo>
                  <a:pt x="317500" y="158750"/>
                </a:lnTo>
                <a:cubicBezTo>
                  <a:pt x="317500" y="246367"/>
                  <a:pt x="246367" y="317500"/>
                  <a:pt x="158750" y="317500"/>
                </a:cubicBezTo>
                <a:lnTo>
                  <a:pt x="158750" y="317500"/>
                </a:lnTo>
                <a:cubicBezTo>
                  <a:pt x="71133" y="317500"/>
                  <a:pt x="0" y="246367"/>
                  <a:pt x="0" y="158750"/>
                </a:cubicBezTo>
                <a:lnTo>
                  <a:pt x="0" y="158750"/>
                </a:lnTo>
                <a:cubicBezTo>
                  <a:pt x="0" y="71133"/>
                  <a:pt x="71133" y="0"/>
                  <a:pt x="158750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281781" y="317500"/>
            <a:ext cx="38893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25" b="1" dirty="0">
                <a:solidFill>
                  <a:srgbClr val="F7F5F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0250" y="317500"/>
            <a:ext cx="450056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What We Noticed from Exploration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17500" y="889000"/>
            <a:ext cx="6858000" cy="5032375"/>
          </a:xfrm>
          <a:custGeom>
            <a:avLst/>
            <a:gdLst/>
            <a:ahLst/>
            <a:cxnLst/>
            <a:rect l="l" t="t" r="r" b="b"/>
            <a:pathLst>
              <a:path w="6858000" h="5032375">
                <a:moveTo>
                  <a:pt x="63509" y="0"/>
                </a:moveTo>
                <a:lnTo>
                  <a:pt x="6794491" y="0"/>
                </a:lnTo>
                <a:cubicBezTo>
                  <a:pt x="6829566" y="0"/>
                  <a:pt x="6858000" y="28434"/>
                  <a:pt x="6858000" y="63509"/>
                </a:cubicBezTo>
                <a:lnTo>
                  <a:pt x="6858000" y="4968866"/>
                </a:lnTo>
                <a:cubicBezTo>
                  <a:pt x="6858000" y="5003941"/>
                  <a:pt x="6829566" y="5032375"/>
                  <a:pt x="6794491" y="5032375"/>
                </a:cubicBezTo>
                <a:lnTo>
                  <a:pt x="63509" y="5032375"/>
                </a:lnTo>
                <a:cubicBezTo>
                  <a:pt x="28434" y="5032375"/>
                  <a:pt x="0" y="5003941"/>
                  <a:pt x="0" y="4968866"/>
                </a:cubicBezTo>
                <a:lnTo>
                  <a:pt x="0" y="63509"/>
                </a:lnTo>
                <a:cubicBezTo>
                  <a:pt x="0" y="28457"/>
                  <a:pt x="28457" y="0"/>
                  <a:pt x="63509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23813" dist="7938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468313" y="1079500"/>
            <a:ext cx="65563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Correlation Matrix &amp; Pairwise Relationships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8000" y="1428750"/>
            <a:ext cx="6477000" cy="4016375"/>
          </a:xfrm>
          <a:custGeom>
            <a:avLst/>
            <a:gdLst/>
            <a:ahLst/>
            <a:cxnLst/>
            <a:rect l="l" t="t" r="r" b="b"/>
            <a:pathLst>
              <a:path w="6477000" h="4016375">
                <a:moveTo>
                  <a:pt x="63499" y="0"/>
                </a:moveTo>
                <a:lnTo>
                  <a:pt x="6413501" y="0"/>
                </a:lnTo>
                <a:cubicBezTo>
                  <a:pt x="6448571" y="0"/>
                  <a:pt x="6477000" y="28429"/>
                  <a:pt x="6477000" y="63499"/>
                </a:cubicBezTo>
                <a:lnTo>
                  <a:pt x="6477000" y="3952876"/>
                </a:lnTo>
                <a:cubicBezTo>
                  <a:pt x="6477000" y="3987946"/>
                  <a:pt x="6448571" y="4016375"/>
                  <a:pt x="6413501" y="4016375"/>
                </a:cubicBezTo>
                <a:lnTo>
                  <a:pt x="63499" y="4016375"/>
                </a:lnTo>
                <a:cubicBezTo>
                  <a:pt x="28429" y="4016375"/>
                  <a:pt x="0" y="3987946"/>
                  <a:pt x="0" y="3952876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9B8E7D">
              <a:alpha val="5098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Shape 6"/>
          <p:cNvSpPr/>
          <p:nvPr/>
        </p:nvSpPr>
        <p:spPr>
          <a:xfrm>
            <a:off x="3508375" y="2897188"/>
            <a:ext cx="476250" cy="476250"/>
          </a:xfrm>
          <a:custGeom>
            <a:avLst/>
            <a:gdLst/>
            <a:ahLst/>
            <a:cxnLst/>
            <a:rect l="l" t="t" r="r" b="b"/>
            <a:pathLst>
              <a:path w="476250" h="476250">
                <a:moveTo>
                  <a:pt x="61299" y="212545"/>
                </a:moveTo>
                <a:cubicBezTo>
                  <a:pt x="73670" y="126039"/>
                  <a:pt x="148177" y="59531"/>
                  <a:pt x="238125" y="59531"/>
                </a:cubicBezTo>
                <a:cubicBezTo>
                  <a:pt x="287424" y="59531"/>
                  <a:pt x="332073" y="79530"/>
                  <a:pt x="364443" y="111807"/>
                </a:cubicBezTo>
                <a:cubicBezTo>
                  <a:pt x="364629" y="111993"/>
                  <a:pt x="364815" y="112179"/>
                  <a:pt x="365001" y="112365"/>
                </a:cubicBezTo>
                <a:lnTo>
                  <a:pt x="372070" y="119062"/>
                </a:lnTo>
                <a:lnTo>
                  <a:pt x="327515" y="119062"/>
                </a:lnTo>
                <a:cubicBezTo>
                  <a:pt x="311051" y="119062"/>
                  <a:pt x="297749" y="132364"/>
                  <a:pt x="297749" y="148828"/>
                </a:cubicBezTo>
                <a:cubicBezTo>
                  <a:pt x="297749" y="165292"/>
                  <a:pt x="311051" y="178594"/>
                  <a:pt x="327515" y="178594"/>
                </a:cubicBezTo>
                <a:lnTo>
                  <a:pt x="446577" y="178594"/>
                </a:lnTo>
                <a:cubicBezTo>
                  <a:pt x="463042" y="178594"/>
                  <a:pt x="476343" y="165292"/>
                  <a:pt x="476343" y="148828"/>
                </a:cubicBezTo>
                <a:lnTo>
                  <a:pt x="476343" y="29766"/>
                </a:lnTo>
                <a:cubicBezTo>
                  <a:pt x="476343" y="13302"/>
                  <a:pt x="463042" y="0"/>
                  <a:pt x="446577" y="0"/>
                </a:cubicBezTo>
                <a:cubicBezTo>
                  <a:pt x="430113" y="0"/>
                  <a:pt x="416812" y="13302"/>
                  <a:pt x="416812" y="29766"/>
                </a:cubicBezTo>
                <a:lnTo>
                  <a:pt x="416812" y="79437"/>
                </a:lnTo>
                <a:lnTo>
                  <a:pt x="406301" y="69484"/>
                </a:lnTo>
                <a:cubicBezTo>
                  <a:pt x="363234" y="26603"/>
                  <a:pt x="303702" y="0"/>
                  <a:pt x="238125" y="0"/>
                </a:cubicBezTo>
                <a:cubicBezTo>
                  <a:pt x="118132" y="0"/>
                  <a:pt x="18883" y="88739"/>
                  <a:pt x="2418" y="204174"/>
                </a:cubicBezTo>
                <a:cubicBezTo>
                  <a:pt x="93" y="220452"/>
                  <a:pt x="11348" y="235521"/>
                  <a:pt x="27626" y="237846"/>
                </a:cubicBezTo>
                <a:cubicBezTo>
                  <a:pt x="43904" y="240171"/>
                  <a:pt x="58973" y="228823"/>
                  <a:pt x="61299" y="212638"/>
                </a:cubicBezTo>
                <a:close/>
                <a:moveTo>
                  <a:pt x="473832" y="272076"/>
                </a:moveTo>
                <a:cubicBezTo>
                  <a:pt x="476157" y="255798"/>
                  <a:pt x="464809" y="240729"/>
                  <a:pt x="448624" y="238404"/>
                </a:cubicBezTo>
                <a:cubicBezTo>
                  <a:pt x="432439" y="236079"/>
                  <a:pt x="417277" y="247427"/>
                  <a:pt x="414951" y="263612"/>
                </a:cubicBezTo>
                <a:cubicBezTo>
                  <a:pt x="402580" y="350118"/>
                  <a:pt x="328073" y="416626"/>
                  <a:pt x="238125" y="416626"/>
                </a:cubicBezTo>
                <a:cubicBezTo>
                  <a:pt x="188826" y="416626"/>
                  <a:pt x="144177" y="396627"/>
                  <a:pt x="111807" y="364350"/>
                </a:cubicBezTo>
                <a:cubicBezTo>
                  <a:pt x="111621" y="364164"/>
                  <a:pt x="111435" y="363978"/>
                  <a:pt x="111249" y="363792"/>
                </a:cubicBezTo>
                <a:lnTo>
                  <a:pt x="104180" y="357094"/>
                </a:lnTo>
                <a:lnTo>
                  <a:pt x="148735" y="357094"/>
                </a:lnTo>
                <a:cubicBezTo>
                  <a:pt x="165199" y="357094"/>
                  <a:pt x="178501" y="343793"/>
                  <a:pt x="178501" y="327329"/>
                </a:cubicBezTo>
                <a:cubicBezTo>
                  <a:pt x="178501" y="310865"/>
                  <a:pt x="165199" y="297563"/>
                  <a:pt x="148735" y="297563"/>
                </a:cubicBezTo>
                <a:lnTo>
                  <a:pt x="29766" y="297656"/>
                </a:lnTo>
                <a:cubicBezTo>
                  <a:pt x="21859" y="297656"/>
                  <a:pt x="14232" y="300819"/>
                  <a:pt x="8651" y="306493"/>
                </a:cubicBezTo>
                <a:cubicBezTo>
                  <a:pt x="3070" y="312167"/>
                  <a:pt x="-93" y="319701"/>
                  <a:pt x="0" y="327701"/>
                </a:cubicBezTo>
                <a:lnTo>
                  <a:pt x="930" y="445833"/>
                </a:lnTo>
                <a:cubicBezTo>
                  <a:pt x="1023" y="462297"/>
                  <a:pt x="14511" y="475506"/>
                  <a:pt x="30975" y="475320"/>
                </a:cubicBezTo>
                <a:cubicBezTo>
                  <a:pt x="47439" y="475134"/>
                  <a:pt x="60647" y="461739"/>
                  <a:pt x="60461" y="445275"/>
                </a:cubicBezTo>
                <a:lnTo>
                  <a:pt x="60089" y="397371"/>
                </a:lnTo>
                <a:lnTo>
                  <a:pt x="70042" y="406766"/>
                </a:lnTo>
                <a:cubicBezTo>
                  <a:pt x="113109" y="449647"/>
                  <a:pt x="172548" y="476250"/>
                  <a:pt x="238125" y="476250"/>
                </a:cubicBezTo>
                <a:cubicBezTo>
                  <a:pt x="358118" y="476250"/>
                  <a:pt x="457367" y="387511"/>
                  <a:pt x="473832" y="272076"/>
                </a:cubicBezTo>
                <a:close/>
              </a:path>
            </a:pathLst>
          </a:custGeom>
          <a:solidFill>
            <a:srgbClr val="9B8E7D">
              <a:alpha val="3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1722438" y="3500438"/>
            <a:ext cx="40481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25" dirty="0">
                <a:solidFill>
                  <a:srgbClr val="9A95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Correlation Plot / Pairwise Plot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726406" y="3786188"/>
            <a:ext cx="40401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dirty="0">
                <a:solidFill>
                  <a:srgbClr val="9A9590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Visualizing relationships between behavioural variables and productivity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80219" y="5572125"/>
            <a:ext cx="6532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dirty="0">
                <a:solidFill>
                  <a:srgbClr val="9A95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[Correlation Plot Screenshot Placeholder]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381875" y="889000"/>
            <a:ext cx="4492625" cy="1682750"/>
          </a:xfrm>
          <a:custGeom>
            <a:avLst/>
            <a:gdLst/>
            <a:ahLst/>
            <a:cxnLst/>
            <a:rect l="l" t="t" r="r" b="b"/>
            <a:pathLst>
              <a:path w="4492625" h="1682750">
                <a:moveTo>
                  <a:pt x="31750" y="0"/>
                </a:moveTo>
                <a:lnTo>
                  <a:pt x="4429118" y="0"/>
                </a:lnTo>
                <a:cubicBezTo>
                  <a:pt x="4464192" y="0"/>
                  <a:pt x="4492625" y="28433"/>
                  <a:pt x="4492625" y="63507"/>
                </a:cubicBezTo>
                <a:lnTo>
                  <a:pt x="4492625" y="1619243"/>
                </a:lnTo>
                <a:cubicBezTo>
                  <a:pt x="4492625" y="1654317"/>
                  <a:pt x="4464192" y="1682750"/>
                  <a:pt x="4429118" y="1682750"/>
                </a:cubicBezTo>
                <a:lnTo>
                  <a:pt x="31750" y="1682750"/>
                </a:lnTo>
                <a:cubicBezTo>
                  <a:pt x="14215" y="1682750"/>
                  <a:pt x="0" y="1668535"/>
                  <a:pt x="0" y="1651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23813" dist="7938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/>
          <p:cNvSpPr/>
          <p:nvPr/>
        </p:nvSpPr>
        <p:spPr>
          <a:xfrm>
            <a:off x="7381875" y="889000"/>
            <a:ext cx="31750" cy="1682750"/>
          </a:xfrm>
          <a:custGeom>
            <a:avLst/>
            <a:gdLst/>
            <a:ahLst/>
            <a:cxnLst/>
            <a:rect l="l" t="t" r="r" b="b"/>
            <a:pathLst>
              <a:path w="31750" h="1682750">
                <a:moveTo>
                  <a:pt x="31750" y="0"/>
                </a:moveTo>
                <a:lnTo>
                  <a:pt x="31750" y="0"/>
                </a:lnTo>
                <a:lnTo>
                  <a:pt x="31750" y="1682750"/>
                </a:lnTo>
                <a:lnTo>
                  <a:pt x="31750" y="1682750"/>
                </a:lnTo>
                <a:cubicBezTo>
                  <a:pt x="14227" y="1682750"/>
                  <a:pt x="0" y="1668523"/>
                  <a:pt x="0" y="1651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2"/>
          <p:cNvSpPr/>
          <p:nvPr/>
        </p:nvSpPr>
        <p:spPr>
          <a:xfrm>
            <a:off x="7566422" y="1079500"/>
            <a:ext cx="178594" cy="158750"/>
          </a:xfrm>
          <a:custGeom>
            <a:avLst/>
            <a:gdLst/>
            <a:ahLst/>
            <a:cxnLst/>
            <a:rect l="l" t="t" r="r" b="b"/>
            <a:pathLst>
              <a:path w="178594" h="158750">
                <a:moveTo>
                  <a:pt x="89297" y="9922"/>
                </a:moveTo>
                <a:cubicBezTo>
                  <a:pt x="64244" y="9922"/>
                  <a:pt x="44183" y="21332"/>
                  <a:pt x="29580" y="34913"/>
                </a:cubicBezTo>
                <a:cubicBezTo>
                  <a:pt x="15069" y="48400"/>
                  <a:pt x="5364" y="64492"/>
                  <a:pt x="744" y="75561"/>
                </a:cubicBezTo>
                <a:cubicBezTo>
                  <a:pt x="-279" y="78011"/>
                  <a:pt x="-279" y="80739"/>
                  <a:pt x="744" y="83189"/>
                </a:cubicBezTo>
                <a:cubicBezTo>
                  <a:pt x="5364" y="94258"/>
                  <a:pt x="15069" y="110381"/>
                  <a:pt x="29580" y="123837"/>
                </a:cubicBezTo>
                <a:cubicBezTo>
                  <a:pt x="44183" y="137387"/>
                  <a:pt x="64244" y="148828"/>
                  <a:pt x="89297" y="148828"/>
                </a:cubicBezTo>
                <a:cubicBezTo>
                  <a:pt x="114350" y="148828"/>
                  <a:pt x="134410" y="137418"/>
                  <a:pt x="149014" y="123837"/>
                </a:cubicBezTo>
                <a:cubicBezTo>
                  <a:pt x="163525" y="110350"/>
                  <a:pt x="173230" y="94258"/>
                  <a:pt x="177850" y="83189"/>
                </a:cubicBezTo>
                <a:cubicBezTo>
                  <a:pt x="178873" y="80739"/>
                  <a:pt x="178873" y="78011"/>
                  <a:pt x="177850" y="75561"/>
                </a:cubicBezTo>
                <a:cubicBezTo>
                  <a:pt x="173230" y="64492"/>
                  <a:pt x="163525" y="48369"/>
                  <a:pt x="149014" y="34913"/>
                </a:cubicBezTo>
                <a:cubicBezTo>
                  <a:pt x="134410" y="21363"/>
                  <a:pt x="114350" y="9922"/>
                  <a:pt x="89297" y="9922"/>
                </a:cubicBezTo>
                <a:close/>
                <a:moveTo>
                  <a:pt x="44648" y="79375"/>
                </a:moveTo>
                <a:cubicBezTo>
                  <a:pt x="44648" y="54733"/>
                  <a:pt x="64655" y="34727"/>
                  <a:pt x="89297" y="34727"/>
                </a:cubicBezTo>
                <a:cubicBezTo>
                  <a:pt x="113939" y="34727"/>
                  <a:pt x="133945" y="54733"/>
                  <a:pt x="133945" y="79375"/>
                </a:cubicBezTo>
                <a:cubicBezTo>
                  <a:pt x="133945" y="104017"/>
                  <a:pt x="113939" y="124023"/>
                  <a:pt x="89297" y="124023"/>
                </a:cubicBezTo>
                <a:cubicBezTo>
                  <a:pt x="64655" y="124023"/>
                  <a:pt x="44648" y="104017"/>
                  <a:pt x="44648" y="79375"/>
                </a:cubicBezTo>
                <a:close/>
                <a:moveTo>
                  <a:pt x="89297" y="59531"/>
                </a:moveTo>
                <a:cubicBezTo>
                  <a:pt x="89297" y="70476"/>
                  <a:pt x="80398" y="79375"/>
                  <a:pt x="69453" y="79375"/>
                </a:cubicBezTo>
                <a:cubicBezTo>
                  <a:pt x="65887" y="79375"/>
                  <a:pt x="62539" y="78445"/>
                  <a:pt x="59624" y="76771"/>
                </a:cubicBezTo>
                <a:cubicBezTo>
                  <a:pt x="59314" y="80150"/>
                  <a:pt x="59593" y="83623"/>
                  <a:pt x="60523" y="87064"/>
                </a:cubicBezTo>
                <a:cubicBezTo>
                  <a:pt x="64771" y="102939"/>
                  <a:pt x="81111" y="112365"/>
                  <a:pt x="96986" y="108117"/>
                </a:cubicBezTo>
                <a:cubicBezTo>
                  <a:pt x="112861" y="103870"/>
                  <a:pt x="122287" y="87530"/>
                  <a:pt x="118039" y="71655"/>
                </a:cubicBezTo>
                <a:cubicBezTo>
                  <a:pt x="114257" y="57485"/>
                  <a:pt x="100831" y="48462"/>
                  <a:pt x="86692" y="49702"/>
                </a:cubicBezTo>
                <a:cubicBezTo>
                  <a:pt x="88336" y="52586"/>
                  <a:pt x="89297" y="55935"/>
                  <a:pt x="89297" y="59531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7754938" y="1047750"/>
            <a:ext cx="40401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Interesting Patterns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556500" y="14605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31750" y="0"/>
                </a:moveTo>
                <a:lnTo>
                  <a:pt x="31750" y="0"/>
                </a:lnTo>
                <a:cubicBezTo>
                  <a:pt x="49273" y="0"/>
                  <a:pt x="63500" y="14227"/>
                  <a:pt x="63500" y="31750"/>
                </a:cubicBezTo>
                <a:lnTo>
                  <a:pt x="63500" y="31750"/>
                </a:lnTo>
                <a:cubicBezTo>
                  <a:pt x="63500" y="49273"/>
                  <a:pt x="49273" y="63500"/>
                  <a:pt x="31750" y="63500"/>
                </a:cubicBezTo>
                <a:lnTo>
                  <a:pt x="31750" y="63500"/>
                </a:lnTo>
                <a:cubicBezTo>
                  <a:pt x="14227" y="63500"/>
                  <a:pt x="0" y="49273"/>
                  <a:pt x="0" y="31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7715250" y="1397000"/>
            <a:ext cx="40640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Some variables showed </a:t>
            </a:r>
            <a:r>
              <a:rPr lang="en-US" sz="100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weak to moderate relationships</a:t>
            </a:r>
            <a:r>
              <a:rPr lang="en-US" sz="10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with productivity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556500" y="19685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31750" y="0"/>
                </a:moveTo>
                <a:lnTo>
                  <a:pt x="31750" y="0"/>
                </a:lnTo>
                <a:cubicBezTo>
                  <a:pt x="49273" y="0"/>
                  <a:pt x="63500" y="14227"/>
                  <a:pt x="63500" y="31750"/>
                </a:cubicBezTo>
                <a:lnTo>
                  <a:pt x="63500" y="31750"/>
                </a:lnTo>
                <a:cubicBezTo>
                  <a:pt x="63500" y="49273"/>
                  <a:pt x="49273" y="63500"/>
                  <a:pt x="31750" y="63500"/>
                </a:cubicBezTo>
                <a:lnTo>
                  <a:pt x="31750" y="63500"/>
                </a:lnTo>
                <a:cubicBezTo>
                  <a:pt x="14227" y="63500"/>
                  <a:pt x="0" y="49273"/>
                  <a:pt x="0" y="31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7715250" y="1905000"/>
            <a:ext cx="2714625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Some predictors were also </a:t>
            </a:r>
            <a:r>
              <a:rPr lang="en-US" sz="100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related to each other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556500" y="2270125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31750" y="0"/>
                </a:moveTo>
                <a:lnTo>
                  <a:pt x="31750" y="0"/>
                </a:lnTo>
                <a:cubicBezTo>
                  <a:pt x="49273" y="0"/>
                  <a:pt x="63500" y="14227"/>
                  <a:pt x="63500" y="31750"/>
                </a:cubicBezTo>
                <a:lnTo>
                  <a:pt x="63500" y="31750"/>
                </a:lnTo>
                <a:cubicBezTo>
                  <a:pt x="63500" y="49273"/>
                  <a:pt x="49273" y="63500"/>
                  <a:pt x="31750" y="63500"/>
                </a:cubicBezTo>
                <a:lnTo>
                  <a:pt x="31750" y="63500"/>
                </a:lnTo>
                <a:cubicBezTo>
                  <a:pt x="14227" y="63500"/>
                  <a:pt x="0" y="49273"/>
                  <a:pt x="0" y="31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7715250" y="2206625"/>
            <a:ext cx="3508375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Apparent trends in plots did </a:t>
            </a:r>
            <a:r>
              <a:rPr lang="en-US" sz="100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not guarantee independent effects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381875" y="2730500"/>
            <a:ext cx="4492625" cy="1476375"/>
          </a:xfrm>
          <a:custGeom>
            <a:avLst/>
            <a:gdLst/>
            <a:ahLst/>
            <a:cxnLst/>
            <a:rect l="l" t="t" r="r" b="b"/>
            <a:pathLst>
              <a:path w="4492625" h="1476375">
                <a:moveTo>
                  <a:pt x="31750" y="0"/>
                </a:moveTo>
                <a:lnTo>
                  <a:pt x="4429126" y="0"/>
                </a:lnTo>
                <a:cubicBezTo>
                  <a:pt x="4464196" y="0"/>
                  <a:pt x="4492625" y="28429"/>
                  <a:pt x="4492625" y="63499"/>
                </a:cubicBezTo>
                <a:lnTo>
                  <a:pt x="4492625" y="1412876"/>
                </a:lnTo>
                <a:cubicBezTo>
                  <a:pt x="4492625" y="1447946"/>
                  <a:pt x="4464196" y="1476375"/>
                  <a:pt x="4429126" y="1476375"/>
                </a:cubicBezTo>
                <a:lnTo>
                  <a:pt x="31750" y="1476375"/>
                </a:lnTo>
                <a:cubicBezTo>
                  <a:pt x="14227" y="1476375"/>
                  <a:pt x="0" y="1462148"/>
                  <a:pt x="0" y="1444625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23813" dist="7938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7381875" y="2730500"/>
            <a:ext cx="31750" cy="1476375"/>
          </a:xfrm>
          <a:custGeom>
            <a:avLst/>
            <a:gdLst/>
            <a:ahLst/>
            <a:cxnLst/>
            <a:rect l="l" t="t" r="r" b="b"/>
            <a:pathLst>
              <a:path w="31750" h="1476375">
                <a:moveTo>
                  <a:pt x="31750" y="0"/>
                </a:moveTo>
                <a:lnTo>
                  <a:pt x="31750" y="0"/>
                </a:lnTo>
                <a:lnTo>
                  <a:pt x="31750" y="1476375"/>
                </a:lnTo>
                <a:lnTo>
                  <a:pt x="31750" y="1476375"/>
                </a:lnTo>
                <a:cubicBezTo>
                  <a:pt x="14227" y="1476375"/>
                  <a:pt x="0" y="1462148"/>
                  <a:pt x="0" y="1444625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C4A99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7576344" y="2921000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9375" y="0"/>
                </a:moveTo>
                <a:cubicBezTo>
                  <a:pt x="83933" y="0"/>
                  <a:pt x="88119" y="2511"/>
                  <a:pt x="90289" y="6511"/>
                </a:cubicBezTo>
                <a:lnTo>
                  <a:pt x="157262" y="130535"/>
                </a:lnTo>
                <a:cubicBezTo>
                  <a:pt x="159339" y="134379"/>
                  <a:pt x="159246" y="139030"/>
                  <a:pt x="157014" y="142782"/>
                </a:cubicBezTo>
                <a:cubicBezTo>
                  <a:pt x="154781" y="146534"/>
                  <a:pt x="150719" y="148828"/>
                  <a:pt x="146348" y="148828"/>
                </a:cubicBezTo>
                <a:lnTo>
                  <a:pt x="12402" y="148828"/>
                </a:lnTo>
                <a:cubicBezTo>
                  <a:pt x="8031" y="148828"/>
                  <a:pt x="4000" y="146534"/>
                  <a:pt x="1736" y="142782"/>
                </a:cubicBezTo>
                <a:cubicBezTo>
                  <a:pt x="-527" y="139030"/>
                  <a:pt x="-589" y="134379"/>
                  <a:pt x="1488" y="130535"/>
                </a:cubicBezTo>
                <a:lnTo>
                  <a:pt x="68461" y="6511"/>
                </a:lnTo>
                <a:cubicBezTo>
                  <a:pt x="70631" y="2511"/>
                  <a:pt x="74817" y="0"/>
                  <a:pt x="79375" y="0"/>
                </a:cubicBezTo>
                <a:close/>
                <a:moveTo>
                  <a:pt x="79375" y="52090"/>
                </a:moveTo>
                <a:cubicBezTo>
                  <a:pt x="75251" y="52090"/>
                  <a:pt x="71934" y="55407"/>
                  <a:pt x="71934" y="59531"/>
                </a:cubicBezTo>
                <a:lnTo>
                  <a:pt x="71934" y="94258"/>
                </a:lnTo>
                <a:cubicBezTo>
                  <a:pt x="71934" y="98382"/>
                  <a:pt x="75251" y="101699"/>
                  <a:pt x="79375" y="101699"/>
                </a:cubicBezTo>
                <a:cubicBezTo>
                  <a:pt x="83499" y="101699"/>
                  <a:pt x="86816" y="98382"/>
                  <a:pt x="86816" y="94258"/>
                </a:cubicBezTo>
                <a:lnTo>
                  <a:pt x="86816" y="59531"/>
                </a:lnTo>
                <a:cubicBezTo>
                  <a:pt x="86816" y="55407"/>
                  <a:pt x="83499" y="52090"/>
                  <a:pt x="79375" y="52090"/>
                </a:cubicBezTo>
                <a:close/>
                <a:moveTo>
                  <a:pt x="87654" y="119062"/>
                </a:moveTo>
                <a:cubicBezTo>
                  <a:pt x="87842" y="115990"/>
                  <a:pt x="86309" y="113066"/>
                  <a:pt x="83675" y="111473"/>
                </a:cubicBezTo>
                <a:cubicBezTo>
                  <a:pt x="81041" y="109879"/>
                  <a:pt x="77740" y="109879"/>
                  <a:pt x="75106" y="111473"/>
                </a:cubicBezTo>
                <a:cubicBezTo>
                  <a:pt x="72472" y="113066"/>
                  <a:pt x="70939" y="115990"/>
                  <a:pt x="71127" y="119062"/>
                </a:cubicBezTo>
                <a:cubicBezTo>
                  <a:pt x="70939" y="122135"/>
                  <a:pt x="72472" y="125059"/>
                  <a:pt x="75106" y="126652"/>
                </a:cubicBezTo>
                <a:cubicBezTo>
                  <a:pt x="77740" y="128246"/>
                  <a:pt x="81041" y="128246"/>
                  <a:pt x="83675" y="126652"/>
                </a:cubicBezTo>
                <a:cubicBezTo>
                  <a:pt x="86309" y="125059"/>
                  <a:pt x="87842" y="122135"/>
                  <a:pt x="87654" y="119062"/>
                </a:cubicBezTo>
                <a:close/>
              </a:path>
            </a:pathLst>
          </a:custGeom>
          <a:solidFill>
            <a:srgbClr val="C4A99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7754938" y="2889250"/>
            <a:ext cx="40401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Challenges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556500" y="33020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31750" y="0"/>
                </a:moveTo>
                <a:lnTo>
                  <a:pt x="31750" y="0"/>
                </a:lnTo>
                <a:cubicBezTo>
                  <a:pt x="49273" y="0"/>
                  <a:pt x="63500" y="14227"/>
                  <a:pt x="63500" y="31750"/>
                </a:cubicBezTo>
                <a:lnTo>
                  <a:pt x="63500" y="31750"/>
                </a:lnTo>
                <a:cubicBezTo>
                  <a:pt x="63500" y="49273"/>
                  <a:pt x="49273" y="63500"/>
                  <a:pt x="31750" y="63500"/>
                </a:cubicBezTo>
                <a:lnTo>
                  <a:pt x="31750" y="63500"/>
                </a:lnTo>
                <a:cubicBezTo>
                  <a:pt x="14227" y="63500"/>
                  <a:pt x="0" y="49273"/>
                  <a:pt x="0" y="31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C4A99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7715250" y="3238500"/>
            <a:ext cx="3730625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Unclear whether regression or classification was more appropriate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556500" y="3603625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31750" y="0"/>
                </a:moveTo>
                <a:lnTo>
                  <a:pt x="31750" y="0"/>
                </a:lnTo>
                <a:cubicBezTo>
                  <a:pt x="49273" y="0"/>
                  <a:pt x="63500" y="14227"/>
                  <a:pt x="63500" y="31750"/>
                </a:cubicBezTo>
                <a:lnTo>
                  <a:pt x="63500" y="31750"/>
                </a:lnTo>
                <a:cubicBezTo>
                  <a:pt x="63500" y="49273"/>
                  <a:pt x="49273" y="63500"/>
                  <a:pt x="31750" y="63500"/>
                </a:cubicBezTo>
                <a:lnTo>
                  <a:pt x="31750" y="63500"/>
                </a:lnTo>
                <a:cubicBezTo>
                  <a:pt x="14227" y="63500"/>
                  <a:pt x="0" y="49273"/>
                  <a:pt x="0" y="31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C4A99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7715250" y="3540125"/>
            <a:ext cx="35560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Correlation plots showed trends, but </a:t>
            </a:r>
            <a:r>
              <a:rPr lang="en-US" sz="100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not independent influence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556500" y="3905250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31750" y="0"/>
                </a:moveTo>
                <a:lnTo>
                  <a:pt x="31750" y="0"/>
                </a:lnTo>
                <a:cubicBezTo>
                  <a:pt x="49273" y="0"/>
                  <a:pt x="63500" y="14227"/>
                  <a:pt x="63500" y="31750"/>
                </a:cubicBezTo>
                <a:lnTo>
                  <a:pt x="63500" y="31750"/>
                </a:lnTo>
                <a:cubicBezTo>
                  <a:pt x="63500" y="49273"/>
                  <a:pt x="49273" y="63500"/>
                  <a:pt x="31750" y="63500"/>
                </a:cubicBezTo>
                <a:lnTo>
                  <a:pt x="31750" y="63500"/>
                </a:lnTo>
                <a:cubicBezTo>
                  <a:pt x="14227" y="63500"/>
                  <a:pt x="0" y="49273"/>
                  <a:pt x="0" y="31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C4A99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/>
          <p:nvPr/>
        </p:nvSpPr>
        <p:spPr>
          <a:xfrm>
            <a:off x="7715250" y="3841750"/>
            <a:ext cx="3794125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Some variables looked useful visually, but </a:t>
            </a:r>
            <a:r>
              <a:rPr lang="en-US" sz="100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not necessarily in models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381875" y="4365625"/>
            <a:ext cx="4492625" cy="1047750"/>
          </a:xfrm>
          <a:custGeom>
            <a:avLst/>
            <a:gdLst/>
            <a:ahLst/>
            <a:cxnLst/>
            <a:rect l="l" t="t" r="r" b="b"/>
            <a:pathLst>
              <a:path w="4492625" h="1047750">
                <a:moveTo>
                  <a:pt x="31750" y="0"/>
                </a:moveTo>
                <a:lnTo>
                  <a:pt x="4429121" y="0"/>
                </a:lnTo>
                <a:cubicBezTo>
                  <a:pt x="4464193" y="0"/>
                  <a:pt x="4492625" y="28432"/>
                  <a:pt x="4492625" y="63504"/>
                </a:cubicBezTo>
                <a:lnTo>
                  <a:pt x="4492625" y="984246"/>
                </a:lnTo>
                <a:cubicBezTo>
                  <a:pt x="4492625" y="1019318"/>
                  <a:pt x="4464193" y="1047750"/>
                  <a:pt x="4429121" y="1047750"/>
                </a:cubicBezTo>
                <a:lnTo>
                  <a:pt x="31750" y="1047750"/>
                </a:lnTo>
                <a:cubicBezTo>
                  <a:pt x="14215" y="1047750"/>
                  <a:pt x="0" y="1033535"/>
                  <a:pt x="0" y="1016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9B8E7D">
              <a:alpha val="1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>
            <a:off x="7381875" y="4365625"/>
            <a:ext cx="31750" cy="1047750"/>
          </a:xfrm>
          <a:custGeom>
            <a:avLst/>
            <a:gdLst/>
            <a:ahLst/>
            <a:cxnLst/>
            <a:rect l="l" t="t" r="r" b="b"/>
            <a:pathLst>
              <a:path w="31750" h="1047750">
                <a:moveTo>
                  <a:pt x="31750" y="0"/>
                </a:moveTo>
                <a:lnTo>
                  <a:pt x="31750" y="0"/>
                </a:lnTo>
                <a:lnTo>
                  <a:pt x="31750" y="1047750"/>
                </a:lnTo>
                <a:lnTo>
                  <a:pt x="31750" y="1047750"/>
                </a:lnTo>
                <a:cubicBezTo>
                  <a:pt x="14227" y="1047750"/>
                  <a:pt x="0" y="1033523"/>
                  <a:pt x="0" y="1016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Shape 32"/>
          <p:cNvSpPr/>
          <p:nvPr/>
        </p:nvSpPr>
        <p:spPr>
          <a:xfrm>
            <a:off x="7576344" y="4564063"/>
            <a:ext cx="142875" cy="142875"/>
          </a:xfrm>
          <a:custGeom>
            <a:avLst/>
            <a:gdLst/>
            <a:ahLst/>
            <a:cxnLst/>
            <a:rect l="l" t="t" r="r" b="b"/>
            <a:pathLst>
              <a:path w="142875" h="142875">
                <a:moveTo>
                  <a:pt x="125016" y="71438"/>
                </a:moveTo>
                <a:cubicBezTo>
                  <a:pt x="125016" y="41867"/>
                  <a:pt x="101008" y="17859"/>
                  <a:pt x="71438" y="17859"/>
                </a:cubicBezTo>
                <a:cubicBezTo>
                  <a:pt x="41867" y="17859"/>
                  <a:pt x="17859" y="41867"/>
                  <a:pt x="17859" y="71438"/>
                </a:cubicBezTo>
                <a:cubicBezTo>
                  <a:pt x="17859" y="101008"/>
                  <a:pt x="41867" y="125016"/>
                  <a:pt x="71438" y="125016"/>
                </a:cubicBezTo>
                <a:cubicBezTo>
                  <a:pt x="101008" y="125016"/>
                  <a:pt x="125016" y="101008"/>
                  <a:pt x="125016" y="71438"/>
                </a:cubicBezTo>
                <a:close/>
                <a:moveTo>
                  <a:pt x="0" y="71438"/>
                </a:moveTo>
                <a:cubicBezTo>
                  <a:pt x="0" y="32010"/>
                  <a:pt x="32010" y="0"/>
                  <a:pt x="71437" y="0"/>
                </a:cubicBezTo>
                <a:cubicBezTo>
                  <a:pt x="110865" y="0"/>
                  <a:pt x="142875" y="32010"/>
                  <a:pt x="142875" y="71437"/>
                </a:cubicBezTo>
                <a:cubicBezTo>
                  <a:pt x="142875" y="110865"/>
                  <a:pt x="110865" y="142875"/>
                  <a:pt x="71438" y="142875"/>
                </a:cubicBezTo>
                <a:cubicBezTo>
                  <a:pt x="32010" y="142875"/>
                  <a:pt x="0" y="110865"/>
                  <a:pt x="0" y="71438"/>
                </a:cubicBezTo>
                <a:close/>
                <a:moveTo>
                  <a:pt x="71438" y="93762"/>
                </a:moveTo>
                <a:cubicBezTo>
                  <a:pt x="83759" y="93762"/>
                  <a:pt x="93762" y="83759"/>
                  <a:pt x="93762" y="71438"/>
                </a:cubicBezTo>
                <a:cubicBezTo>
                  <a:pt x="93762" y="59116"/>
                  <a:pt x="83759" y="49113"/>
                  <a:pt x="71438" y="49113"/>
                </a:cubicBezTo>
                <a:cubicBezTo>
                  <a:pt x="59116" y="49113"/>
                  <a:pt x="49113" y="59116"/>
                  <a:pt x="49113" y="71438"/>
                </a:cubicBezTo>
                <a:cubicBezTo>
                  <a:pt x="49113" y="83759"/>
                  <a:pt x="59116" y="93762"/>
                  <a:pt x="71438" y="93762"/>
                </a:cubicBezTo>
                <a:close/>
                <a:moveTo>
                  <a:pt x="71438" y="31254"/>
                </a:moveTo>
                <a:cubicBezTo>
                  <a:pt x="93615" y="31254"/>
                  <a:pt x="111621" y="49260"/>
                  <a:pt x="111621" y="71438"/>
                </a:cubicBezTo>
                <a:cubicBezTo>
                  <a:pt x="111621" y="93615"/>
                  <a:pt x="93615" y="111621"/>
                  <a:pt x="71438" y="111621"/>
                </a:cubicBezTo>
                <a:cubicBezTo>
                  <a:pt x="49260" y="111621"/>
                  <a:pt x="31254" y="93615"/>
                  <a:pt x="31254" y="71438"/>
                </a:cubicBezTo>
                <a:cubicBezTo>
                  <a:pt x="31254" y="49260"/>
                  <a:pt x="49260" y="31254"/>
                  <a:pt x="71438" y="31254"/>
                </a:cubicBezTo>
                <a:close/>
                <a:moveTo>
                  <a:pt x="62508" y="71438"/>
                </a:moveTo>
                <a:cubicBezTo>
                  <a:pt x="62508" y="66509"/>
                  <a:pt x="66509" y="62508"/>
                  <a:pt x="71438" y="62508"/>
                </a:cubicBezTo>
                <a:cubicBezTo>
                  <a:pt x="76366" y="62508"/>
                  <a:pt x="80367" y="66509"/>
                  <a:pt x="80367" y="71438"/>
                </a:cubicBezTo>
                <a:cubicBezTo>
                  <a:pt x="80367" y="76366"/>
                  <a:pt x="76366" y="80367"/>
                  <a:pt x="71438" y="80367"/>
                </a:cubicBezTo>
                <a:cubicBezTo>
                  <a:pt x="66509" y="80367"/>
                  <a:pt x="62508" y="76366"/>
                  <a:pt x="62508" y="71438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5" name="Text 33"/>
          <p:cNvSpPr/>
          <p:nvPr/>
        </p:nvSpPr>
        <p:spPr>
          <a:xfrm>
            <a:off x="7739062" y="4524375"/>
            <a:ext cx="40481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Refined Focus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7556500" y="4841875"/>
            <a:ext cx="422275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Move from visual patterns to </a:t>
            </a:r>
            <a:r>
              <a:rPr lang="en-US" sz="100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predictive modelling</a:t>
            </a:r>
            <a:r>
              <a:rPr lang="en-US" sz="10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to test whether one factor alone is enough, or whether productivity is </a:t>
            </a:r>
            <a:r>
              <a:rPr lang="en-US" sz="100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multi-factorial</a:t>
            </a:r>
            <a:r>
              <a:rPr lang="en-US" sz="10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333375" y="6080125"/>
            <a:ext cx="11541125" cy="460375"/>
          </a:xfrm>
          <a:custGeom>
            <a:avLst/>
            <a:gdLst/>
            <a:ahLst/>
            <a:cxnLst/>
            <a:rect l="l" t="t" r="r" b="b"/>
            <a:pathLst>
              <a:path w="11541125" h="460375">
                <a:moveTo>
                  <a:pt x="31750" y="0"/>
                </a:moveTo>
                <a:lnTo>
                  <a:pt x="11477625" y="0"/>
                </a:lnTo>
                <a:cubicBezTo>
                  <a:pt x="11512695" y="0"/>
                  <a:pt x="11541125" y="28430"/>
                  <a:pt x="11541125" y="63500"/>
                </a:cubicBezTo>
                <a:lnTo>
                  <a:pt x="11541125" y="396875"/>
                </a:lnTo>
                <a:cubicBezTo>
                  <a:pt x="11541125" y="431945"/>
                  <a:pt x="11512695" y="460375"/>
                  <a:pt x="11477625" y="460375"/>
                </a:cubicBezTo>
                <a:lnTo>
                  <a:pt x="31750" y="460375"/>
                </a:lnTo>
                <a:cubicBezTo>
                  <a:pt x="14227" y="460375"/>
                  <a:pt x="0" y="446148"/>
                  <a:pt x="0" y="428625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A8B5A0">
              <a:alpha val="1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Shape 36"/>
          <p:cNvSpPr/>
          <p:nvPr/>
        </p:nvSpPr>
        <p:spPr>
          <a:xfrm>
            <a:off x="333375" y="6080125"/>
            <a:ext cx="31750" cy="460375"/>
          </a:xfrm>
          <a:custGeom>
            <a:avLst/>
            <a:gdLst/>
            <a:ahLst/>
            <a:cxnLst/>
            <a:rect l="l" t="t" r="r" b="b"/>
            <a:pathLst>
              <a:path w="31750" h="460375">
                <a:moveTo>
                  <a:pt x="31750" y="0"/>
                </a:moveTo>
                <a:lnTo>
                  <a:pt x="31750" y="0"/>
                </a:lnTo>
                <a:lnTo>
                  <a:pt x="31750" y="460375"/>
                </a:lnTo>
                <a:lnTo>
                  <a:pt x="31750" y="460375"/>
                </a:lnTo>
                <a:cubicBezTo>
                  <a:pt x="14227" y="460375"/>
                  <a:pt x="0" y="446148"/>
                  <a:pt x="0" y="428625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9" name="Shape 37"/>
          <p:cNvSpPr/>
          <p:nvPr/>
        </p:nvSpPr>
        <p:spPr>
          <a:xfrm>
            <a:off x="492125" y="6230938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124668" y="69106"/>
                </a:moveTo>
                <a:cubicBezTo>
                  <a:pt x="127769" y="66005"/>
                  <a:pt x="127769" y="60970"/>
                  <a:pt x="124668" y="57869"/>
                </a:cubicBezTo>
                <a:lnTo>
                  <a:pt x="84981" y="18182"/>
                </a:lnTo>
                <a:cubicBezTo>
                  <a:pt x="81880" y="15081"/>
                  <a:pt x="76845" y="15081"/>
                  <a:pt x="73744" y="18182"/>
                </a:cubicBezTo>
                <a:cubicBezTo>
                  <a:pt x="70644" y="21282"/>
                  <a:pt x="70644" y="26318"/>
                  <a:pt x="73744" y="29418"/>
                </a:cubicBezTo>
                <a:lnTo>
                  <a:pt x="99888" y="55563"/>
                </a:lnTo>
                <a:lnTo>
                  <a:pt x="7938" y="55563"/>
                </a:lnTo>
                <a:cubicBezTo>
                  <a:pt x="3547" y="55563"/>
                  <a:pt x="0" y="59110"/>
                  <a:pt x="0" y="63500"/>
                </a:cubicBezTo>
                <a:cubicBezTo>
                  <a:pt x="0" y="67890"/>
                  <a:pt x="3547" y="71438"/>
                  <a:pt x="7938" y="71438"/>
                </a:cubicBezTo>
                <a:lnTo>
                  <a:pt x="99888" y="71438"/>
                </a:lnTo>
                <a:lnTo>
                  <a:pt x="73744" y="97582"/>
                </a:lnTo>
                <a:cubicBezTo>
                  <a:pt x="70644" y="100682"/>
                  <a:pt x="70644" y="105718"/>
                  <a:pt x="73744" y="108818"/>
                </a:cubicBezTo>
                <a:cubicBezTo>
                  <a:pt x="76845" y="111919"/>
                  <a:pt x="81880" y="111919"/>
                  <a:pt x="84981" y="108818"/>
                </a:cubicBezTo>
                <a:lnTo>
                  <a:pt x="124668" y="69131"/>
                </a:ln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8"/>
          <p:cNvSpPr/>
          <p:nvPr/>
        </p:nvSpPr>
        <p:spPr>
          <a:xfrm>
            <a:off x="674688" y="6207125"/>
            <a:ext cx="11136313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Core Insight:</a:t>
            </a:r>
            <a:r>
              <a:rPr lang="en-US" sz="1000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This led us to test productivity in </a:t>
            </a:r>
            <a:r>
              <a:rPr lang="en-US" sz="1000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two ways</a:t>
            </a:r>
            <a:r>
              <a:rPr lang="en-US" sz="1000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: as a continuous outcome (regression) and as a high/low productivity classification problem.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3825" y="323825"/>
            <a:ext cx="323825" cy="323825"/>
          </a:xfrm>
          <a:custGeom>
            <a:avLst/>
            <a:gdLst/>
            <a:ahLst/>
            <a:cxnLst/>
            <a:rect l="l" t="t" r="r" b="b"/>
            <a:pathLst>
              <a:path w="323825" h="323825">
                <a:moveTo>
                  <a:pt x="161912" y="0"/>
                </a:moveTo>
                <a:lnTo>
                  <a:pt x="161912" y="0"/>
                </a:lnTo>
                <a:cubicBezTo>
                  <a:pt x="251274" y="0"/>
                  <a:pt x="323825" y="72550"/>
                  <a:pt x="323825" y="161912"/>
                </a:cubicBezTo>
                <a:lnTo>
                  <a:pt x="323825" y="161912"/>
                </a:lnTo>
                <a:cubicBezTo>
                  <a:pt x="323825" y="251274"/>
                  <a:pt x="251274" y="323825"/>
                  <a:pt x="161912" y="323825"/>
                </a:cubicBezTo>
                <a:lnTo>
                  <a:pt x="161912" y="323825"/>
                </a:lnTo>
                <a:cubicBezTo>
                  <a:pt x="72550" y="323825"/>
                  <a:pt x="0" y="251274"/>
                  <a:pt x="0" y="161912"/>
                </a:cubicBezTo>
                <a:lnTo>
                  <a:pt x="0" y="161912"/>
                </a:lnTo>
                <a:cubicBezTo>
                  <a:pt x="0" y="72550"/>
                  <a:pt x="72550" y="0"/>
                  <a:pt x="161912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287394" y="323825"/>
            <a:ext cx="396685" cy="3238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47" b="1" dirty="0">
                <a:solidFill>
                  <a:srgbClr val="F7F5F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44797" y="323825"/>
            <a:ext cx="6508876" cy="3238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95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Can Study Behaviours Predict Productivity Score?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40016" y="906709"/>
            <a:ext cx="5658837" cy="1505785"/>
          </a:xfrm>
          <a:custGeom>
            <a:avLst/>
            <a:gdLst/>
            <a:ahLst/>
            <a:cxnLst/>
            <a:rect l="l" t="t" r="r" b="b"/>
            <a:pathLst>
              <a:path w="5658837" h="1505785">
                <a:moveTo>
                  <a:pt x="32382" y="0"/>
                </a:moveTo>
                <a:lnTo>
                  <a:pt x="5594073" y="0"/>
                </a:lnTo>
                <a:cubicBezTo>
                  <a:pt x="5629841" y="0"/>
                  <a:pt x="5658837" y="28996"/>
                  <a:pt x="5658837" y="64764"/>
                </a:cubicBezTo>
                <a:lnTo>
                  <a:pt x="5658837" y="1441021"/>
                </a:lnTo>
                <a:cubicBezTo>
                  <a:pt x="5658837" y="1476789"/>
                  <a:pt x="5629841" y="1505785"/>
                  <a:pt x="5594073" y="1505785"/>
                </a:cubicBezTo>
                <a:lnTo>
                  <a:pt x="32382" y="1505785"/>
                </a:lnTo>
                <a:cubicBezTo>
                  <a:pt x="14498" y="1505785"/>
                  <a:pt x="0" y="1491287"/>
                  <a:pt x="0" y="1473402"/>
                </a:cubicBezTo>
                <a:lnTo>
                  <a:pt x="0" y="32382"/>
                </a:lnTo>
                <a:cubicBezTo>
                  <a:pt x="0" y="14498"/>
                  <a:pt x="14498" y="0"/>
                  <a:pt x="32382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24287" dist="8096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340016" y="906709"/>
            <a:ext cx="32382" cy="1505785"/>
          </a:xfrm>
          <a:custGeom>
            <a:avLst/>
            <a:gdLst/>
            <a:ahLst/>
            <a:cxnLst/>
            <a:rect l="l" t="t" r="r" b="b"/>
            <a:pathLst>
              <a:path w="32382" h="1505785">
                <a:moveTo>
                  <a:pt x="32382" y="0"/>
                </a:moveTo>
                <a:lnTo>
                  <a:pt x="32382" y="0"/>
                </a:lnTo>
                <a:lnTo>
                  <a:pt x="32382" y="1505785"/>
                </a:lnTo>
                <a:lnTo>
                  <a:pt x="32382" y="1505785"/>
                </a:lnTo>
                <a:cubicBezTo>
                  <a:pt x="14498" y="1505785"/>
                  <a:pt x="0" y="1491287"/>
                  <a:pt x="0" y="1473402"/>
                </a:cubicBezTo>
                <a:lnTo>
                  <a:pt x="0" y="32382"/>
                </a:lnTo>
                <a:cubicBezTo>
                  <a:pt x="0" y="14498"/>
                  <a:pt x="14498" y="0"/>
                  <a:pt x="32382" y="0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538359" y="1101004"/>
            <a:ext cx="161912" cy="161912"/>
          </a:xfrm>
          <a:custGeom>
            <a:avLst/>
            <a:gdLst/>
            <a:ahLst/>
            <a:cxnLst/>
            <a:rect l="l" t="t" r="r" b="b"/>
            <a:pathLst>
              <a:path w="161912" h="161912">
                <a:moveTo>
                  <a:pt x="20239" y="20239"/>
                </a:moveTo>
                <a:cubicBezTo>
                  <a:pt x="20239" y="14642"/>
                  <a:pt x="15717" y="10120"/>
                  <a:pt x="10120" y="10120"/>
                </a:cubicBezTo>
                <a:cubicBezTo>
                  <a:pt x="4522" y="10120"/>
                  <a:pt x="0" y="14642"/>
                  <a:pt x="0" y="20239"/>
                </a:cubicBezTo>
                <a:lnTo>
                  <a:pt x="0" y="126494"/>
                </a:lnTo>
                <a:cubicBezTo>
                  <a:pt x="0" y="140472"/>
                  <a:pt x="11321" y="151793"/>
                  <a:pt x="25299" y="151793"/>
                </a:cubicBezTo>
                <a:lnTo>
                  <a:pt x="151793" y="151793"/>
                </a:lnTo>
                <a:cubicBezTo>
                  <a:pt x="157390" y="151793"/>
                  <a:pt x="161912" y="147271"/>
                  <a:pt x="161912" y="141673"/>
                </a:cubicBezTo>
                <a:cubicBezTo>
                  <a:pt x="161912" y="136076"/>
                  <a:pt x="157390" y="131554"/>
                  <a:pt x="151793" y="131554"/>
                </a:cubicBezTo>
                <a:lnTo>
                  <a:pt x="25299" y="131554"/>
                </a:lnTo>
                <a:cubicBezTo>
                  <a:pt x="22516" y="131554"/>
                  <a:pt x="20239" y="129277"/>
                  <a:pt x="20239" y="126494"/>
                </a:cubicBezTo>
                <a:lnTo>
                  <a:pt x="20239" y="20239"/>
                </a:lnTo>
                <a:close/>
                <a:moveTo>
                  <a:pt x="148820" y="47625"/>
                </a:moveTo>
                <a:cubicBezTo>
                  <a:pt x="152773" y="43672"/>
                  <a:pt x="152773" y="37252"/>
                  <a:pt x="148820" y="33300"/>
                </a:cubicBezTo>
                <a:cubicBezTo>
                  <a:pt x="144867" y="29347"/>
                  <a:pt x="138448" y="29347"/>
                  <a:pt x="134495" y="33300"/>
                </a:cubicBezTo>
                <a:lnTo>
                  <a:pt x="101195" y="66631"/>
                </a:lnTo>
                <a:lnTo>
                  <a:pt x="83043" y="48510"/>
                </a:lnTo>
                <a:cubicBezTo>
                  <a:pt x="79090" y="44558"/>
                  <a:pt x="72671" y="44558"/>
                  <a:pt x="68718" y="48510"/>
                </a:cubicBezTo>
                <a:lnTo>
                  <a:pt x="38359" y="78869"/>
                </a:lnTo>
                <a:cubicBezTo>
                  <a:pt x="34406" y="82822"/>
                  <a:pt x="34406" y="89242"/>
                  <a:pt x="38359" y="93194"/>
                </a:cubicBezTo>
                <a:cubicBezTo>
                  <a:pt x="42312" y="97147"/>
                  <a:pt x="48732" y="97147"/>
                  <a:pt x="52685" y="93194"/>
                </a:cubicBezTo>
                <a:lnTo>
                  <a:pt x="75896" y="69983"/>
                </a:lnTo>
                <a:lnTo>
                  <a:pt x="94048" y="88135"/>
                </a:lnTo>
                <a:cubicBezTo>
                  <a:pt x="98001" y="92088"/>
                  <a:pt x="104421" y="92088"/>
                  <a:pt x="108374" y="88135"/>
                </a:cubicBezTo>
                <a:lnTo>
                  <a:pt x="148852" y="47657"/>
                </a:ln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720510" y="1068622"/>
            <a:ext cx="5197386" cy="2266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75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Why Start with SLR?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18120" y="1489594"/>
            <a:ext cx="64765" cy="64765"/>
          </a:xfrm>
          <a:custGeom>
            <a:avLst/>
            <a:gdLst/>
            <a:ahLst/>
            <a:cxnLst/>
            <a:rect l="l" t="t" r="r" b="b"/>
            <a:pathLst>
              <a:path w="64765" h="64765">
                <a:moveTo>
                  <a:pt x="32382" y="0"/>
                </a:moveTo>
                <a:lnTo>
                  <a:pt x="32382" y="0"/>
                </a:lnTo>
                <a:cubicBezTo>
                  <a:pt x="50267" y="0"/>
                  <a:pt x="64765" y="14498"/>
                  <a:pt x="64765" y="32382"/>
                </a:cubicBezTo>
                <a:lnTo>
                  <a:pt x="64765" y="32382"/>
                </a:lnTo>
                <a:cubicBezTo>
                  <a:pt x="64765" y="50267"/>
                  <a:pt x="50267" y="64765"/>
                  <a:pt x="32382" y="64765"/>
                </a:cubicBezTo>
                <a:lnTo>
                  <a:pt x="32382" y="64765"/>
                </a:lnTo>
                <a:cubicBezTo>
                  <a:pt x="14498" y="64765"/>
                  <a:pt x="0" y="50267"/>
                  <a:pt x="0" y="32382"/>
                </a:cubicBezTo>
                <a:lnTo>
                  <a:pt x="0" y="32382"/>
                </a:lnTo>
                <a:cubicBezTo>
                  <a:pt x="0" y="14498"/>
                  <a:pt x="14498" y="0"/>
                  <a:pt x="32382" y="0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680032" y="1424829"/>
            <a:ext cx="2266773" cy="210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2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Gives a </a:t>
            </a:r>
            <a:r>
              <a:rPr lang="en-US" sz="102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simple baseline</a:t>
            </a:r>
            <a:r>
              <a:rPr lang="en-US" sz="102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for comparison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18120" y="1797227"/>
            <a:ext cx="64765" cy="64765"/>
          </a:xfrm>
          <a:custGeom>
            <a:avLst/>
            <a:gdLst/>
            <a:ahLst/>
            <a:cxnLst/>
            <a:rect l="l" t="t" r="r" b="b"/>
            <a:pathLst>
              <a:path w="64765" h="64765">
                <a:moveTo>
                  <a:pt x="32382" y="0"/>
                </a:moveTo>
                <a:lnTo>
                  <a:pt x="32382" y="0"/>
                </a:lnTo>
                <a:cubicBezTo>
                  <a:pt x="50267" y="0"/>
                  <a:pt x="64765" y="14498"/>
                  <a:pt x="64765" y="32382"/>
                </a:cubicBezTo>
                <a:lnTo>
                  <a:pt x="64765" y="32382"/>
                </a:lnTo>
                <a:cubicBezTo>
                  <a:pt x="64765" y="50267"/>
                  <a:pt x="50267" y="64765"/>
                  <a:pt x="32382" y="64765"/>
                </a:cubicBezTo>
                <a:lnTo>
                  <a:pt x="32382" y="64765"/>
                </a:lnTo>
                <a:cubicBezTo>
                  <a:pt x="14498" y="64765"/>
                  <a:pt x="0" y="50267"/>
                  <a:pt x="0" y="32382"/>
                </a:cubicBezTo>
                <a:lnTo>
                  <a:pt x="0" y="32382"/>
                </a:lnTo>
                <a:cubicBezTo>
                  <a:pt x="0" y="14498"/>
                  <a:pt x="14498" y="0"/>
                  <a:pt x="32382" y="0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680032" y="1732462"/>
            <a:ext cx="2485355" cy="210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2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Helps us understand </a:t>
            </a:r>
            <a:r>
              <a:rPr lang="en-US" sz="102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direction and strength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18120" y="2104861"/>
            <a:ext cx="64765" cy="64765"/>
          </a:xfrm>
          <a:custGeom>
            <a:avLst/>
            <a:gdLst/>
            <a:ahLst/>
            <a:cxnLst/>
            <a:rect l="l" t="t" r="r" b="b"/>
            <a:pathLst>
              <a:path w="64765" h="64765">
                <a:moveTo>
                  <a:pt x="32382" y="0"/>
                </a:moveTo>
                <a:lnTo>
                  <a:pt x="32382" y="0"/>
                </a:lnTo>
                <a:cubicBezTo>
                  <a:pt x="50267" y="0"/>
                  <a:pt x="64765" y="14498"/>
                  <a:pt x="64765" y="32382"/>
                </a:cubicBezTo>
                <a:lnTo>
                  <a:pt x="64765" y="32382"/>
                </a:lnTo>
                <a:cubicBezTo>
                  <a:pt x="64765" y="50267"/>
                  <a:pt x="50267" y="64765"/>
                  <a:pt x="32382" y="64765"/>
                </a:cubicBezTo>
                <a:lnTo>
                  <a:pt x="32382" y="64765"/>
                </a:lnTo>
                <a:cubicBezTo>
                  <a:pt x="14498" y="64765"/>
                  <a:pt x="0" y="50267"/>
                  <a:pt x="0" y="32382"/>
                </a:cubicBezTo>
                <a:lnTo>
                  <a:pt x="0" y="32382"/>
                </a:lnTo>
                <a:cubicBezTo>
                  <a:pt x="0" y="14498"/>
                  <a:pt x="14498" y="0"/>
                  <a:pt x="32382" y="0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680032" y="2040096"/>
            <a:ext cx="2841562" cy="210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2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Tests whether </a:t>
            </a:r>
            <a:r>
              <a:rPr lang="en-US" sz="102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one behaviour alone</a:t>
            </a:r>
            <a:r>
              <a:rPr lang="en-US" sz="102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is informative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40016" y="2574406"/>
            <a:ext cx="5658837" cy="1505785"/>
          </a:xfrm>
          <a:custGeom>
            <a:avLst/>
            <a:gdLst/>
            <a:ahLst/>
            <a:cxnLst/>
            <a:rect l="l" t="t" r="r" b="b"/>
            <a:pathLst>
              <a:path w="5658837" h="1505785">
                <a:moveTo>
                  <a:pt x="32382" y="0"/>
                </a:moveTo>
                <a:lnTo>
                  <a:pt x="5594073" y="0"/>
                </a:lnTo>
                <a:cubicBezTo>
                  <a:pt x="5629841" y="0"/>
                  <a:pt x="5658837" y="28996"/>
                  <a:pt x="5658837" y="64764"/>
                </a:cubicBezTo>
                <a:lnTo>
                  <a:pt x="5658837" y="1441021"/>
                </a:lnTo>
                <a:cubicBezTo>
                  <a:pt x="5658837" y="1476789"/>
                  <a:pt x="5629841" y="1505785"/>
                  <a:pt x="5594073" y="1505785"/>
                </a:cubicBezTo>
                <a:lnTo>
                  <a:pt x="32382" y="1505785"/>
                </a:lnTo>
                <a:cubicBezTo>
                  <a:pt x="14498" y="1505785"/>
                  <a:pt x="0" y="1491287"/>
                  <a:pt x="0" y="1473402"/>
                </a:cubicBezTo>
                <a:lnTo>
                  <a:pt x="0" y="32382"/>
                </a:lnTo>
                <a:cubicBezTo>
                  <a:pt x="0" y="14498"/>
                  <a:pt x="14498" y="0"/>
                  <a:pt x="32382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24287" dist="8096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6" name="Shape 14"/>
          <p:cNvSpPr/>
          <p:nvPr/>
        </p:nvSpPr>
        <p:spPr>
          <a:xfrm>
            <a:off x="340016" y="2574406"/>
            <a:ext cx="32382" cy="1505785"/>
          </a:xfrm>
          <a:custGeom>
            <a:avLst/>
            <a:gdLst/>
            <a:ahLst/>
            <a:cxnLst/>
            <a:rect l="l" t="t" r="r" b="b"/>
            <a:pathLst>
              <a:path w="32382" h="1505785">
                <a:moveTo>
                  <a:pt x="32382" y="0"/>
                </a:moveTo>
                <a:lnTo>
                  <a:pt x="32382" y="0"/>
                </a:lnTo>
                <a:lnTo>
                  <a:pt x="32382" y="1505785"/>
                </a:lnTo>
                <a:lnTo>
                  <a:pt x="32382" y="1505785"/>
                </a:lnTo>
                <a:cubicBezTo>
                  <a:pt x="14498" y="1505785"/>
                  <a:pt x="0" y="1491287"/>
                  <a:pt x="0" y="1473402"/>
                </a:cubicBezTo>
                <a:lnTo>
                  <a:pt x="0" y="32382"/>
                </a:lnTo>
                <a:cubicBezTo>
                  <a:pt x="0" y="14498"/>
                  <a:pt x="14498" y="0"/>
                  <a:pt x="32382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538359" y="2768701"/>
            <a:ext cx="161912" cy="161912"/>
          </a:xfrm>
          <a:custGeom>
            <a:avLst/>
            <a:gdLst/>
            <a:ahLst/>
            <a:cxnLst/>
            <a:rect l="l" t="t" r="r" b="b"/>
            <a:pathLst>
              <a:path w="161912" h="161912">
                <a:moveTo>
                  <a:pt x="73525" y="1644"/>
                </a:moveTo>
                <a:cubicBezTo>
                  <a:pt x="78237" y="-538"/>
                  <a:pt x="83676" y="-538"/>
                  <a:pt x="88388" y="1644"/>
                </a:cubicBezTo>
                <a:lnTo>
                  <a:pt x="157517" y="33584"/>
                </a:lnTo>
                <a:cubicBezTo>
                  <a:pt x="160205" y="34817"/>
                  <a:pt x="161912" y="37505"/>
                  <a:pt x="161912" y="40478"/>
                </a:cubicBezTo>
                <a:cubicBezTo>
                  <a:pt x="161912" y="43451"/>
                  <a:pt x="160205" y="46139"/>
                  <a:pt x="157517" y="47372"/>
                </a:cubicBezTo>
                <a:lnTo>
                  <a:pt x="88388" y="79312"/>
                </a:lnTo>
                <a:cubicBezTo>
                  <a:pt x="83676" y="81494"/>
                  <a:pt x="78237" y="81494"/>
                  <a:pt x="73525" y="79312"/>
                </a:cubicBezTo>
                <a:lnTo>
                  <a:pt x="4396" y="47372"/>
                </a:lnTo>
                <a:cubicBezTo>
                  <a:pt x="1708" y="46107"/>
                  <a:pt x="0" y="43419"/>
                  <a:pt x="0" y="40478"/>
                </a:cubicBezTo>
                <a:cubicBezTo>
                  <a:pt x="0" y="37537"/>
                  <a:pt x="1708" y="34817"/>
                  <a:pt x="4396" y="33584"/>
                </a:cubicBezTo>
                <a:lnTo>
                  <a:pt x="73525" y="1644"/>
                </a:lnTo>
                <a:close/>
                <a:moveTo>
                  <a:pt x="15211" y="69066"/>
                </a:moveTo>
                <a:lnTo>
                  <a:pt x="67168" y="93068"/>
                </a:lnTo>
                <a:cubicBezTo>
                  <a:pt x="75928" y="97116"/>
                  <a:pt x="86016" y="97116"/>
                  <a:pt x="94776" y="93068"/>
                </a:cubicBezTo>
                <a:lnTo>
                  <a:pt x="146733" y="69066"/>
                </a:lnTo>
                <a:lnTo>
                  <a:pt x="157517" y="74062"/>
                </a:lnTo>
                <a:cubicBezTo>
                  <a:pt x="160205" y="75296"/>
                  <a:pt x="161912" y="77984"/>
                  <a:pt x="161912" y="80956"/>
                </a:cubicBezTo>
                <a:cubicBezTo>
                  <a:pt x="161912" y="83929"/>
                  <a:pt x="160205" y="86617"/>
                  <a:pt x="157517" y="87850"/>
                </a:cubicBezTo>
                <a:lnTo>
                  <a:pt x="88388" y="119790"/>
                </a:lnTo>
                <a:cubicBezTo>
                  <a:pt x="83676" y="121972"/>
                  <a:pt x="78237" y="121972"/>
                  <a:pt x="73525" y="119790"/>
                </a:cubicBezTo>
                <a:lnTo>
                  <a:pt x="4396" y="87850"/>
                </a:lnTo>
                <a:cubicBezTo>
                  <a:pt x="1708" y="86585"/>
                  <a:pt x="0" y="83897"/>
                  <a:pt x="0" y="80956"/>
                </a:cubicBezTo>
                <a:cubicBezTo>
                  <a:pt x="0" y="78015"/>
                  <a:pt x="1708" y="75296"/>
                  <a:pt x="4396" y="74062"/>
                </a:cubicBezTo>
                <a:lnTo>
                  <a:pt x="15179" y="69066"/>
                </a:lnTo>
                <a:close/>
                <a:moveTo>
                  <a:pt x="4396" y="114540"/>
                </a:moveTo>
                <a:lnTo>
                  <a:pt x="15179" y="109544"/>
                </a:lnTo>
                <a:lnTo>
                  <a:pt x="67137" y="133546"/>
                </a:lnTo>
                <a:cubicBezTo>
                  <a:pt x="75896" y="137594"/>
                  <a:pt x="85984" y="137594"/>
                  <a:pt x="94744" y="133546"/>
                </a:cubicBezTo>
                <a:lnTo>
                  <a:pt x="146701" y="109544"/>
                </a:lnTo>
                <a:lnTo>
                  <a:pt x="157485" y="114540"/>
                </a:lnTo>
                <a:cubicBezTo>
                  <a:pt x="160173" y="115774"/>
                  <a:pt x="161881" y="118462"/>
                  <a:pt x="161881" y="121434"/>
                </a:cubicBezTo>
                <a:cubicBezTo>
                  <a:pt x="161881" y="124407"/>
                  <a:pt x="160173" y="127095"/>
                  <a:pt x="157485" y="128328"/>
                </a:cubicBezTo>
                <a:lnTo>
                  <a:pt x="88356" y="160268"/>
                </a:lnTo>
                <a:cubicBezTo>
                  <a:pt x="83644" y="162450"/>
                  <a:pt x="78205" y="162450"/>
                  <a:pt x="73493" y="160268"/>
                </a:cubicBezTo>
                <a:lnTo>
                  <a:pt x="4396" y="128328"/>
                </a:lnTo>
                <a:cubicBezTo>
                  <a:pt x="1708" y="127063"/>
                  <a:pt x="0" y="124375"/>
                  <a:pt x="0" y="121434"/>
                </a:cubicBezTo>
                <a:cubicBezTo>
                  <a:pt x="0" y="118493"/>
                  <a:pt x="1708" y="115774"/>
                  <a:pt x="4396" y="11454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720510" y="2736319"/>
            <a:ext cx="5197386" cy="2266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75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From SLR to MLR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18120" y="3157291"/>
            <a:ext cx="64765" cy="64765"/>
          </a:xfrm>
          <a:custGeom>
            <a:avLst/>
            <a:gdLst/>
            <a:ahLst/>
            <a:cxnLst/>
            <a:rect l="l" t="t" r="r" b="b"/>
            <a:pathLst>
              <a:path w="64765" h="64765">
                <a:moveTo>
                  <a:pt x="32382" y="0"/>
                </a:moveTo>
                <a:lnTo>
                  <a:pt x="32382" y="0"/>
                </a:lnTo>
                <a:cubicBezTo>
                  <a:pt x="50267" y="0"/>
                  <a:pt x="64765" y="14498"/>
                  <a:pt x="64765" y="32382"/>
                </a:cubicBezTo>
                <a:lnTo>
                  <a:pt x="64765" y="32382"/>
                </a:lnTo>
                <a:cubicBezTo>
                  <a:pt x="64765" y="50267"/>
                  <a:pt x="50267" y="64765"/>
                  <a:pt x="32382" y="64765"/>
                </a:cubicBezTo>
                <a:lnTo>
                  <a:pt x="32382" y="64765"/>
                </a:lnTo>
                <a:cubicBezTo>
                  <a:pt x="14498" y="64765"/>
                  <a:pt x="0" y="50267"/>
                  <a:pt x="0" y="32382"/>
                </a:cubicBezTo>
                <a:lnTo>
                  <a:pt x="0" y="32382"/>
                </a:lnTo>
                <a:cubicBezTo>
                  <a:pt x="0" y="14498"/>
                  <a:pt x="14498" y="0"/>
                  <a:pt x="32382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680032" y="3092526"/>
            <a:ext cx="2987283" cy="210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2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Productivity is </a:t>
            </a:r>
            <a:r>
              <a:rPr lang="en-US" sz="102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unlikely to depend on one factor only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18120" y="3464924"/>
            <a:ext cx="64765" cy="64765"/>
          </a:xfrm>
          <a:custGeom>
            <a:avLst/>
            <a:gdLst/>
            <a:ahLst/>
            <a:cxnLst/>
            <a:rect l="l" t="t" r="r" b="b"/>
            <a:pathLst>
              <a:path w="64765" h="64765">
                <a:moveTo>
                  <a:pt x="32382" y="0"/>
                </a:moveTo>
                <a:lnTo>
                  <a:pt x="32382" y="0"/>
                </a:lnTo>
                <a:cubicBezTo>
                  <a:pt x="50267" y="0"/>
                  <a:pt x="64765" y="14498"/>
                  <a:pt x="64765" y="32382"/>
                </a:cubicBezTo>
                <a:lnTo>
                  <a:pt x="64765" y="32382"/>
                </a:lnTo>
                <a:cubicBezTo>
                  <a:pt x="64765" y="50267"/>
                  <a:pt x="50267" y="64765"/>
                  <a:pt x="32382" y="64765"/>
                </a:cubicBezTo>
                <a:lnTo>
                  <a:pt x="32382" y="64765"/>
                </a:lnTo>
                <a:cubicBezTo>
                  <a:pt x="14498" y="64765"/>
                  <a:pt x="0" y="50267"/>
                  <a:pt x="0" y="32382"/>
                </a:cubicBezTo>
                <a:lnTo>
                  <a:pt x="0" y="32382"/>
                </a:lnTo>
                <a:cubicBezTo>
                  <a:pt x="0" y="14498"/>
                  <a:pt x="14498" y="0"/>
                  <a:pt x="32382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680032" y="3400159"/>
            <a:ext cx="2776797" cy="210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2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Multiple regression gives a </a:t>
            </a:r>
            <a:r>
              <a:rPr lang="en-US" sz="102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more realistic picture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18120" y="3772558"/>
            <a:ext cx="64765" cy="64765"/>
          </a:xfrm>
          <a:custGeom>
            <a:avLst/>
            <a:gdLst/>
            <a:ahLst/>
            <a:cxnLst/>
            <a:rect l="l" t="t" r="r" b="b"/>
            <a:pathLst>
              <a:path w="64765" h="64765">
                <a:moveTo>
                  <a:pt x="32382" y="0"/>
                </a:moveTo>
                <a:lnTo>
                  <a:pt x="32382" y="0"/>
                </a:lnTo>
                <a:cubicBezTo>
                  <a:pt x="50267" y="0"/>
                  <a:pt x="64765" y="14498"/>
                  <a:pt x="64765" y="32382"/>
                </a:cubicBezTo>
                <a:lnTo>
                  <a:pt x="64765" y="32382"/>
                </a:lnTo>
                <a:cubicBezTo>
                  <a:pt x="64765" y="50267"/>
                  <a:pt x="50267" y="64765"/>
                  <a:pt x="32382" y="64765"/>
                </a:cubicBezTo>
                <a:lnTo>
                  <a:pt x="32382" y="64765"/>
                </a:lnTo>
                <a:cubicBezTo>
                  <a:pt x="14498" y="64765"/>
                  <a:pt x="0" y="50267"/>
                  <a:pt x="0" y="32382"/>
                </a:cubicBezTo>
                <a:lnTo>
                  <a:pt x="0" y="32382"/>
                </a:lnTo>
                <a:cubicBezTo>
                  <a:pt x="0" y="14498"/>
                  <a:pt x="14498" y="0"/>
                  <a:pt x="32382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680032" y="3707793"/>
            <a:ext cx="3383968" cy="210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2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Allows us to </a:t>
            </a:r>
            <a:r>
              <a:rPr lang="en-US" sz="102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compare variables</a:t>
            </a:r>
            <a:r>
              <a:rPr lang="en-US" sz="102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while controlling for others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40016" y="4242104"/>
            <a:ext cx="5658837" cy="1505785"/>
          </a:xfrm>
          <a:custGeom>
            <a:avLst/>
            <a:gdLst/>
            <a:ahLst/>
            <a:cxnLst/>
            <a:rect l="l" t="t" r="r" b="b"/>
            <a:pathLst>
              <a:path w="5658837" h="1505785">
                <a:moveTo>
                  <a:pt x="32382" y="0"/>
                </a:moveTo>
                <a:lnTo>
                  <a:pt x="5594073" y="0"/>
                </a:lnTo>
                <a:cubicBezTo>
                  <a:pt x="5629841" y="0"/>
                  <a:pt x="5658837" y="28996"/>
                  <a:pt x="5658837" y="64764"/>
                </a:cubicBezTo>
                <a:lnTo>
                  <a:pt x="5658837" y="1441021"/>
                </a:lnTo>
                <a:cubicBezTo>
                  <a:pt x="5658837" y="1476789"/>
                  <a:pt x="5629841" y="1505785"/>
                  <a:pt x="5594073" y="1505785"/>
                </a:cubicBezTo>
                <a:lnTo>
                  <a:pt x="32382" y="1505785"/>
                </a:lnTo>
                <a:cubicBezTo>
                  <a:pt x="14498" y="1505785"/>
                  <a:pt x="0" y="1491287"/>
                  <a:pt x="0" y="1473402"/>
                </a:cubicBezTo>
                <a:lnTo>
                  <a:pt x="0" y="32382"/>
                </a:lnTo>
                <a:cubicBezTo>
                  <a:pt x="0" y="14498"/>
                  <a:pt x="14498" y="0"/>
                  <a:pt x="32382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24287" dist="8096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4"/>
          <p:cNvSpPr/>
          <p:nvPr/>
        </p:nvSpPr>
        <p:spPr>
          <a:xfrm>
            <a:off x="340016" y="4242104"/>
            <a:ext cx="32382" cy="1505785"/>
          </a:xfrm>
          <a:custGeom>
            <a:avLst/>
            <a:gdLst/>
            <a:ahLst/>
            <a:cxnLst/>
            <a:rect l="l" t="t" r="r" b="b"/>
            <a:pathLst>
              <a:path w="32382" h="1505785">
                <a:moveTo>
                  <a:pt x="32382" y="0"/>
                </a:moveTo>
                <a:lnTo>
                  <a:pt x="32382" y="0"/>
                </a:lnTo>
                <a:lnTo>
                  <a:pt x="32382" y="1505785"/>
                </a:lnTo>
                <a:lnTo>
                  <a:pt x="32382" y="1505785"/>
                </a:lnTo>
                <a:cubicBezTo>
                  <a:pt x="14498" y="1505785"/>
                  <a:pt x="0" y="1491287"/>
                  <a:pt x="0" y="1473402"/>
                </a:cubicBezTo>
                <a:lnTo>
                  <a:pt x="0" y="32382"/>
                </a:lnTo>
                <a:cubicBezTo>
                  <a:pt x="0" y="14498"/>
                  <a:pt x="14498" y="0"/>
                  <a:pt x="32382" y="0"/>
                </a:cubicBezTo>
                <a:close/>
              </a:path>
            </a:pathLst>
          </a:custGeom>
          <a:solidFill>
            <a:srgbClr val="C4A99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5"/>
          <p:cNvSpPr/>
          <p:nvPr/>
        </p:nvSpPr>
        <p:spPr>
          <a:xfrm>
            <a:off x="538359" y="4436398"/>
            <a:ext cx="161912" cy="161912"/>
          </a:xfrm>
          <a:custGeom>
            <a:avLst/>
            <a:gdLst/>
            <a:ahLst/>
            <a:cxnLst/>
            <a:rect l="l" t="t" r="r" b="b"/>
            <a:pathLst>
              <a:path w="161912" h="161912">
                <a:moveTo>
                  <a:pt x="131554" y="65777"/>
                </a:moveTo>
                <a:cubicBezTo>
                  <a:pt x="131554" y="80292"/>
                  <a:pt x="126842" y="93700"/>
                  <a:pt x="118904" y="104579"/>
                </a:cubicBezTo>
                <a:lnTo>
                  <a:pt x="158940" y="144646"/>
                </a:lnTo>
                <a:cubicBezTo>
                  <a:pt x="162893" y="148599"/>
                  <a:pt x="162893" y="155018"/>
                  <a:pt x="158940" y="158971"/>
                </a:cubicBezTo>
                <a:cubicBezTo>
                  <a:pt x="154987" y="162924"/>
                  <a:pt x="148567" y="162924"/>
                  <a:pt x="144614" y="158971"/>
                </a:cubicBezTo>
                <a:lnTo>
                  <a:pt x="104579" y="118904"/>
                </a:lnTo>
                <a:cubicBezTo>
                  <a:pt x="93700" y="126842"/>
                  <a:pt x="80292" y="131554"/>
                  <a:pt x="65777" y="131554"/>
                </a:cubicBezTo>
                <a:cubicBezTo>
                  <a:pt x="29441" y="131554"/>
                  <a:pt x="0" y="102112"/>
                  <a:pt x="0" y="65777"/>
                </a:cubicBezTo>
                <a:cubicBezTo>
                  <a:pt x="0" y="29441"/>
                  <a:pt x="29441" y="0"/>
                  <a:pt x="65777" y="0"/>
                </a:cubicBezTo>
                <a:cubicBezTo>
                  <a:pt x="102112" y="0"/>
                  <a:pt x="131554" y="29441"/>
                  <a:pt x="131554" y="65777"/>
                </a:cubicBezTo>
                <a:close/>
                <a:moveTo>
                  <a:pt x="65777" y="35418"/>
                </a:moveTo>
                <a:cubicBezTo>
                  <a:pt x="61571" y="35418"/>
                  <a:pt x="58187" y="38802"/>
                  <a:pt x="58187" y="43008"/>
                </a:cubicBezTo>
                <a:lnTo>
                  <a:pt x="58187" y="58187"/>
                </a:lnTo>
                <a:lnTo>
                  <a:pt x="43008" y="58187"/>
                </a:lnTo>
                <a:cubicBezTo>
                  <a:pt x="38802" y="58187"/>
                  <a:pt x="35418" y="61571"/>
                  <a:pt x="35418" y="65777"/>
                </a:cubicBezTo>
                <a:cubicBezTo>
                  <a:pt x="35418" y="69983"/>
                  <a:pt x="38802" y="73367"/>
                  <a:pt x="43008" y="73367"/>
                </a:cubicBezTo>
                <a:lnTo>
                  <a:pt x="58187" y="73367"/>
                </a:lnTo>
                <a:lnTo>
                  <a:pt x="58187" y="88546"/>
                </a:lnTo>
                <a:cubicBezTo>
                  <a:pt x="58187" y="92752"/>
                  <a:pt x="61571" y="96135"/>
                  <a:pt x="65777" y="96135"/>
                </a:cubicBezTo>
                <a:cubicBezTo>
                  <a:pt x="69983" y="96135"/>
                  <a:pt x="73367" y="92752"/>
                  <a:pt x="73367" y="88546"/>
                </a:cubicBezTo>
                <a:lnTo>
                  <a:pt x="73367" y="73367"/>
                </a:lnTo>
                <a:lnTo>
                  <a:pt x="88546" y="73367"/>
                </a:lnTo>
                <a:cubicBezTo>
                  <a:pt x="92752" y="73367"/>
                  <a:pt x="96135" y="69983"/>
                  <a:pt x="96135" y="65777"/>
                </a:cubicBezTo>
                <a:cubicBezTo>
                  <a:pt x="96135" y="61571"/>
                  <a:pt x="92752" y="58187"/>
                  <a:pt x="88546" y="58187"/>
                </a:cubicBezTo>
                <a:lnTo>
                  <a:pt x="73367" y="58187"/>
                </a:lnTo>
                <a:lnTo>
                  <a:pt x="73367" y="43008"/>
                </a:lnTo>
                <a:cubicBezTo>
                  <a:pt x="73367" y="38802"/>
                  <a:pt x="69983" y="35418"/>
                  <a:pt x="65777" y="35418"/>
                </a:cubicBezTo>
                <a:close/>
              </a:path>
            </a:pathLst>
          </a:custGeom>
          <a:solidFill>
            <a:srgbClr val="C4A99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720510" y="4404016"/>
            <a:ext cx="5197386" cy="2266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75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What We Found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18120" y="4824988"/>
            <a:ext cx="64765" cy="64765"/>
          </a:xfrm>
          <a:custGeom>
            <a:avLst/>
            <a:gdLst/>
            <a:ahLst/>
            <a:cxnLst/>
            <a:rect l="l" t="t" r="r" b="b"/>
            <a:pathLst>
              <a:path w="64765" h="64765">
                <a:moveTo>
                  <a:pt x="32382" y="0"/>
                </a:moveTo>
                <a:lnTo>
                  <a:pt x="32382" y="0"/>
                </a:lnTo>
                <a:cubicBezTo>
                  <a:pt x="50267" y="0"/>
                  <a:pt x="64765" y="14498"/>
                  <a:pt x="64765" y="32382"/>
                </a:cubicBezTo>
                <a:lnTo>
                  <a:pt x="64765" y="32382"/>
                </a:lnTo>
                <a:cubicBezTo>
                  <a:pt x="64765" y="50267"/>
                  <a:pt x="50267" y="64765"/>
                  <a:pt x="32382" y="64765"/>
                </a:cubicBezTo>
                <a:lnTo>
                  <a:pt x="32382" y="64765"/>
                </a:lnTo>
                <a:cubicBezTo>
                  <a:pt x="14498" y="64765"/>
                  <a:pt x="0" y="50267"/>
                  <a:pt x="0" y="32382"/>
                </a:cubicBezTo>
                <a:lnTo>
                  <a:pt x="0" y="32382"/>
                </a:lnTo>
                <a:cubicBezTo>
                  <a:pt x="0" y="14498"/>
                  <a:pt x="14498" y="0"/>
                  <a:pt x="32382" y="0"/>
                </a:cubicBezTo>
                <a:close/>
              </a:path>
            </a:pathLst>
          </a:custGeom>
          <a:solidFill>
            <a:srgbClr val="C4A99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680032" y="4760223"/>
            <a:ext cx="2679649" cy="210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2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Some predictors appeared </a:t>
            </a:r>
            <a:r>
              <a:rPr lang="en-US" sz="102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useful on their own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18120" y="5132622"/>
            <a:ext cx="64765" cy="64765"/>
          </a:xfrm>
          <a:custGeom>
            <a:avLst/>
            <a:gdLst/>
            <a:ahLst/>
            <a:cxnLst/>
            <a:rect l="l" t="t" r="r" b="b"/>
            <a:pathLst>
              <a:path w="64765" h="64765">
                <a:moveTo>
                  <a:pt x="32382" y="0"/>
                </a:moveTo>
                <a:lnTo>
                  <a:pt x="32382" y="0"/>
                </a:lnTo>
                <a:cubicBezTo>
                  <a:pt x="50267" y="0"/>
                  <a:pt x="64765" y="14498"/>
                  <a:pt x="64765" y="32382"/>
                </a:cubicBezTo>
                <a:lnTo>
                  <a:pt x="64765" y="32382"/>
                </a:lnTo>
                <a:cubicBezTo>
                  <a:pt x="64765" y="50267"/>
                  <a:pt x="50267" y="64765"/>
                  <a:pt x="32382" y="64765"/>
                </a:cubicBezTo>
                <a:lnTo>
                  <a:pt x="32382" y="64765"/>
                </a:lnTo>
                <a:cubicBezTo>
                  <a:pt x="14498" y="64765"/>
                  <a:pt x="0" y="50267"/>
                  <a:pt x="0" y="32382"/>
                </a:cubicBezTo>
                <a:lnTo>
                  <a:pt x="0" y="32382"/>
                </a:lnTo>
                <a:cubicBezTo>
                  <a:pt x="0" y="14498"/>
                  <a:pt x="14498" y="0"/>
                  <a:pt x="32382" y="0"/>
                </a:cubicBezTo>
                <a:close/>
              </a:path>
            </a:pathLst>
          </a:custGeom>
          <a:solidFill>
            <a:srgbClr val="C4A99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/>
          <p:nvPr/>
        </p:nvSpPr>
        <p:spPr>
          <a:xfrm>
            <a:off x="680032" y="5067857"/>
            <a:ext cx="2542024" cy="210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2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Some became </a:t>
            </a:r>
            <a:r>
              <a:rPr lang="en-US" sz="102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weaker in the multiple model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18120" y="5440255"/>
            <a:ext cx="64765" cy="64765"/>
          </a:xfrm>
          <a:custGeom>
            <a:avLst/>
            <a:gdLst/>
            <a:ahLst/>
            <a:cxnLst/>
            <a:rect l="l" t="t" r="r" b="b"/>
            <a:pathLst>
              <a:path w="64765" h="64765">
                <a:moveTo>
                  <a:pt x="32382" y="0"/>
                </a:moveTo>
                <a:lnTo>
                  <a:pt x="32382" y="0"/>
                </a:lnTo>
                <a:cubicBezTo>
                  <a:pt x="50267" y="0"/>
                  <a:pt x="64765" y="14498"/>
                  <a:pt x="64765" y="32382"/>
                </a:cubicBezTo>
                <a:lnTo>
                  <a:pt x="64765" y="32382"/>
                </a:lnTo>
                <a:cubicBezTo>
                  <a:pt x="64765" y="50267"/>
                  <a:pt x="50267" y="64765"/>
                  <a:pt x="32382" y="64765"/>
                </a:cubicBezTo>
                <a:lnTo>
                  <a:pt x="32382" y="64765"/>
                </a:lnTo>
                <a:cubicBezTo>
                  <a:pt x="14498" y="64765"/>
                  <a:pt x="0" y="50267"/>
                  <a:pt x="0" y="32382"/>
                </a:cubicBezTo>
                <a:lnTo>
                  <a:pt x="0" y="32382"/>
                </a:lnTo>
                <a:cubicBezTo>
                  <a:pt x="0" y="14498"/>
                  <a:pt x="14498" y="0"/>
                  <a:pt x="32382" y="0"/>
                </a:cubicBezTo>
                <a:close/>
              </a:path>
            </a:pathLst>
          </a:custGeom>
          <a:solidFill>
            <a:srgbClr val="C4A99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680032" y="5375490"/>
            <a:ext cx="3448733" cy="210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2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This suggests </a:t>
            </a:r>
            <a:r>
              <a:rPr lang="en-US" sz="102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overlapping information</a:t>
            </a:r>
            <a:r>
              <a:rPr lang="en-US" sz="102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and combined effects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192135" y="906709"/>
            <a:ext cx="5675028" cy="2525833"/>
          </a:xfrm>
          <a:custGeom>
            <a:avLst/>
            <a:gdLst/>
            <a:ahLst/>
            <a:cxnLst/>
            <a:rect l="l" t="t" r="r" b="b"/>
            <a:pathLst>
              <a:path w="5675028" h="2525833">
                <a:moveTo>
                  <a:pt x="64762" y="0"/>
                </a:moveTo>
                <a:lnTo>
                  <a:pt x="5610266" y="0"/>
                </a:lnTo>
                <a:cubicBezTo>
                  <a:pt x="5646033" y="0"/>
                  <a:pt x="5675028" y="28995"/>
                  <a:pt x="5675028" y="64762"/>
                </a:cubicBezTo>
                <a:lnTo>
                  <a:pt x="5675028" y="2461070"/>
                </a:lnTo>
                <a:cubicBezTo>
                  <a:pt x="5675028" y="2496838"/>
                  <a:pt x="5646033" y="2525833"/>
                  <a:pt x="5610266" y="2525833"/>
                </a:cubicBezTo>
                <a:lnTo>
                  <a:pt x="64762" y="2525833"/>
                </a:lnTo>
                <a:cubicBezTo>
                  <a:pt x="28995" y="2525833"/>
                  <a:pt x="0" y="2496838"/>
                  <a:pt x="0" y="2461070"/>
                </a:cubicBezTo>
                <a:lnTo>
                  <a:pt x="0" y="64762"/>
                </a:lnTo>
                <a:cubicBezTo>
                  <a:pt x="0" y="29019"/>
                  <a:pt x="29019" y="0"/>
                  <a:pt x="64762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24287" dist="8096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/>
          <p:nvPr/>
        </p:nvSpPr>
        <p:spPr>
          <a:xfrm>
            <a:off x="6317618" y="1068622"/>
            <a:ext cx="5424064" cy="2266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47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Simple Linear Regression Example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54048" y="1392446"/>
            <a:ext cx="5351203" cy="1619124"/>
          </a:xfrm>
          <a:custGeom>
            <a:avLst/>
            <a:gdLst/>
            <a:ahLst/>
            <a:cxnLst/>
            <a:rect l="l" t="t" r="r" b="b"/>
            <a:pathLst>
              <a:path w="5351203" h="1619124">
                <a:moveTo>
                  <a:pt x="64765" y="0"/>
                </a:moveTo>
                <a:lnTo>
                  <a:pt x="5286438" y="0"/>
                </a:lnTo>
                <a:cubicBezTo>
                  <a:pt x="5322207" y="0"/>
                  <a:pt x="5351203" y="28996"/>
                  <a:pt x="5351203" y="64765"/>
                </a:cubicBezTo>
                <a:lnTo>
                  <a:pt x="5351203" y="1554359"/>
                </a:lnTo>
                <a:cubicBezTo>
                  <a:pt x="5351203" y="1590127"/>
                  <a:pt x="5322207" y="1619124"/>
                  <a:pt x="5286438" y="1619124"/>
                </a:cubicBezTo>
                <a:lnTo>
                  <a:pt x="64765" y="1619124"/>
                </a:lnTo>
                <a:cubicBezTo>
                  <a:pt x="28996" y="1619124"/>
                  <a:pt x="0" y="1590127"/>
                  <a:pt x="0" y="1554359"/>
                </a:cubicBezTo>
                <a:lnTo>
                  <a:pt x="0" y="64765"/>
                </a:lnTo>
                <a:cubicBezTo>
                  <a:pt x="0" y="28996"/>
                  <a:pt x="28996" y="0"/>
                  <a:pt x="64765" y="0"/>
                </a:cubicBezTo>
                <a:close/>
              </a:path>
            </a:pathLst>
          </a:custGeom>
          <a:solidFill>
            <a:srgbClr val="9B8E7D">
              <a:alpha val="5098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Shape 36"/>
          <p:cNvSpPr/>
          <p:nvPr/>
        </p:nvSpPr>
        <p:spPr>
          <a:xfrm>
            <a:off x="8834849" y="1764845"/>
            <a:ext cx="388590" cy="388590"/>
          </a:xfrm>
          <a:custGeom>
            <a:avLst/>
            <a:gdLst/>
            <a:ahLst/>
            <a:cxnLst/>
            <a:rect l="l" t="t" r="r" b="b"/>
            <a:pathLst>
              <a:path w="388590" h="388590">
                <a:moveTo>
                  <a:pt x="50016" y="173423"/>
                </a:moveTo>
                <a:cubicBezTo>
                  <a:pt x="60110" y="102840"/>
                  <a:pt x="120903" y="48574"/>
                  <a:pt x="194295" y="48574"/>
                </a:cubicBezTo>
                <a:cubicBezTo>
                  <a:pt x="234520" y="48574"/>
                  <a:pt x="270950" y="64891"/>
                  <a:pt x="297362" y="91227"/>
                </a:cubicBezTo>
                <a:cubicBezTo>
                  <a:pt x="297514" y="91379"/>
                  <a:pt x="297666" y="91531"/>
                  <a:pt x="297818" y="91683"/>
                </a:cubicBezTo>
                <a:lnTo>
                  <a:pt x="303586" y="97147"/>
                </a:lnTo>
                <a:lnTo>
                  <a:pt x="267231" y="97147"/>
                </a:lnTo>
                <a:cubicBezTo>
                  <a:pt x="253798" y="97147"/>
                  <a:pt x="242944" y="108001"/>
                  <a:pt x="242944" y="121434"/>
                </a:cubicBezTo>
                <a:cubicBezTo>
                  <a:pt x="242944" y="134868"/>
                  <a:pt x="253798" y="145721"/>
                  <a:pt x="267231" y="145721"/>
                </a:cubicBezTo>
                <a:lnTo>
                  <a:pt x="364379" y="145721"/>
                </a:lnTo>
                <a:cubicBezTo>
                  <a:pt x="377812" y="145721"/>
                  <a:pt x="388666" y="134868"/>
                  <a:pt x="388666" y="121434"/>
                </a:cubicBezTo>
                <a:lnTo>
                  <a:pt x="388666" y="24287"/>
                </a:lnTo>
                <a:cubicBezTo>
                  <a:pt x="388666" y="10853"/>
                  <a:pt x="377812" y="0"/>
                  <a:pt x="364379" y="0"/>
                </a:cubicBezTo>
                <a:cubicBezTo>
                  <a:pt x="350945" y="0"/>
                  <a:pt x="340092" y="10853"/>
                  <a:pt x="340092" y="24287"/>
                </a:cubicBezTo>
                <a:lnTo>
                  <a:pt x="340092" y="64816"/>
                </a:lnTo>
                <a:lnTo>
                  <a:pt x="331516" y="56695"/>
                </a:lnTo>
                <a:cubicBezTo>
                  <a:pt x="296375" y="21706"/>
                  <a:pt x="247802" y="0"/>
                  <a:pt x="194295" y="0"/>
                </a:cubicBezTo>
                <a:cubicBezTo>
                  <a:pt x="96388" y="0"/>
                  <a:pt x="15407" y="72405"/>
                  <a:pt x="1973" y="166593"/>
                </a:cubicBezTo>
                <a:cubicBezTo>
                  <a:pt x="76" y="179875"/>
                  <a:pt x="9259" y="192170"/>
                  <a:pt x="22541" y="194067"/>
                </a:cubicBezTo>
                <a:cubicBezTo>
                  <a:pt x="35823" y="195965"/>
                  <a:pt x="48118" y="186705"/>
                  <a:pt x="50016" y="173499"/>
                </a:cubicBezTo>
                <a:close/>
                <a:moveTo>
                  <a:pt x="386616" y="221997"/>
                </a:moveTo>
                <a:cubicBezTo>
                  <a:pt x="388514" y="208715"/>
                  <a:pt x="379254" y="196420"/>
                  <a:pt x="366048" y="194523"/>
                </a:cubicBezTo>
                <a:cubicBezTo>
                  <a:pt x="352842" y="192625"/>
                  <a:pt x="340471" y="201884"/>
                  <a:pt x="338574" y="215090"/>
                </a:cubicBezTo>
                <a:cubicBezTo>
                  <a:pt x="328480" y="285674"/>
                  <a:pt x="267687" y="339940"/>
                  <a:pt x="194295" y="339940"/>
                </a:cubicBezTo>
                <a:cubicBezTo>
                  <a:pt x="154070" y="339940"/>
                  <a:pt x="117639" y="323622"/>
                  <a:pt x="91227" y="297286"/>
                </a:cubicBezTo>
                <a:cubicBezTo>
                  <a:pt x="91076" y="297134"/>
                  <a:pt x="90924" y="296983"/>
                  <a:pt x="90772" y="296831"/>
                </a:cubicBezTo>
                <a:lnTo>
                  <a:pt x="85004" y="291366"/>
                </a:lnTo>
                <a:lnTo>
                  <a:pt x="121358" y="291366"/>
                </a:lnTo>
                <a:cubicBezTo>
                  <a:pt x="134792" y="291366"/>
                  <a:pt x="145645" y="280513"/>
                  <a:pt x="145645" y="267079"/>
                </a:cubicBezTo>
                <a:cubicBezTo>
                  <a:pt x="145645" y="253646"/>
                  <a:pt x="134792" y="242793"/>
                  <a:pt x="121358" y="242793"/>
                </a:cubicBezTo>
                <a:lnTo>
                  <a:pt x="24287" y="242869"/>
                </a:lnTo>
                <a:cubicBezTo>
                  <a:pt x="17836" y="242869"/>
                  <a:pt x="11612" y="245449"/>
                  <a:pt x="7058" y="250079"/>
                </a:cubicBezTo>
                <a:cubicBezTo>
                  <a:pt x="2505" y="254708"/>
                  <a:pt x="-76" y="260856"/>
                  <a:pt x="0" y="267383"/>
                </a:cubicBezTo>
                <a:lnTo>
                  <a:pt x="759" y="363772"/>
                </a:lnTo>
                <a:cubicBezTo>
                  <a:pt x="835" y="377205"/>
                  <a:pt x="11840" y="387982"/>
                  <a:pt x="25274" y="387831"/>
                </a:cubicBezTo>
                <a:cubicBezTo>
                  <a:pt x="38707" y="387679"/>
                  <a:pt x="49484" y="376750"/>
                  <a:pt x="49333" y="363316"/>
                </a:cubicBezTo>
                <a:lnTo>
                  <a:pt x="49029" y="324229"/>
                </a:lnTo>
                <a:lnTo>
                  <a:pt x="57150" y="331895"/>
                </a:lnTo>
                <a:cubicBezTo>
                  <a:pt x="92290" y="366883"/>
                  <a:pt x="140788" y="388590"/>
                  <a:pt x="194295" y="388590"/>
                </a:cubicBezTo>
                <a:cubicBezTo>
                  <a:pt x="292201" y="388590"/>
                  <a:pt x="373183" y="316184"/>
                  <a:pt x="386616" y="221997"/>
                </a:cubicBezTo>
                <a:close/>
              </a:path>
            </a:pathLst>
          </a:custGeom>
          <a:solidFill>
            <a:srgbClr val="9B8E7D">
              <a:alpha val="3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9" name="Text 37"/>
          <p:cNvSpPr/>
          <p:nvPr/>
        </p:nvSpPr>
        <p:spPr>
          <a:xfrm>
            <a:off x="8106243" y="2250582"/>
            <a:ext cx="1845801" cy="194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20" dirty="0">
                <a:solidFill>
                  <a:srgbClr val="9A95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Scatter plot with regression line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110291" y="2477259"/>
            <a:ext cx="1837705" cy="161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92" dirty="0">
                <a:solidFill>
                  <a:srgbClr val="9A9590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Study Hours vs. Productivity Score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325713" y="3108717"/>
            <a:ext cx="5407873" cy="161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92" dirty="0">
                <a:solidFill>
                  <a:srgbClr val="9A95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[SLR Plot Screenshot Placeholder]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192135" y="3594454"/>
            <a:ext cx="5675028" cy="2663458"/>
          </a:xfrm>
          <a:custGeom>
            <a:avLst/>
            <a:gdLst/>
            <a:ahLst/>
            <a:cxnLst/>
            <a:rect l="l" t="t" r="r" b="b"/>
            <a:pathLst>
              <a:path w="5675028" h="2663458">
                <a:moveTo>
                  <a:pt x="64775" y="0"/>
                </a:moveTo>
                <a:lnTo>
                  <a:pt x="5610253" y="0"/>
                </a:lnTo>
                <a:cubicBezTo>
                  <a:pt x="5646027" y="0"/>
                  <a:pt x="5675028" y="29001"/>
                  <a:pt x="5675028" y="64775"/>
                </a:cubicBezTo>
                <a:lnTo>
                  <a:pt x="5675028" y="2598683"/>
                </a:lnTo>
                <a:cubicBezTo>
                  <a:pt x="5675028" y="2634457"/>
                  <a:pt x="5646027" y="2663458"/>
                  <a:pt x="5610253" y="2663458"/>
                </a:cubicBezTo>
                <a:lnTo>
                  <a:pt x="64775" y="2663458"/>
                </a:lnTo>
                <a:cubicBezTo>
                  <a:pt x="29001" y="2663458"/>
                  <a:pt x="0" y="2634457"/>
                  <a:pt x="0" y="2598683"/>
                </a:cubicBezTo>
                <a:lnTo>
                  <a:pt x="0" y="64775"/>
                </a:lnTo>
                <a:cubicBezTo>
                  <a:pt x="0" y="29025"/>
                  <a:pt x="29025" y="0"/>
                  <a:pt x="64775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24287" dist="8096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43" name="Text 41"/>
          <p:cNvSpPr/>
          <p:nvPr/>
        </p:nvSpPr>
        <p:spPr>
          <a:xfrm>
            <a:off x="6317618" y="3756367"/>
            <a:ext cx="5424064" cy="2266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47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Multiple Linear Regression Results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354048" y="4080191"/>
            <a:ext cx="5351203" cy="1756749"/>
          </a:xfrm>
          <a:custGeom>
            <a:avLst/>
            <a:gdLst/>
            <a:ahLst/>
            <a:cxnLst/>
            <a:rect l="l" t="t" r="r" b="b"/>
            <a:pathLst>
              <a:path w="5351203" h="1756749">
                <a:moveTo>
                  <a:pt x="64771" y="0"/>
                </a:moveTo>
                <a:lnTo>
                  <a:pt x="5286432" y="0"/>
                </a:lnTo>
                <a:cubicBezTo>
                  <a:pt x="5322204" y="0"/>
                  <a:pt x="5351203" y="28999"/>
                  <a:pt x="5351203" y="64771"/>
                </a:cubicBezTo>
                <a:lnTo>
                  <a:pt x="5351203" y="1691978"/>
                </a:lnTo>
                <a:cubicBezTo>
                  <a:pt x="5351203" y="1727750"/>
                  <a:pt x="5322204" y="1756749"/>
                  <a:pt x="5286432" y="1756749"/>
                </a:cubicBezTo>
                <a:lnTo>
                  <a:pt x="64771" y="1756749"/>
                </a:lnTo>
                <a:cubicBezTo>
                  <a:pt x="28999" y="1756749"/>
                  <a:pt x="0" y="1727750"/>
                  <a:pt x="0" y="1691978"/>
                </a:cubicBezTo>
                <a:lnTo>
                  <a:pt x="0" y="64771"/>
                </a:lnTo>
                <a:cubicBezTo>
                  <a:pt x="0" y="29023"/>
                  <a:pt x="29023" y="0"/>
                  <a:pt x="64771" y="0"/>
                </a:cubicBezTo>
                <a:close/>
              </a:path>
            </a:pathLst>
          </a:custGeom>
          <a:solidFill>
            <a:srgbClr val="A8B5A0">
              <a:alpha val="5098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83578" y="4209721"/>
          <a:ext cx="5092143" cy="1497690"/>
        </p:xfrm>
        <a:graphic>
          <a:graphicData uri="http://schemas.openxmlformats.org/drawingml/2006/table">
            <a:tbl>
              <a:tblPr/>
              <a:tblGrid>
                <a:gridCol w="21129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62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29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9538">
                <a:tc>
                  <a:txBody>
                    <a:bodyPr/>
                    <a:lstStyle/>
                    <a:p>
                      <a:pPr algn="l"/>
                      <a:r>
                        <a:rPr lang="en-US" sz="800" b="1" u="none" dirty="0">
                          <a:solidFill>
                            <a:srgbClr val="5C565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Variable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64765" marB="6476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5400" cap="flat" cmpd="sng" algn="ctr">
                      <a:solidFill>
                        <a:srgbClr val="9B8E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800" b="1" u="none" dirty="0">
                          <a:solidFill>
                            <a:srgbClr val="5C565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Coefficient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64765" marB="6476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5400" cap="flat" cmpd="sng" algn="ctr">
                      <a:solidFill>
                        <a:srgbClr val="9B8E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800" b="1" u="none" dirty="0">
                          <a:solidFill>
                            <a:srgbClr val="5C565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p-value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64765" marB="6476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5400" cap="flat" cmpd="sng" algn="ctr">
                      <a:solidFill>
                        <a:srgbClr val="9B8E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9538">
                <a:tc>
                  <a:txBody>
                    <a:bodyPr/>
                    <a:lstStyle/>
                    <a:p>
                      <a:r>
                        <a:rPr lang="en-US" sz="800" u="none" dirty="0">
                          <a:solidFill>
                            <a:srgbClr val="5C565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Study Hours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64765" marB="6476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5400" cap="flat" cmpd="sng" algn="ctr">
                      <a:solidFill>
                        <a:srgbClr val="9B8E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800" u="none" dirty="0">
                          <a:solidFill>
                            <a:srgbClr val="5C565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0.XXX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5400" cap="flat" cmpd="sng" algn="ctr">
                      <a:solidFill>
                        <a:srgbClr val="9B8E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800" u="none" dirty="0">
                          <a:solidFill>
                            <a:srgbClr val="5C565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&lt; 0.05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5400" cap="flat" cmpd="sng" algn="ctr">
                      <a:solidFill>
                        <a:srgbClr val="9B8E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9538">
                <a:tc>
                  <a:txBody>
                    <a:bodyPr/>
                    <a:lstStyle/>
                    <a:p>
                      <a:r>
                        <a:rPr lang="en-US" sz="800" u="none" dirty="0">
                          <a:solidFill>
                            <a:srgbClr val="5C565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Sleep Quality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64765" marB="6476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800" u="none" dirty="0">
                          <a:solidFill>
                            <a:srgbClr val="5C565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0.XXX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800" u="none" dirty="0">
                          <a:solidFill>
                            <a:srgbClr val="5C565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&lt; 0.05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9538">
                <a:tc>
                  <a:txBody>
                    <a:bodyPr/>
                    <a:lstStyle/>
                    <a:p>
                      <a:r>
                        <a:rPr lang="en-US" sz="800" u="none" dirty="0">
                          <a:solidFill>
                            <a:srgbClr val="5C565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Stress Level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64765" marB="6476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800" u="none" dirty="0">
                          <a:solidFill>
                            <a:srgbClr val="5C565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-0.XXX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800" u="none" dirty="0">
                          <a:solidFill>
                            <a:srgbClr val="5C565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&lt; 0.05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9538">
                <a:tc>
                  <a:txBody>
                    <a:bodyPr/>
                    <a:lstStyle/>
                    <a:p>
                      <a:r>
                        <a:rPr lang="en-US" sz="800" b="1" u="none" dirty="0">
                          <a:solidFill>
                            <a:srgbClr val="5C565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R²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64765" marB="6476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r"/>
                      <a:r>
                        <a:rPr lang="en-US" sz="800" b="1" u="none" dirty="0">
                          <a:solidFill>
                            <a:srgbClr val="5C565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0.XX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6" name="Text 43"/>
          <p:cNvSpPr/>
          <p:nvPr/>
        </p:nvSpPr>
        <p:spPr>
          <a:xfrm>
            <a:off x="6325713" y="5934088"/>
            <a:ext cx="5407873" cy="161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92" dirty="0">
                <a:solidFill>
                  <a:srgbClr val="9A95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[MLR Results Table Placeholder]</a:t>
            </a:r>
            <a:endParaRPr lang="en-US" sz="1600" dirty="0"/>
          </a:p>
        </p:txBody>
      </p:sp>
      <p:sp>
        <p:nvSpPr>
          <p:cNvPr id="47" name="Shape 44"/>
          <p:cNvSpPr/>
          <p:nvPr/>
        </p:nvSpPr>
        <p:spPr>
          <a:xfrm>
            <a:off x="340016" y="6387442"/>
            <a:ext cx="11528159" cy="469546"/>
          </a:xfrm>
          <a:custGeom>
            <a:avLst/>
            <a:gdLst/>
            <a:ahLst/>
            <a:cxnLst/>
            <a:rect l="l" t="t" r="r" b="b"/>
            <a:pathLst>
              <a:path w="11528159" h="469546">
                <a:moveTo>
                  <a:pt x="32382" y="0"/>
                </a:moveTo>
                <a:lnTo>
                  <a:pt x="11463395" y="0"/>
                </a:lnTo>
                <a:cubicBezTo>
                  <a:pt x="11499163" y="0"/>
                  <a:pt x="11528159" y="28996"/>
                  <a:pt x="11528159" y="64764"/>
                </a:cubicBezTo>
                <a:lnTo>
                  <a:pt x="11528159" y="404781"/>
                </a:lnTo>
                <a:cubicBezTo>
                  <a:pt x="11528159" y="440550"/>
                  <a:pt x="11499163" y="469546"/>
                  <a:pt x="11463395" y="469546"/>
                </a:cubicBezTo>
                <a:lnTo>
                  <a:pt x="32382" y="469546"/>
                </a:lnTo>
                <a:cubicBezTo>
                  <a:pt x="14498" y="469546"/>
                  <a:pt x="0" y="455048"/>
                  <a:pt x="0" y="437163"/>
                </a:cubicBezTo>
                <a:lnTo>
                  <a:pt x="0" y="32382"/>
                </a:lnTo>
                <a:cubicBezTo>
                  <a:pt x="0" y="14498"/>
                  <a:pt x="14498" y="0"/>
                  <a:pt x="32382" y="0"/>
                </a:cubicBezTo>
                <a:close/>
              </a:path>
            </a:pathLst>
          </a:custGeom>
          <a:solidFill>
            <a:srgbClr val="9B8E7D">
              <a:alpha val="1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8" name="Shape 45"/>
          <p:cNvSpPr/>
          <p:nvPr/>
        </p:nvSpPr>
        <p:spPr>
          <a:xfrm>
            <a:off x="340016" y="6387442"/>
            <a:ext cx="32382" cy="469546"/>
          </a:xfrm>
          <a:custGeom>
            <a:avLst/>
            <a:gdLst/>
            <a:ahLst/>
            <a:cxnLst/>
            <a:rect l="l" t="t" r="r" b="b"/>
            <a:pathLst>
              <a:path w="32382" h="469546">
                <a:moveTo>
                  <a:pt x="32382" y="0"/>
                </a:moveTo>
                <a:lnTo>
                  <a:pt x="32382" y="0"/>
                </a:lnTo>
                <a:lnTo>
                  <a:pt x="32382" y="469546"/>
                </a:lnTo>
                <a:lnTo>
                  <a:pt x="32382" y="469546"/>
                </a:lnTo>
                <a:cubicBezTo>
                  <a:pt x="14498" y="469546"/>
                  <a:pt x="0" y="455048"/>
                  <a:pt x="0" y="437163"/>
                </a:cubicBezTo>
                <a:lnTo>
                  <a:pt x="0" y="32382"/>
                </a:lnTo>
                <a:cubicBezTo>
                  <a:pt x="0" y="14498"/>
                  <a:pt x="14498" y="0"/>
                  <a:pt x="32382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9" name="Shape 46"/>
          <p:cNvSpPr/>
          <p:nvPr/>
        </p:nvSpPr>
        <p:spPr>
          <a:xfrm>
            <a:off x="493833" y="6541259"/>
            <a:ext cx="145721" cy="129530"/>
          </a:xfrm>
          <a:custGeom>
            <a:avLst/>
            <a:gdLst/>
            <a:ahLst/>
            <a:cxnLst/>
            <a:rect l="l" t="t" r="r" b="b"/>
            <a:pathLst>
              <a:path w="145721" h="129530">
                <a:moveTo>
                  <a:pt x="78300" y="-4781"/>
                </a:moveTo>
                <a:cubicBezTo>
                  <a:pt x="77263" y="-6805"/>
                  <a:pt x="75163" y="-8096"/>
                  <a:pt x="72886" y="-8096"/>
                </a:cubicBezTo>
                <a:cubicBezTo>
                  <a:pt x="70609" y="-8096"/>
                  <a:pt x="68509" y="-6805"/>
                  <a:pt x="67472" y="-4781"/>
                </a:cubicBezTo>
                <a:lnTo>
                  <a:pt x="48852" y="31699"/>
                </a:lnTo>
                <a:lnTo>
                  <a:pt x="8399" y="38125"/>
                </a:lnTo>
                <a:cubicBezTo>
                  <a:pt x="6148" y="38479"/>
                  <a:pt x="4275" y="40073"/>
                  <a:pt x="3567" y="42249"/>
                </a:cubicBezTo>
                <a:cubicBezTo>
                  <a:pt x="2859" y="44425"/>
                  <a:pt x="3441" y="46803"/>
                  <a:pt x="5034" y="48422"/>
                </a:cubicBezTo>
                <a:lnTo>
                  <a:pt x="33976" y="77389"/>
                </a:lnTo>
                <a:lnTo>
                  <a:pt x="27601" y="117842"/>
                </a:lnTo>
                <a:cubicBezTo>
                  <a:pt x="27247" y="120093"/>
                  <a:pt x="28183" y="122370"/>
                  <a:pt x="30030" y="123711"/>
                </a:cubicBezTo>
                <a:cubicBezTo>
                  <a:pt x="31876" y="125052"/>
                  <a:pt x="34305" y="125254"/>
                  <a:pt x="36354" y="124217"/>
                </a:cubicBezTo>
                <a:lnTo>
                  <a:pt x="72886" y="105648"/>
                </a:lnTo>
                <a:lnTo>
                  <a:pt x="109392" y="124217"/>
                </a:lnTo>
                <a:cubicBezTo>
                  <a:pt x="111416" y="125254"/>
                  <a:pt x="113870" y="125052"/>
                  <a:pt x="115717" y="123711"/>
                </a:cubicBezTo>
                <a:cubicBezTo>
                  <a:pt x="117564" y="122370"/>
                  <a:pt x="118500" y="120119"/>
                  <a:pt x="118145" y="117842"/>
                </a:cubicBezTo>
                <a:lnTo>
                  <a:pt x="111745" y="77389"/>
                </a:lnTo>
                <a:lnTo>
                  <a:pt x="140687" y="48422"/>
                </a:lnTo>
                <a:cubicBezTo>
                  <a:pt x="142306" y="46803"/>
                  <a:pt x="142862" y="44425"/>
                  <a:pt x="142154" y="42249"/>
                </a:cubicBezTo>
                <a:cubicBezTo>
                  <a:pt x="141446" y="40073"/>
                  <a:pt x="139599" y="38479"/>
                  <a:pt x="137322" y="38125"/>
                </a:cubicBezTo>
                <a:lnTo>
                  <a:pt x="96894" y="31699"/>
                </a:lnTo>
                <a:lnTo>
                  <a:pt x="78300" y="-4781"/>
                </a:ln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0" name="Text 47"/>
          <p:cNvSpPr/>
          <p:nvPr/>
        </p:nvSpPr>
        <p:spPr>
          <a:xfrm>
            <a:off x="688934" y="6516972"/>
            <a:ext cx="11114477" cy="210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20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Takeaway:</a:t>
            </a:r>
            <a:r>
              <a:rPr lang="en-US" sz="1020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 single factor was </a:t>
            </a:r>
            <a:r>
              <a:rPr lang="en-US" sz="1020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not enough</a:t>
            </a:r>
            <a:r>
              <a:rPr lang="en-US" sz="1020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to explain productivity well; the multiple regression model provided a </a:t>
            </a:r>
            <a:r>
              <a:rPr lang="en-US" sz="1020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more meaningful interpretation</a:t>
            </a:r>
            <a:r>
              <a:rPr lang="en-US" sz="1020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3810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190500" y="0"/>
                </a:moveTo>
                <a:lnTo>
                  <a:pt x="190500" y="0"/>
                </a:lnTo>
                <a:cubicBezTo>
                  <a:pt x="295640" y="0"/>
                  <a:pt x="381000" y="85360"/>
                  <a:pt x="381000" y="190500"/>
                </a:cubicBezTo>
                <a:lnTo>
                  <a:pt x="381000" y="190500"/>
                </a:lnTo>
                <a:cubicBezTo>
                  <a:pt x="381000" y="295640"/>
                  <a:pt x="295640" y="381000"/>
                  <a:pt x="190500" y="381000"/>
                </a:cubicBezTo>
                <a:lnTo>
                  <a:pt x="190500" y="381000"/>
                </a:lnTo>
                <a:cubicBezTo>
                  <a:pt x="85360" y="381000"/>
                  <a:pt x="0" y="295640"/>
                  <a:pt x="0" y="190500"/>
                </a:cubicBezTo>
                <a:lnTo>
                  <a:pt x="0" y="190500"/>
                </a:lnTo>
                <a:cubicBezTo>
                  <a:pt x="0" y="85360"/>
                  <a:pt x="85360" y="0"/>
                  <a:pt x="190500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338138" y="381000"/>
            <a:ext cx="4667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F7F5F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76300" y="381000"/>
            <a:ext cx="6219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What Regression Helped Us Understand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00050" y="1066800"/>
            <a:ext cx="5581650" cy="2209800"/>
          </a:xfrm>
          <a:custGeom>
            <a:avLst/>
            <a:gdLst/>
            <a:ahLst/>
            <a:cxnLst/>
            <a:rect l="l" t="t" r="r" b="b"/>
            <a:pathLst>
              <a:path w="5581650" h="2209800">
                <a:moveTo>
                  <a:pt x="38100" y="0"/>
                </a:moveTo>
                <a:lnTo>
                  <a:pt x="5505456" y="0"/>
                </a:lnTo>
                <a:cubicBezTo>
                  <a:pt x="5547537" y="0"/>
                  <a:pt x="5581650" y="34113"/>
                  <a:pt x="5581650" y="76194"/>
                </a:cubicBezTo>
                <a:lnTo>
                  <a:pt x="5581650" y="2133606"/>
                </a:lnTo>
                <a:cubicBezTo>
                  <a:pt x="5581650" y="2175687"/>
                  <a:pt x="5547537" y="2209800"/>
                  <a:pt x="5505456" y="2209800"/>
                </a:cubicBezTo>
                <a:lnTo>
                  <a:pt x="38100" y="2209800"/>
                </a:lnTo>
                <a:cubicBezTo>
                  <a:pt x="17072" y="2209800"/>
                  <a:pt x="0" y="2192728"/>
                  <a:pt x="0" y="2171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400050" y="1066800"/>
            <a:ext cx="38100" cy="2209800"/>
          </a:xfrm>
          <a:custGeom>
            <a:avLst/>
            <a:gdLst/>
            <a:ahLst/>
            <a:cxnLst/>
            <a:rect l="l" t="t" r="r" b="b"/>
            <a:pathLst>
              <a:path w="38100" h="2209800">
                <a:moveTo>
                  <a:pt x="38100" y="0"/>
                </a:moveTo>
                <a:lnTo>
                  <a:pt x="38100" y="0"/>
                </a:lnTo>
                <a:lnTo>
                  <a:pt x="38100" y="2209800"/>
                </a:lnTo>
                <a:lnTo>
                  <a:pt x="38100" y="2209800"/>
                </a:lnTo>
                <a:cubicBezTo>
                  <a:pt x="17072" y="2209800"/>
                  <a:pt x="0" y="2192728"/>
                  <a:pt x="0" y="2171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676275" y="13335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50019" y="157163"/>
                </a:moveTo>
                <a:cubicBezTo>
                  <a:pt x="193417" y="157163"/>
                  <a:pt x="228600" y="121980"/>
                  <a:pt x="228600" y="78581"/>
                </a:cubicBezTo>
                <a:cubicBezTo>
                  <a:pt x="228600" y="35183"/>
                  <a:pt x="193417" y="0"/>
                  <a:pt x="150019" y="0"/>
                </a:cubicBezTo>
                <a:cubicBezTo>
                  <a:pt x="106620" y="0"/>
                  <a:pt x="71438" y="35183"/>
                  <a:pt x="71438" y="78581"/>
                </a:cubicBezTo>
                <a:cubicBezTo>
                  <a:pt x="71438" y="86931"/>
                  <a:pt x="72732" y="95012"/>
                  <a:pt x="75143" y="102557"/>
                </a:cubicBezTo>
                <a:lnTo>
                  <a:pt x="3125" y="174575"/>
                </a:lnTo>
                <a:cubicBezTo>
                  <a:pt x="1116" y="176585"/>
                  <a:pt x="0" y="179308"/>
                  <a:pt x="0" y="182166"/>
                </a:cubicBezTo>
                <a:lnTo>
                  <a:pt x="0" y="217884"/>
                </a:lnTo>
                <a:cubicBezTo>
                  <a:pt x="0" y="223823"/>
                  <a:pt x="4777" y="228600"/>
                  <a:pt x="10716" y="228600"/>
                </a:cubicBezTo>
                <a:lnTo>
                  <a:pt x="46434" y="228600"/>
                </a:lnTo>
                <a:cubicBezTo>
                  <a:pt x="52373" y="228600"/>
                  <a:pt x="57150" y="223823"/>
                  <a:pt x="57150" y="217884"/>
                </a:cubicBezTo>
                <a:lnTo>
                  <a:pt x="57150" y="200025"/>
                </a:lnTo>
                <a:lnTo>
                  <a:pt x="75009" y="200025"/>
                </a:lnTo>
                <a:cubicBezTo>
                  <a:pt x="80948" y="200025"/>
                  <a:pt x="85725" y="195248"/>
                  <a:pt x="85725" y="189309"/>
                </a:cubicBezTo>
                <a:lnTo>
                  <a:pt x="85725" y="171450"/>
                </a:lnTo>
                <a:lnTo>
                  <a:pt x="103584" y="171450"/>
                </a:lnTo>
                <a:cubicBezTo>
                  <a:pt x="106442" y="171450"/>
                  <a:pt x="109165" y="170334"/>
                  <a:pt x="111175" y="168325"/>
                </a:cubicBezTo>
                <a:lnTo>
                  <a:pt x="126043" y="153457"/>
                </a:lnTo>
                <a:cubicBezTo>
                  <a:pt x="133588" y="155868"/>
                  <a:pt x="141669" y="157163"/>
                  <a:pt x="150019" y="157163"/>
                </a:cubicBezTo>
                <a:close/>
                <a:moveTo>
                  <a:pt x="167878" y="42863"/>
                </a:moveTo>
                <a:cubicBezTo>
                  <a:pt x="177735" y="42863"/>
                  <a:pt x="185738" y="50865"/>
                  <a:pt x="185738" y="60722"/>
                </a:cubicBezTo>
                <a:cubicBezTo>
                  <a:pt x="185738" y="70579"/>
                  <a:pt x="177735" y="78581"/>
                  <a:pt x="167878" y="78581"/>
                </a:cubicBezTo>
                <a:cubicBezTo>
                  <a:pt x="158021" y="78581"/>
                  <a:pt x="150019" y="70579"/>
                  <a:pt x="150019" y="60722"/>
                </a:cubicBezTo>
                <a:cubicBezTo>
                  <a:pt x="150019" y="50865"/>
                  <a:pt x="158021" y="42863"/>
                  <a:pt x="167878" y="42863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933450" y="1295400"/>
            <a:ext cx="49339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Insights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7700" y="17907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609600" y="1790700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F7F5F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04900" y="1790700"/>
            <a:ext cx="3648075" cy="314325"/>
          </a:xfrm>
          <a:prstGeom prst="rect">
            <a:avLst/>
          </a:prstGeom>
          <a:noFill/>
          <a:ln/>
        </p:spPr>
        <p:txBody>
          <a:bodyPr wrap="square" lIns="0" tIns="3810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Behaviour matters, but </a:t>
            </a:r>
            <a:r>
              <a:rPr lang="en-US" sz="135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not in a one-variable way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7700" y="2259806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609600" y="2259806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F7F5F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04900" y="2259806"/>
            <a:ext cx="4410075" cy="314325"/>
          </a:xfrm>
          <a:prstGeom prst="rect">
            <a:avLst/>
          </a:prstGeom>
          <a:noFill/>
          <a:ln/>
        </p:spPr>
        <p:txBody>
          <a:bodyPr wrap="square" lIns="0" tIns="3810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Some effects </a:t>
            </a:r>
            <a:r>
              <a:rPr lang="en-US" sz="135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weakened after accounting</a:t>
            </a:r>
            <a:r>
              <a:rPr lang="en-US" sz="135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for other variables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7700" y="2728913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609600" y="2728913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F7F5F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04900" y="2728913"/>
            <a:ext cx="4610100" cy="314325"/>
          </a:xfrm>
          <a:prstGeom prst="rect">
            <a:avLst/>
          </a:prstGeom>
          <a:noFill/>
          <a:ln/>
        </p:spPr>
        <p:txBody>
          <a:bodyPr wrap="square" lIns="0" tIns="3810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Interpretation should be cautious: </a:t>
            </a:r>
            <a:r>
              <a:rPr lang="en-US" sz="135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association is not causation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00050" y="3464719"/>
            <a:ext cx="5581650" cy="2095500"/>
          </a:xfrm>
          <a:custGeom>
            <a:avLst/>
            <a:gdLst/>
            <a:ahLst/>
            <a:cxnLst/>
            <a:rect l="l" t="t" r="r" b="b"/>
            <a:pathLst>
              <a:path w="5581650" h="2095500">
                <a:moveTo>
                  <a:pt x="38100" y="0"/>
                </a:moveTo>
                <a:lnTo>
                  <a:pt x="5505458" y="0"/>
                </a:lnTo>
                <a:cubicBezTo>
                  <a:pt x="5547538" y="0"/>
                  <a:pt x="5581650" y="34112"/>
                  <a:pt x="5581650" y="76192"/>
                </a:cubicBezTo>
                <a:lnTo>
                  <a:pt x="5581650" y="2019308"/>
                </a:lnTo>
                <a:cubicBezTo>
                  <a:pt x="5581650" y="2061388"/>
                  <a:pt x="5547538" y="2095500"/>
                  <a:pt x="5505458" y="2095500"/>
                </a:cubicBezTo>
                <a:lnTo>
                  <a:pt x="38100" y="2095500"/>
                </a:lnTo>
                <a:cubicBezTo>
                  <a:pt x="17072" y="2095500"/>
                  <a:pt x="0" y="2078428"/>
                  <a:pt x="0" y="20574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400050" y="3464719"/>
            <a:ext cx="38100" cy="2095500"/>
          </a:xfrm>
          <a:custGeom>
            <a:avLst/>
            <a:gdLst/>
            <a:ahLst/>
            <a:cxnLst/>
            <a:rect l="l" t="t" r="r" b="b"/>
            <a:pathLst>
              <a:path w="38100" h="2095500">
                <a:moveTo>
                  <a:pt x="38100" y="0"/>
                </a:moveTo>
                <a:lnTo>
                  <a:pt x="38100" y="0"/>
                </a:lnTo>
                <a:lnTo>
                  <a:pt x="38100" y="2095500"/>
                </a:lnTo>
                <a:lnTo>
                  <a:pt x="38100" y="2095500"/>
                </a:lnTo>
                <a:cubicBezTo>
                  <a:pt x="17072" y="2095500"/>
                  <a:pt x="0" y="2078428"/>
                  <a:pt x="0" y="20574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676275" y="3731419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53578" y="25003"/>
                </a:moveTo>
                <a:cubicBezTo>
                  <a:pt x="53578" y="11207"/>
                  <a:pt x="64785" y="0"/>
                  <a:pt x="78581" y="0"/>
                </a:cubicBezTo>
                <a:lnTo>
                  <a:pt x="89297" y="0"/>
                </a:lnTo>
                <a:cubicBezTo>
                  <a:pt x="97200" y="0"/>
                  <a:pt x="103584" y="6385"/>
                  <a:pt x="103584" y="14288"/>
                </a:cubicBezTo>
                <a:lnTo>
                  <a:pt x="103584" y="214313"/>
                </a:lnTo>
                <a:cubicBezTo>
                  <a:pt x="103584" y="222215"/>
                  <a:pt x="97200" y="228600"/>
                  <a:pt x="89297" y="228600"/>
                </a:cubicBezTo>
                <a:lnTo>
                  <a:pt x="75009" y="228600"/>
                </a:lnTo>
                <a:cubicBezTo>
                  <a:pt x="61704" y="228600"/>
                  <a:pt x="50497" y="219492"/>
                  <a:pt x="47327" y="207169"/>
                </a:cubicBezTo>
                <a:cubicBezTo>
                  <a:pt x="47015" y="207169"/>
                  <a:pt x="46747" y="207169"/>
                  <a:pt x="46434" y="207169"/>
                </a:cubicBezTo>
                <a:cubicBezTo>
                  <a:pt x="26700" y="207169"/>
                  <a:pt x="10716" y="191185"/>
                  <a:pt x="10716" y="171450"/>
                </a:cubicBezTo>
                <a:cubicBezTo>
                  <a:pt x="10716" y="163413"/>
                  <a:pt x="13395" y="156002"/>
                  <a:pt x="17859" y="150019"/>
                </a:cubicBezTo>
                <a:cubicBezTo>
                  <a:pt x="9198" y="143500"/>
                  <a:pt x="3572" y="133142"/>
                  <a:pt x="3572" y="121444"/>
                </a:cubicBezTo>
                <a:cubicBezTo>
                  <a:pt x="3572" y="107647"/>
                  <a:pt x="11430" y="95637"/>
                  <a:pt x="22860" y="89699"/>
                </a:cubicBezTo>
                <a:cubicBezTo>
                  <a:pt x="19690" y="84341"/>
                  <a:pt x="17859" y="78090"/>
                  <a:pt x="17859" y="71438"/>
                </a:cubicBezTo>
                <a:cubicBezTo>
                  <a:pt x="17859" y="51703"/>
                  <a:pt x="33844" y="35719"/>
                  <a:pt x="53578" y="35719"/>
                </a:cubicBezTo>
                <a:lnTo>
                  <a:pt x="53578" y="25003"/>
                </a:lnTo>
                <a:close/>
                <a:moveTo>
                  <a:pt x="175022" y="25003"/>
                </a:moveTo>
                <a:lnTo>
                  <a:pt x="175022" y="35719"/>
                </a:lnTo>
                <a:cubicBezTo>
                  <a:pt x="194756" y="35719"/>
                  <a:pt x="210741" y="51703"/>
                  <a:pt x="210741" y="71438"/>
                </a:cubicBezTo>
                <a:cubicBezTo>
                  <a:pt x="210741" y="78135"/>
                  <a:pt x="208910" y="84386"/>
                  <a:pt x="205740" y="89699"/>
                </a:cubicBezTo>
                <a:cubicBezTo>
                  <a:pt x="217215" y="95637"/>
                  <a:pt x="225028" y="107603"/>
                  <a:pt x="225028" y="121444"/>
                </a:cubicBezTo>
                <a:cubicBezTo>
                  <a:pt x="225028" y="133142"/>
                  <a:pt x="219402" y="143500"/>
                  <a:pt x="210741" y="150019"/>
                </a:cubicBezTo>
                <a:cubicBezTo>
                  <a:pt x="215205" y="156002"/>
                  <a:pt x="217884" y="163413"/>
                  <a:pt x="217884" y="171450"/>
                </a:cubicBezTo>
                <a:cubicBezTo>
                  <a:pt x="217884" y="191185"/>
                  <a:pt x="201900" y="207169"/>
                  <a:pt x="182166" y="207169"/>
                </a:cubicBezTo>
                <a:cubicBezTo>
                  <a:pt x="181853" y="207169"/>
                  <a:pt x="181585" y="207169"/>
                  <a:pt x="181273" y="207169"/>
                </a:cubicBezTo>
                <a:cubicBezTo>
                  <a:pt x="178103" y="219492"/>
                  <a:pt x="166896" y="228600"/>
                  <a:pt x="153591" y="228600"/>
                </a:cubicBezTo>
                <a:lnTo>
                  <a:pt x="139303" y="228600"/>
                </a:lnTo>
                <a:cubicBezTo>
                  <a:pt x="131400" y="228600"/>
                  <a:pt x="125016" y="222215"/>
                  <a:pt x="125016" y="214313"/>
                </a:cubicBezTo>
                <a:lnTo>
                  <a:pt x="125016" y="14288"/>
                </a:lnTo>
                <a:cubicBezTo>
                  <a:pt x="125016" y="6385"/>
                  <a:pt x="131400" y="0"/>
                  <a:pt x="139303" y="0"/>
                </a:cubicBezTo>
                <a:lnTo>
                  <a:pt x="150019" y="0"/>
                </a:lnTo>
                <a:cubicBezTo>
                  <a:pt x="163815" y="0"/>
                  <a:pt x="175022" y="11207"/>
                  <a:pt x="175022" y="25003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933450" y="3693319"/>
            <a:ext cx="49339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Reflection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47700" y="4264819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838200" y="4188619"/>
            <a:ext cx="27622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Visual trends alone</a:t>
            </a:r>
            <a:r>
              <a:rPr lang="en-US" sz="135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were not enough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7700" y="4695825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838200" y="4619625"/>
            <a:ext cx="33718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Simple models</a:t>
            </a:r>
            <a:r>
              <a:rPr lang="en-US" sz="135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were useful as a starting point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47700" y="5126831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838200" y="5050631"/>
            <a:ext cx="486727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Multiple regression</a:t>
            </a:r>
            <a:r>
              <a:rPr lang="en-US" sz="135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better captured the complexity of productivity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210300" y="1066800"/>
            <a:ext cx="5600700" cy="4495800"/>
          </a:xfrm>
          <a:custGeom>
            <a:avLst/>
            <a:gdLst/>
            <a:ahLst/>
            <a:cxnLst/>
            <a:rect l="l" t="t" r="r" b="b"/>
            <a:pathLst>
              <a:path w="5600700" h="4495800">
                <a:moveTo>
                  <a:pt x="76204" y="0"/>
                </a:moveTo>
                <a:lnTo>
                  <a:pt x="5524496" y="0"/>
                </a:lnTo>
                <a:cubicBezTo>
                  <a:pt x="5566582" y="0"/>
                  <a:pt x="5600700" y="34118"/>
                  <a:pt x="5600700" y="76204"/>
                </a:cubicBezTo>
                <a:lnTo>
                  <a:pt x="5600700" y="4419596"/>
                </a:lnTo>
                <a:cubicBezTo>
                  <a:pt x="5600700" y="4461682"/>
                  <a:pt x="5566582" y="4495800"/>
                  <a:pt x="5524496" y="4495800"/>
                </a:cubicBezTo>
                <a:lnTo>
                  <a:pt x="76204" y="4495800"/>
                </a:lnTo>
                <a:cubicBezTo>
                  <a:pt x="34118" y="4495800"/>
                  <a:pt x="0" y="4461682"/>
                  <a:pt x="0" y="4419596"/>
                </a:cubicBezTo>
                <a:lnTo>
                  <a:pt x="0" y="76204"/>
                </a:lnTo>
                <a:cubicBezTo>
                  <a:pt x="0" y="34146"/>
                  <a:pt x="34146" y="0"/>
                  <a:pt x="76204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6391275" y="1295400"/>
            <a:ext cx="5238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Coefficient Comparison: SLR vs. MLR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438900" y="1714500"/>
            <a:ext cx="5143500" cy="3133725"/>
          </a:xfrm>
          <a:custGeom>
            <a:avLst/>
            <a:gdLst/>
            <a:ahLst/>
            <a:cxnLst/>
            <a:rect l="l" t="t" r="r" b="b"/>
            <a:pathLst>
              <a:path w="5143500" h="3133725">
                <a:moveTo>
                  <a:pt x="76212" y="0"/>
                </a:moveTo>
                <a:lnTo>
                  <a:pt x="5067288" y="0"/>
                </a:lnTo>
                <a:cubicBezTo>
                  <a:pt x="5109379" y="0"/>
                  <a:pt x="5143500" y="34121"/>
                  <a:pt x="5143500" y="76212"/>
                </a:cubicBezTo>
                <a:lnTo>
                  <a:pt x="5143500" y="3057513"/>
                </a:lnTo>
                <a:cubicBezTo>
                  <a:pt x="5143500" y="3099604"/>
                  <a:pt x="5109379" y="3133725"/>
                  <a:pt x="5067288" y="3133725"/>
                </a:cubicBezTo>
                <a:lnTo>
                  <a:pt x="76212" y="3133725"/>
                </a:lnTo>
                <a:cubicBezTo>
                  <a:pt x="34121" y="3133725"/>
                  <a:pt x="0" y="3099604"/>
                  <a:pt x="0" y="3057513"/>
                </a:cubicBezTo>
                <a:lnTo>
                  <a:pt x="0" y="76212"/>
                </a:lnTo>
                <a:cubicBezTo>
                  <a:pt x="0" y="34150"/>
                  <a:pt x="34150" y="0"/>
                  <a:pt x="76212" y="0"/>
                </a:cubicBezTo>
                <a:close/>
              </a:path>
            </a:pathLst>
          </a:custGeom>
          <a:solidFill>
            <a:srgbClr val="9B8E7D">
              <a:alpha val="5098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/>
          <p:nvPr/>
        </p:nvSpPr>
        <p:spPr>
          <a:xfrm>
            <a:off x="6629400" y="1905000"/>
            <a:ext cx="895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Study Hours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629400" y="2209800"/>
            <a:ext cx="285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A95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SLR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677275" y="2209800"/>
            <a:ext cx="323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0.45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629400" y="2438400"/>
            <a:ext cx="2305050" cy="114300"/>
          </a:xfrm>
          <a:custGeom>
            <a:avLst/>
            <a:gdLst/>
            <a:ahLst/>
            <a:cxnLst/>
            <a:rect l="l" t="t" r="r" b="b"/>
            <a:pathLst>
              <a:path w="2305050" h="114300">
                <a:moveTo>
                  <a:pt x="57150" y="0"/>
                </a:moveTo>
                <a:lnTo>
                  <a:pt x="2247900" y="0"/>
                </a:lnTo>
                <a:cubicBezTo>
                  <a:pt x="2279442" y="0"/>
                  <a:pt x="2305050" y="25608"/>
                  <a:pt x="2305050" y="57150"/>
                </a:cubicBezTo>
                <a:lnTo>
                  <a:pt x="2305050" y="57150"/>
                </a:lnTo>
                <a:cubicBezTo>
                  <a:pt x="2305050" y="88692"/>
                  <a:pt x="2279442" y="114300"/>
                  <a:pt x="2247900" y="114300"/>
                </a:cubicBezTo>
                <a:lnTo>
                  <a:pt x="57150" y="114300"/>
                </a:lnTo>
                <a:cubicBezTo>
                  <a:pt x="25608" y="114300"/>
                  <a:pt x="0" y="88692"/>
                  <a:pt x="0" y="57150"/>
                </a:cubicBezTo>
                <a:lnTo>
                  <a:pt x="0" y="57150"/>
                </a:lnTo>
                <a:cubicBezTo>
                  <a:pt x="0" y="25608"/>
                  <a:pt x="25608" y="0"/>
                  <a:pt x="57150" y="0"/>
                </a:cubicBezTo>
                <a:close/>
              </a:path>
            </a:pathLst>
          </a:custGeom>
          <a:solidFill>
            <a:srgbClr val="A8B5A0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6629400" y="2438400"/>
            <a:ext cx="1038225" cy="114300"/>
          </a:xfrm>
          <a:custGeom>
            <a:avLst/>
            <a:gdLst/>
            <a:ahLst/>
            <a:cxnLst/>
            <a:rect l="l" t="t" r="r" b="b"/>
            <a:pathLst>
              <a:path w="1038225" h="114300">
                <a:moveTo>
                  <a:pt x="57150" y="0"/>
                </a:moveTo>
                <a:lnTo>
                  <a:pt x="981075" y="0"/>
                </a:lnTo>
                <a:cubicBezTo>
                  <a:pt x="1012617" y="0"/>
                  <a:pt x="1038225" y="25608"/>
                  <a:pt x="1038225" y="57150"/>
                </a:cubicBezTo>
                <a:lnTo>
                  <a:pt x="1038225" y="57150"/>
                </a:lnTo>
                <a:cubicBezTo>
                  <a:pt x="1038225" y="88692"/>
                  <a:pt x="1012617" y="114300"/>
                  <a:pt x="981075" y="114300"/>
                </a:cubicBezTo>
                <a:lnTo>
                  <a:pt x="57150" y="114300"/>
                </a:lnTo>
                <a:cubicBezTo>
                  <a:pt x="25608" y="114300"/>
                  <a:pt x="0" y="88692"/>
                  <a:pt x="0" y="57150"/>
                </a:cubicBezTo>
                <a:lnTo>
                  <a:pt x="0" y="57150"/>
                </a:lnTo>
                <a:cubicBezTo>
                  <a:pt x="0" y="25608"/>
                  <a:pt x="25608" y="0"/>
                  <a:pt x="57150" y="0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/>
          <p:nvPr/>
        </p:nvSpPr>
        <p:spPr>
          <a:xfrm>
            <a:off x="9086850" y="2209800"/>
            <a:ext cx="323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A95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MLR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1134725" y="2209800"/>
            <a:ext cx="323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0.28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9086850" y="2438400"/>
            <a:ext cx="2305050" cy="114300"/>
          </a:xfrm>
          <a:custGeom>
            <a:avLst/>
            <a:gdLst/>
            <a:ahLst/>
            <a:cxnLst/>
            <a:rect l="l" t="t" r="r" b="b"/>
            <a:pathLst>
              <a:path w="2305050" h="114300">
                <a:moveTo>
                  <a:pt x="57150" y="0"/>
                </a:moveTo>
                <a:lnTo>
                  <a:pt x="2247900" y="0"/>
                </a:lnTo>
                <a:cubicBezTo>
                  <a:pt x="2279442" y="0"/>
                  <a:pt x="2305050" y="25608"/>
                  <a:pt x="2305050" y="57150"/>
                </a:cubicBezTo>
                <a:lnTo>
                  <a:pt x="2305050" y="57150"/>
                </a:lnTo>
                <a:cubicBezTo>
                  <a:pt x="2305050" y="88692"/>
                  <a:pt x="2279442" y="114300"/>
                  <a:pt x="2247900" y="114300"/>
                </a:cubicBezTo>
                <a:lnTo>
                  <a:pt x="57150" y="114300"/>
                </a:lnTo>
                <a:cubicBezTo>
                  <a:pt x="25608" y="114300"/>
                  <a:pt x="0" y="88692"/>
                  <a:pt x="0" y="57150"/>
                </a:cubicBezTo>
                <a:lnTo>
                  <a:pt x="0" y="57150"/>
                </a:lnTo>
                <a:cubicBezTo>
                  <a:pt x="0" y="25608"/>
                  <a:pt x="25608" y="0"/>
                  <a:pt x="57150" y="0"/>
                </a:cubicBezTo>
                <a:close/>
              </a:path>
            </a:pathLst>
          </a:custGeom>
          <a:solidFill>
            <a:srgbClr val="9B8E7D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9" name="Shape 37"/>
          <p:cNvSpPr/>
          <p:nvPr/>
        </p:nvSpPr>
        <p:spPr>
          <a:xfrm>
            <a:off x="9086850" y="2438400"/>
            <a:ext cx="647700" cy="114300"/>
          </a:xfrm>
          <a:custGeom>
            <a:avLst/>
            <a:gdLst/>
            <a:ahLst/>
            <a:cxnLst/>
            <a:rect l="l" t="t" r="r" b="b"/>
            <a:pathLst>
              <a:path w="647700" h="114300">
                <a:moveTo>
                  <a:pt x="57150" y="0"/>
                </a:moveTo>
                <a:lnTo>
                  <a:pt x="590550" y="0"/>
                </a:lnTo>
                <a:cubicBezTo>
                  <a:pt x="622092" y="0"/>
                  <a:pt x="647700" y="25608"/>
                  <a:pt x="647700" y="57150"/>
                </a:cubicBezTo>
                <a:lnTo>
                  <a:pt x="647700" y="57150"/>
                </a:lnTo>
                <a:cubicBezTo>
                  <a:pt x="647700" y="88692"/>
                  <a:pt x="622092" y="114300"/>
                  <a:pt x="590550" y="114300"/>
                </a:cubicBezTo>
                <a:lnTo>
                  <a:pt x="57150" y="114300"/>
                </a:lnTo>
                <a:cubicBezTo>
                  <a:pt x="25608" y="114300"/>
                  <a:pt x="0" y="88692"/>
                  <a:pt x="0" y="57150"/>
                </a:cubicBezTo>
                <a:lnTo>
                  <a:pt x="0" y="57150"/>
                </a:lnTo>
                <a:cubicBezTo>
                  <a:pt x="0" y="25608"/>
                  <a:pt x="25608" y="0"/>
                  <a:pt x="57150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8"/>
          <p:cNvSpPr/>
          <p:nvPr/>
        </p:nvSpPr>
        <p:spPr>
          <a:xfrm>
            <a:off x="6629400" y="2705100"/>
            <a:ext cx="952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Sleep Quality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629400" y="3009900"/>
            <a:ext cx="285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A95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SLR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8677275" y="3009900"/>
            <a:ext cx="323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0.38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629400" y="3238500"/>
            <a:ext cx="2305050" cy="114300"/>
          </a:xfrm>
          <a:custGeom>
            <a:avLst/>
            <a:gdLst/>
            <a:ahLst/>
            <a:cxnLst/>
            <a:rect l="l" t="t" r="r" b="b"/>
            <a:pathLst>
              <a:path w="2305050" h="114300">
                <a:moveTo>
                  <a:pt x="57150" y="0"/>
                </a:moveTo>
                <a:lnTo>
                  <a:pt x="2247900" y="0"/>
                </a:lnTo>
                <a:cubicBezTo>
                  <a:pt x="2279442" y="0"/>
                  <a:pt x="2305050" y="25608"/>
                  <a:pt x="2305050" y="57150"/>
                </a:cubicBezTo>
                <a:lnTo>
                  <a:pt x="2305050" y="57150"/>
                </a:lnTo>
                <a:cubicBezTo>
                  <a:pt x="2305050" y="88692"/>
                  <a:pt x="2279442" y="114300"/>
                  <a:pt x="2247900" y="114300"/>
                </a:cubicBezTo>
                <a:lnTo>
                  <a:pt x="57150" y="114300"/>
                </a:lnTo>
                <a:cubicBezTo>
                  <a:pt x="25608" y="114300"/>
                  <a:pt x="0" y="88692"/>
                  <a:pt x="0" y="57150"/>
                </a:cubicBezTo>
                <a:lnTo>
                  <a:pt x="0" y="57150"/>
                </a:lnTo>
                <a:cubicBezTo>
                  <a:pt x="0" y="25608"/>
                  <a:pt x="25608" y="0"/>
                  <a:pt x="57150" y="0"/>
                </a:cubicBezTo>
                <a:close/>
              </a:path>
            </a:pathLst>
          </a:custGeom>
          <a:solidFill>
            <a:srgbClr val="A8B5A0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4" name="Shape 42"/>
          <p:cNvSpPr/>
          <p:nvPr/>
        </p:nvSpPr>
        <p:spPr>
          <a:xfrm>
            <a:off x="6629400" y="3238500"/>
            <a:ext cx="876300" cy="114300"/>
          </a:xfrm>
          <a:custGeom>
            <a:avLst/>
            <a:gdLst/>
            <a:ahLst/>
            <a:cxnLst/>
            <a:rect l="l" t="t" r="r" b="b"/>
            <a:pathLst>
              <a:path w="876300" h="114300">
                <a:moveTo>
                  <a:pt x="57150" y="0"/>
                </a:moveTo>
                <a:lnTo>
                  <a:pt x="819150" y="0"/>
                </a:lnTo>
                <a:cubicBezTo>
                  <a:pt x="850692" y="0"/>
                  <a:pt x="876300" y="25608"/>
                  <a:pt x="876300" y="57150"/>
                </a:cubicBezTo>
                <a:lnTo>
                  <a:pt x="876300" y="57150"/>
                </a:lnTo>
                <a:cubicBezTo>
                  <a:pt x="876300" y="88692"/>
                  <a:pt x="850692" y="114300"/>
                  <a:pt x="819150" y="114300"/>
                </a:cubicBezTo>
                <a:lnTo>
                  <a:pt x="57150" y="114300"/>
                </a:lnTo>
                <a:cubicBezTo>
                  <a:pt x="25608" y="114300"/>
                  <a:pt x="0" y="88692"/>
                  <a:pt x="0" y="57150"/>
                </a:cubicBezTo>
                <a:lnTo>
                  <a:pt x="0" y="57150"/>
                </a:lnTo>
                <a:cubicBezTo>
                  <a:pt x="0" y="25608"/>
                  <a:pt x="25608" y="0"/>
                  <a:pt x="57150" y="0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5" name="Text 43"/>
          <p:cNvSpPr/>
          <p:nvPr/>
        </p:nvSpPr>
        <p:spPr>
          <a:xfrm>
            <a:off x="9086850" y="3009900"/>
            <a:ext cx="323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A95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MLR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11144250" y="3009900"/>
            <a:ext cx="3143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0.22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9086850" y="3238500"/>
            <a:ext cx="2305050" cy="114300"/>
          </a:xfrm>
          <a:custGeom>
            <a:avLst/>
            <a:gdLst/>
            <a:ahLst/>
            <a:cxnLst/>
            <a:rect l="l" t="t" r="r" b="b"/>
            <a:pathLst>
              <a:path w="2305050" h="114300">
                <a:moveTo>
                  <a:pt x="57150" y="0"/>
                </a:moveTo>
                <a:lnTo>
                  <a:pt x="2247900" y="0"/>
                </a:lnTo>
                <a:cubicBezTo>
                  <a:pt x="2279442" y="0"/>
                  <a:pt x="2305050" y="25608"/>
                  <a:pt x="2305050" y="57150"/>
                </a:cubicBezTo>
                <a:lnTo>
                  <a:pt x="2305050" y="57150"/>
                </a:lnTo>
                <a:cubicBezTo>
                  <a:pt x="2305050" y="88692"/>
                  <a:pt x="2279442" y="114300"/>
                  <a:pt x="2247900" y="114300"/>
                </a:cubicBezTo>
                <a:lnTo>
                  <a:pt x="57150" y="114300"/>
                </a:lnTo>
                <a:cubicBezTo>
                  <a:pt x="25608" y="114300"/>
                  <a:pt x="0" y="88692"/>
                  <a:pt x="0" y="57150"/>
                </a:cubicBezTo>
                <a:lnTo>
                  <a:pt x="0" y="57150"/>
                </a:lnTo>
                <a:cubicBezTo>
                  <a:pt x="0" y="25608"/>
                  <a:pt x="25608" y="0"/>
                  <a:pt x="57150" y="0"/>
                </a:cubicBezTo>
                <a:close/>
              </a:path>
            </a:pathLst>
          </a:custGeom>
          <a:solidFill>
            <a:srgbClr val="9B8E7D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8" name="Shape 46"/>
          <p:cNvSpPr/>
          <p:nvPr/>
        </p:nvSpPr>
        <p:spPr>
          <a:xfrm>
            <a:off x="9086850" y="3238500"/>
            <a:ext cx="504825" cy="114300"/>
          </a:xfrm>
          <a:custGeom>
            <a:avLst/>
            <a:gdLst/>
            <a:ahLst/>
            <a:cxnLst/>
            <a:rect l="l" t="t" r="r" b="b"/>
            <a:pathLst>
              <a:path w="504825" h="114300">
                <a:moveTo>
                  <a:pt x="57150" y="0"/>
                </a:moveTo>
                <a:lnTo>
                  <a:pt x="447675" y="0"/>
                </a:lnTo>
                <a:cubicBezTo>
                  <a:pt x="479217" y="0"/>
                  <a:pt x="504825" y="25608"/>
                  <a:pt x="504825" y="57150"/>
                </a:cubicBezTo>
                <a:lnTo>
                  <a:pt x="504825" y="57150"/>
                </a:lnTo>
                <a:cubicBezTo>
                  <a:pt x="504825" y="88692"/>
                  <a:pt x="479217" y="114300"/>
                  <a:pt x="447675" y="114300"/>
                </a:cubicBezTo>
                <a:lnTo>
                  <a:pt x="57150" y="114300"/>
                </a:lnTo>
                <a:cubicBezTo>
                  <a:pt x="25608" y="114300"/>
                  <a:pt x="0" y="88692"/>
                  <a:pt x="0" y="57150"/>
                </a:cubicBezTo>
                <a:lnTo>
                  <a:pt x="0" y="57150"/>
                </a:lnTo>
                <a:cubicBezTo>
                  <a:pt x="0" y="25608"/>
                  <a:pt x="25608" y="0"/>
                  <a:pt x="57150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9" name="Text 47"/>
          <p:cNvSpPr/>
          <p:nvPr/>
        </p:nvSpPr>
        <p:spPr>
          <a:xfrm>
            <a:off x="6629400" y="3505200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Stress Level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6629400" y="3810000"/>
            <a:ext cx="285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A95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SLR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8620125" y="38100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-0.42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629400" y="4038600"/>
            <a:ext cx="2305050" cy="114300"/>
          </a:xfrm>
          <a:custGeom>
            <a:avLst/>
            <a:gdLst/>
            <a:ahLst/>
            <a:cxnLst/>
            <a:rect l="l" t="t" r="r" b="b"/>
            <a:pathLst>
              <a:path w="2305050" h="114300">
                <a:moveTo>
                  <a:pt x="57150" y="0"/>
                </a:moveTo>
                <a:lnTo>
                  <a:pt x="2247900" y="0"/>
                </a:lnTo>
                <a:cubicBezTo>
                  <a:pt x="2279442" y="0"/>
                  <a:pt x="2305050" y="25608"/>
                  <a:pt x="2305050" y="57150"/>
                </a:cubicBezTo>
                <a:lnTo>
                  <a:pt x="2305050" y="57150"/>
                </a:lnTo>
                <a:cubicBezTo>
                  <a:pt x="2305050" y="88692"/>
                  <a:pt x="2279442" y="114300"/>
                  <a:pt x="2247900" y="114300"/>
                </a:cubicBezTo>
                <a:lnTo>
                  <a:pt x="57150" y="114300"/>
                </a:lnTo>
                <a:cubicBezTo>
                  <a:pt x="25608" y="114300"/>
                  <a:pt x="0" y="88692"/>
                  <a:pt x="0" y="57150"/>
                </a:cubicBezTo>
                <a:lnTo>
                  <a:pt x="0" y="57150"/>
                </a:lnTo>
                <a:cubicBezTo>
                  <a:pt x="0" y="25608"/>
                  <a:pt x="25608" y="0"/>
                  <a:pt x="57150" y="0"/>
                </a:cubicBezTo>
                <a:close/>
              </a:path>
            </a:pathLst>
          </a:custGeom>
          <a:solidFill>
            <a:srgbClr val="A8B5A0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3" name="Shape 51"/>
          <p:cNvSpPr/>
          <p:nvPr/>
        </p:nvSpPr>
        <p:spPr>
          <a:xfrm>
            <a:off x="6629400" y="4038600"/>
            <a:ext cx="971550" cy="114300"/>
          </a:xfrm>
          <a:custGeom>
            <a:avLst/>
            <a:gdLst/>
            <a:ahLst/>
            <a:cxnLst/>
            <a:rect l="l" t="t" r="r" b="b"/>
            <a:pathLst>
              <a:path w="971550" h="114300">
                <a:moveTo>
                  <a:pt x="57150" y="0"/>
                </a:moveTo>
                <a:lnTo>
                  <a:pt x="914400" y="0"/>
                </a:lnTo>
                <a:cubicBezTo>
                  <a:pt x="945942" y="0"/>
                  <a:pt x="971550" y="25608"/>
                  <a:pt x="971550" y="57150"/>
                </a:cubicBezTo>
                <a:lnTo>
                  <a:pt x="971550" y="57150"/>
                </a:lnTo>
                <a:cubicBezTo>
                  <a:pt x="971550" y="88692"/>
                  <a:pt x="945942" y="114300"/>
                  <a:pt x="914400" y="114300"/>
                </a:cubicBezTo>
                <a:lnTo>
                  <a:pt x="57150" y="114300"/>
                </a:lnTo>
                <a:cubicBezTo>
                  <a:pt x="25608" y="114300"/>
                  <a:pt x="0" y="88692"/>
                  <a:pt x="0" y="57150"/>
                </a:cubicBezTo>
                <a:lnTo>
                  <a:pt x="0" y="57150"/>
                </a:lnTo>
                <a:cubicBezTo>
                  <a:pt x="0" y="25608"/>
                  <a:pt x="25608" y="0"/>
                  <a:pt x="57150" y="0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4" name="Text 52"/>
          <p:cNvSpPr/>
          <p:nvPr/>
        </p:nvSpPr>
        <p:spPr>
          <a:xfrm>
            <a:off x="9086850" y="3810000"/>
            <a:ext cx="323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A95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MLR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11106150" y="3810000"/>
            <a:ext cx="3524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-0.31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9086850" y="4038600"/>
            <a:ext cx="2305050" cy="114300"/>
          </a:xfrm>
          <a:custGeom>
            <a:avLst/>
            <a:gdLst/>
            <a:ahLst/>
            <a:cxnLst/>
            <a:rect l="l" t="t" r="r" b="b"/>
            <a:pathLst>
              <a:path w="2305050" h="114300">
                <a:moveTo>
                  <a:pt x="57150" y="0"/>
                </a:moveTo>
                <a:lnTo>
                  <a:pt x="2247900" y="0"/>
                </a:lnTo>
                <a:cubicBezTo>
                  <a:pt x="2279442" y="0"/>
                  <a:pt x="2305050" y="25608"/>
                  <a:pt x="2305050" y="57150"/>
                </a:cubicBezTo>
                <a:lnTo>
                  <a:pt x="2305050" y="57150"/>
                </a:lnTo>
                <a:cubicBezTo>
                  <a:pt x="2305050" y="88692"/>
                  <a:pt x="2279442" y="114300"/>
                  <a:pt x="2247900" y="114300"/>
                </a:cubicBezTo>
                <a:lnTo>
                  <a:pt x="57150" y="114300"/>
                </a:lnTo>
                <a:cubicBezTo>
                  <a:pt x="25608" y="114300"/>
                  <a:pt x="0" y="88692"/>
                  <a:pt x="0" y="57150"/>
                </a:cubicBezTo>
                <a:lnTo>
                  <a:pt x="0" y="57150"/>
                </a:lnTo>
                <a:cubicBezTo>
                  <a:pt x="0" y="25608"/>
                  <a:pt x="25608" y="0"/>
                  <a:pt x="57150" y="0"/>
                </a:cubicBezTo>
                <a:close/>
              </a:path>
            </a:pathLst>
          </a:custGeom>
          <a:solidFill>
            <a:srgbClr val="9B8E7D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7" name="Shape 55"/>
          <p:cNvSpPr/>
          <p:nvPr/>
        </p:nvSpPr>
        <p:spPr>
          <a:xfrm>
            <a:off x="9086850" y="4038600"/>
            <a:ext cx="714375" cy="114300"/>
          </a:xfrm>
          <a:custGeom>
            <a:avLst/>
            <a:gdLst/>
            <a:ahLst/>
            <a:cxnLst/>
            <a:rect l="l" t="t" r="r" b="b"/>
            <a:pathLst>
              <a:path w="714375" h="114300">
                <a:moveTo>
                  <a:pt x="57150" y="0"/>
                </a:moveTo>
                <a:lnTo>
                  <a:pt x="657225" y="0"/>
                </a:lnTo>
                <a:cubicBezTo>
                  <a:pt x="688767" y="0"/>
                  <a:pt x="714375" y="25608"/>
                  <a:pt x="714375" y="57150"/>
                </a:cubicBezTo>
                <a:lnTo>
                  <a:pt x="714375" y="57150"/>
                </a:lnTo>
                <a:cubicBezTo>
                  <a:pt x="714375" y="88692"/>
                  <a:pt x="688767" y="114300"/>
                  <a:pt x="657225" y="114300"/>
                </a:cubicBezTo>
                <a:lnTo>
                  <a:pt x="57150" y="114300"/>
                </a:lnTo>
                <a:cubicBezTo>
                  <a:pt x="25608" y="114300"/>
                  <a:pt x="0" y="88692"/>
                  <a:pt x="0" y="57150"/>
                </a:cubicBezTo>
                <a:lnTo>
                  <a:pt x="0" y="57150"/>
                </a:lnTo>
                <a:cubicBezTo>
                  <a:pt x="0" y="25608"/>
                  <a:pt x="25608" y="0"/>
                  <a:pt x="57150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8" name="Shape 56"/>
          <p:cNvSpPr/>
          <p:nvPr/>
        </p:nvSpPr>
        <p:spPr>
          <a:xfrm>
            <a:off x="6629400" y="4310063"/>
            <a:ext cx="4762500" cy="9525"/>
          </a:xfrm>
          <a:custGeom>
            <a:avLst/>
            <a:gdLst/>
            <a:ahLst/>
            <a:cxnLst/>
            <a:rect l="l" t="t" r="r" b="b"/>
            <a:pathLst>
              <a:path w="4762500" h="9525">
                <a:moveTo>
                  <a:pt x="0" y="0"/>
                </a:moveTo>
                <a:lnTo>
                  <a:pt x="4762500" y="0"/>
                </a:lnTo>
                <a:lnTo>
                  <a:pt x="47625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9B8E7D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9" name="Text 57"/>
          <p:cNvSpPr/>
          <p:nvPr/>
        </p:nvSpPr>
        <p:spPr>
          <a:xfrm>
            <a:off x="6596063" y="4467225"/>
            <a:ext cx="48291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9A95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Effect sizes decrease when controlling for other variables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6405563" y="5000625"/>
            <a:ext cx="52101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9A95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[Coefficient Comparison Visualization]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00050" y="5710238"/>
            <a:ext cx="11410950" cy="942975"/>
          </a:xfrm>
          <a:custGeom>
            <a:avLst/>
            <a:gdLst/>
            <a:ahLst/>
            <a:cxnLst/>
            <a:rect l="l" t="t" r="r" b="b"/>
            <a:pathLst>
              <a:path w="11410950" h="942975">
                <a:moveTo>
                  <a:pt x="38100" y="0"/>
                </a:moveTo>
                <a:lnTo>
                  <a:pt x="11334748" y="0"/>
                </a:lnTo>
                <a:cubicBezTo>
                  <a:pt x="11376833" y="0"/>
                  <a:pt x="11410950" y="34117"/>
                  <a:pt x="11410950" y="76202"/>
                </a:cubicBezTo>
                <a:lnTo>
                  <a:pt x="11410950" y="866773"/>
                </a:lnTo>
                <a:cubicBezTo>
                  <a:pt x="11410950" y="908858"/>
                  <a:pt x="11376833" y="942975"/>
                  <a:pt x="11334748" y="942975"/>
                </a:cubicBezTo>
                <a:lnTo>
                  <a:pt x="38100" y="942975"/>
                </a:lnTo>
                <a:cubicBezTo>
                  <a:pt x="17072" y="942975"/>
                  <a:pt x="0" y="925903"/>
                  <a:pt x="0" y="904875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A8B5A0">
              <a:alpha val="1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2" name="Shape 60"/>
          <p:cNvSpPr/>
          <p:nvPr/>
        </p:nvSpPr>
        <p:spPr>
          <a:xfrm>
            <a:off x="400050" y="5710238"/>
            <a:ext cx="38100" cy="942975"/>
          </a:xfrm>
          <a:custGeom>
            <a:avLst/>
            <a:gdLst/>
            <a:ahLst/>
            <a:cxnLst/>
            <a:rect l="l" t="t" r="r" b="b"/>
            <a:pathLst>
              <a:path w="38100" h="942975">
                <a:moveTo>
                  <a:pt x="38100" y="0"/>
                </a:moveTo>
                <a:lnTo>
                  <a:pt x="38100" y="0"/>
                </a:lnTo>
                <a:lnTo>
                  <a:pt x="38100" y="942975"/>
                </a:lnTo>
                <a:lnTo>
                  <a:pt x="38100" y="942975"/>
                </a:lnTo>
                <a:cubicBezTo>
                  <a:pt x="17072" y="942975"/>
                  <a:pt x="0" y="925903"/>
                  <a:pt x="0" y="904875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3" name="Shape 61"/>
          <p:cNvSpPr/>
          <p:nvPr/>
        </p:nvSpPr>
        <p:spPr>
          <a:xfrm>
            <a:off x="654844" y="5919788"/>
            <a:ext cx="128588" cy="171450"/>
          </a:xfrm>
          <a:custGeom>
            <a:avLst/>
            <a:gdLst/>
            <a:ahLst/>
            <a:cxnLst/>
            <a:rect l="l" t="t" r="r" b="b"/>
            <a:pathLst>
              <a:path w="128588" h="171450">
                <a:moveTo>
                  <a:pt x="98081" y="128588"/>
                </a:moveTo>
                <a:cubicBezTo>
                  <a:pt x="100526" y="121120"/>
                  <a:pt x="105415" y="114356"/>
                  <a:pt x="110940" y="108529"/>
                </a:cubicBezTo>
                <a:cubicBezTo>
                  <a:pt x="121890" y="97010"/>
                  <a:pt x="128587" y="81439"/>
                  <a:pt x="128587" y="64294"/>
                </a:cubicBezTo>
                <a:cubicBezTo>
                  <a:pt x="128587" y="28798"/>
                  <a:pt x="99789" y="0"/>
                  <a:pt x="64294" y="0"/>
                </a:cubicBezTo>
                <a:cubicBezTo>
                  <a:pt x="28798" y="0"/>
                  <a:pt x="0" y="28798"/>
                  <a:pt x="0" y="64294"/>
                </a:cubicBezTo>
                <a:cubicBezTo>
                  <a:pt x="0" y="81439"/>
                  <a:pt x="6697" y="97010"/>
                  <a:pt x="17647" y="108529"/>
                </a:cubicBezTo>
                <a:cubicBezTo>
                  <a:pt x="23173" y="114356"/>
                  <a:pt x="28095" y="121120"/>
                  <a:pt x="30506" y="128588"/>
                </a:cubicBezTo>
                <a:lnTo>
                  <a:pt x="98048" y="128588"/>
                </a:lnTo>
                <a:close/>
                <a:moveTo>
                  <a:pt x="96441" y="144661"/>
                </a:moveTo>
                <a:lnTo>
                  <a:pt x="32147" y="144661"/>
                </a:lnTo>
                <a:lnTo>
                  <a:pt x="32147" y="150019"/>
                </a:lnTo>
                <a:cubicBezTo>
                  <a:pt x="32147" y="164820"/>
                  <a:pt x="44135" y="176808"/>
                  <a:pt x="58936" y="176808"/>
                </a:cubicBezTo>
                <a:lnTo>
                  <a:pt x="69652" y="176808"/>
                </a:lnTo>
                <a:cubicBezTo>
                  <a:pt x="84453" y="176808"/>
                  <a:pt x="96441" y="164820"/>
                  <a:pt x="96441" y="150019"/>
                </a:cubicBezTo>
                <a:lnTo>
                  <a:pt x="96441" y="144661"/>
                </a:lnTo>
                <a:close/>
                <a:moveTo>
                  <a:pt x="61615" y="37505"/>
                </a:moveTo>
                <a:cubicBezTo>
                  <a:pt x="48287" y="37505"/>
                  <a:pt x="37505" y="48287"/>
                  <a:pt x="37505" y="61615"/>
                </a:cubicBezTo>
                <a:cubicBezTo>
                  <a:pt x="37505" y="66069"/>
                  <a:pt x="33922" y="69652"/>
                  <a:pt x="29468" y="69652"/>
                </a:cubicBezTo>
                <a:cubicBezTo>
                  <a:pt x="25014" y="69652"/>
                  <a:pt x="21431" y="66069"/>
                  <a:pt x="21431" y="61615"/>
                </a:cubicBezTo>
                <a:cubicBezTo>
                  <a:pt x="21431" y="39413"/>
                  <a:pt x="39413" y="21431"/>
                  <a:pt x="61615" y="21431"/>
                </a:cubicBezTo>
                <a:cubicBezTo>
                  <a:pt x="66069" y="21431"/>
                  <a:pt x="69652" y="25014"/>
                  <a:pt x="69652" y="29468"/>
                </a:cubicBezTo>
                <a:cubicBezTo>
                  <a:pt x="69652" y="33922"/>
                  <a:pt x="66069" y="37505"/>
                  <a:pt x="61615" y="37505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4" name="Text 62"/>
          <p:cNvSpPr/>
          <p:nvPr/>
        </p:nvSpPr>
        <p:spPr>
          <a:xfrm>
            <a:off x="885825" y="5900738"/>
            <a:ext cx="1082040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Core Insight:</a:t>
            </a:r>
            <a:r>
              <a:rPr lang="en-US" sz="1350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Regression suggested that student productivity is better understood as the result of </a:t>
            </a:r>
            <a:r>
              <a:rPr lang="en-US" sz="1350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multiple interacting factors</a:t>
            </a:r>
            <a:r>
              <a:rPr lang="en-US" sz="1350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rather than one dominant habit.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7500" y="317500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158750" y="0"/>
                </a:moveTo>
                <a:lnTo>
                  <a:pt x="158750" y="0"/>
                </a:lnTo>
                <a:cubicBezTo>
                  <a:pt x="246367" y="0"/>
                  <a:pt x="317500" y="71133"/>
                  <a:pt x="317500" y="158750"/>
                </a:cubicBezTo>
                <a:lnTo>
                  <a:pt x="317500" y="158750"/>
                </a:lnTo>
                <a:cubicBezTo>
                  <a:pt x="317500" y="246367"/>
                  <a:pt x="246367" y="317500"/>
                  <a:pt x="158750" y="317500"/>
                </a:cubicBezTo>
                <a:lnTo>
                  <a:pt x="158750" y="317500"/>
                </a:lnTo>
                <a:cubicBezTo>
                  <a:pt x="71133" y="317500"/>
                  <a:pt x="0" y="246367"/>
                  <a:pt x="0" y="158750"/>
                </a:cubicBezTo>
                <a:lnTo>
                  <a:pt x="0" y="158750"/>
                </a:lnTo>
                <a:cubicBezTo>
                  <a:pt x="0" y="71133"/>
                  <a:pt x="71133" y="0"/>
                  <a:pt x="158750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281781" y="317500"/>
            <a:ext cx="38893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25" b="1" dirty="0">
                <a:solidFill>
                  <a:srgbClr val="F7F5F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0250" y="317500"/>
            <a:ext cx="7453312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Can We Classify Students into High and Low Productivity?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3375" y="889000"/>
            <a:ext cx="5667375" cy="1476375"/>
          </a:xfrm>
          <a:custGeom>
            <a:avLst/>
            <a:gdLst/>
            <a:ahLst/>
            <a:cxnLst/>
            <a:rect l="l" t="t" r="r" b="b"/>
            <a:pathLst>
              <a:path w="5667375" h="1476375">
                <a:moveTo>
                  <a:pt x="31750" y="0"/>
                </a:moveTo>
                <a:lnTo>
                  <a:pt x="5603876" y="0"/>
                </a:lnTo>
                <a:cubicBezTo>
                  <a:pt x="5638946" y="0"/>
                  <a:pt x="5667375" y="28429"/>
                  <a:pt x="5667375" y="63499"/>
                </a:cubicBezTo>
                <a:lnTo>
                  <a:pt x="5667375" y="1412876"/>
                </a:lnTo>
                <a:cubicBezTo>
                  <a:pt x="5667375" y="1447946"/>
                  <a:pt x="5638946" y="1476375"/>
                  <a:pt x="5603876" y="1476375"/>
                </a:cubicBezTo>
                <a:lnTo>
                  <a:pt x="31750" y="1476375"/>
                </a:lnTo>
                <a:cubicBezTo>
                  <a:pt x="14227" y="1476375"/>
                  <a:pt x="0" y="1462148"/>
                  <a:pt x="0" y="1444625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23813" dist="7938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333375" y="889000"/>
            <a:ext cx="31750" cy="1476375"/>
          </a:xfrm>
          <a:custGeom>
            <a:avLst/>
            <a:gdLst/>
            <a:ahLst/>
            <a:cxnLst/>
            <a:rect l="l" t="t" r="r" b="b"/>
            <a:pathLst>
              <a:path w="31750" h="1476375">
                <a:moveTo>
                  <a:pt x="31750" y="0"/>
                </a:moveTo>
                <a:lnTo>
                  <a:pt x="31750" y="0"/>
                </a:lnTo>
                <a:lnTo>
                  <a:pt x="31750" y="1476375"/>
                </a:lnTo>
                <a:lnTo>
                  <a:pt x="31750" y="1476375"/>
                </a:lnTo>
                <a:cubicBezTo>
                  <a:pt x="14227" y="1476375"/>
                  <a:pt x="0" y="1462148"/>
                  <a:pt x="0" y="1444625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527844" y="1079500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9375" y="158750"/>
                </a:moveTo>
                <a:cubicBezTo>
                  <a:pt x="123183" y="158750"/>
                  <a:pt x="158750" y="123183"/>
                  <a:pt x="158750" y="79375"/>
                </a:cubicBezTo>
                <a:cubicBezTo>
                  <a:pt x="158750" y="35567"/>
                  <a:pt x="123183" y="0"/>
                  <a:pt x="79375" y="0"/>
                </a:cubicBezTo>
                <a:cubicBezTo>
                  <a:pt x="35567" y="0"/>
                  <a:pt x="0" y="35567"/>
                  <a:pt x="0" y="79375"/>
                </a:cubicBezTo>
                <a:cubicBezTo>
                  <a:pt x="0" y="123183"/>
                  <a:pt x="35567" y="158750"/>
                  <a:pt x="79375" y="158750"/>
                </a:cubicBezTo>
                <a:close/>
                <a:moveTo>
                  <a:pt x="79375" y="54570"/>
                </a:moveTo>
                <a:cubicBezTo>
                  <a:pt x="73887" y="54570"/>
                  <a:pt x="69453" y="59004"/>
                  <a:pt x="69453" y="64492"/>
                </a:cubicBezTo>
                <a:cubicBezTo>
                  <a:pt x="69453" y="68616"/>
                  <a:pt x="66135" y="71934"/>
                  <a:pt x="62012" y="71934"/>
                </a:cubicBezTo>
                <a:cubicBezTo>
                  <a:pt x="57888" y="71934"/>
                  <a:pt x="54570" y="68616"/>
                  <a:pt x="54570" y="64492"/>
                </a:cubicBezTo>
                <a:cubicBezTo>
                  <a:pt x="54570" y="50788"/>
                  <a:pt x="65670" y="39688"/>
                  <a:pt x="79375" y="39688"/>
                </a:cubicBezTo>
                <a:cubicBezTo>
                  <a:pt x="93080" y="39688"/>
                  <a:pt x="104180" y="50788"/>
                  <a:pt x="104180" y="64492"/>
                </a:cubicBezTo>
                <a:cubicBezTo>
                  <a:pt x="104180" y="79127"/>
                  <a:pt x="93018" y="85328"/>
                  <a:pt x="86816" y="87592"/>
                </a:cubicBezTo>
                <a:lnTo>
                  <a:pt x="86816" y="88770"/>
                </a:lnTo>
                <a:cubicBezTo>
                  <a:pt x="86816" y="92894"/>
                  <a:pt x="83499" y="96211"/>
                  <a:pt x="79375" y="96211"/>
                </a:cubicBezTo>
                <a:cubicBezTo>
                  <a:pt x="75251" y="96211"/>
                  <a:pt x="71934" y="92894"/>
                  <a:pt x="71934" y="88770"/>
                </a:cubicBezTo>
                <a:lnTo>
                  <a:pt x="71934" y="86258"/>
                </a:lnTo>
                <a:cubicBezTo>
                  <a:pt x="71934" y="79902"/>
                  <a:pt x="76522" y="75344"/>
                  <a:pt x="81266" y="73794"/>
                </a:cubicBezTo>
                <a:cubicBezTo>
                  <a:pt x="83251" y="73143"/>
                  <a:pt x="85359" y="72089"/>
                  <a:pt x="86909" y="70600"/>
                </a:cubicBezTo>
                <a:cubicBezTo>
                  <a:pt x="88243" y="69298"/>
                  <a:pt x="89297" y="67500"/>
                  <a:pt x="89297" y="64523"/>
                </a:cubicBezTo>
                <a:cubicBezTo>
                  <a:pt x="89297" y="59035"/>
                  <a:pt x="84863" y="54601"/>
                  <a:pt x="79375" y="54601"/>
                </a:cubicBezTo>
                <a:close/>
                <a:moveTo>
                  <a:pt x="69453" y="114102"/>
                </a:moveTo>
                <a:cubicBezTo>
                  <a:pt x="69453" y="108626"/>
                  <a:pt x="73899" y="104180"/>
                  <a:pt x="79375" y="104180"/>
                </a:cubicBezTo>
                <a:cubicBezTo>
                  <a:pt x="84851" y="104180"/>
                  <a:pt x="89297" y="108626"/>
                  <a:pt x="89297" y="114102"/>
                </a:cubicBezTo>
                <a:cubicBezTo>
                  <a:pt x="89297" y="119578"/>
                  <a:pt x="84851" y="124023"/>
                  <a:pt x="79375" y="124023"/>
                </a:cubicBezTo>
                <a:cubicBezTo>
                  <a:pt x="73899" y="124023"/>
                  <a:pt x="69453" y="119578"/>
                  <a:pt x="69453" y="114102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706438" y="1047750"/>
            <a:ext cx="5214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Why Logistic Regression?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8000" y="14605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31750" y="0"/>
                </a:moveTo>
                <a:lnTo>
                  <a:pt x="31750" y="0"/>
                </a:lnTo>
                <a:cubicBezTo>
                  <a:pt x="49273" y="0"/>
                  <a:pt x="63500" y="14227"/>
                  <a:pt x="63500" y="31750"/>
                </a:cubicBezTo>
                <a:lnTo>
                  <a:pt x="63500" y="31750"/>
                </a:lnTo>
                <a:cubicBezTo>
                  <a:pt x="63500" y="49273"/>
                  <a:pt x="49273" y="63500"/>
                  <a:pt x="31750" y="63500"/>
                </a:cubicBezTo>
                <a:lnTo>
                  <a:pt x="31750" y="63500"/>
                </a:lnTo>
                <a:cubicBezTo>
                  <a:pt x="14227" y="63500"/>
                  <a:pt x="0" y="49273"/>
                  <a:pt x="0" y="31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666750" y="1397000"/>
            <a:ext cx="25400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Regression tells us </a:t>
            </a:r>
            <a:r>
              <a:rPr lang="en-US" sz="100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how productivity changes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8000" y="1762125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31750" y="0"/>
                </a:moveTo>
                <a:lnTo>
                  <a:pt x="31750" y="0"/>
                </a:lnTo>
                <a:cubicBezTo>
                  <a:pt x="49273" y="0"/>
                  <a:pt x="63500" y="14227"/>
                  <a:pt x="63500" y="31750"/>
                </a:cubicBezTo>
                <a:lnTo>
                  <a:pt x="63500" y="31750"/>
                </a:lnTo>
                <a:cubicBezTo>
                  <a:pt x="63500" y="49273"/>
                  <a:pt x="49273" y="63500"/>
                  <a:pt x="31750" y="63500"/>
                </a:cubicBezTo>
                <a:lnTo>
                  <a:pt x="31750" y="63500"/>
                </a:lnTo>
                <a:cubicBezTo>
                  <a:pt x="14227" y="63500"/>
                  <a:pt x="0" y="49273"/>
                  <a:pt x="0" y="31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666750" y="1698625"/>
            <a:ext cx="3675063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Classification asks whether students can be </a:t>
            </a:r>
            <a:r>
              <a:rPr lang="en-US" sz="100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separated into groups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08000" y="2063750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31750" y="0"/>
                </a:moveTo>
                <a:lnTo>
                  <a:pt x="31750" y="0"/>
                </a:lnTo>
                <a:cubicBezTo>
                  <a:pt x="49273" y="0"/>
                  <a:pt x="63500" y="14227"/>
                  <a:pt x="63500" y="31750"/>
                </a:cubicBezTo>
                <a:lnTo>
                  <a:pt x="63500" y="31750"/>
                </a:lnTo>
                <a:cubicBezTo>
                  <a:pt x="63500" y="49273"/>
                  <a:pt x="49273" y="63500"/>
                  <a:pt x="31750" y="63500"/>
                </a:cubicBezTo>
                <a:lnTo>
                  <a:pt x="31750" y="63500"/>
                </a:lnTo>
                <a:cubicBezTo>
                  <a:pt x="14227" y="63500"/>
                  <a:pt x="0" y="49273"/>
                  <a:pt x="0" y="31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666750" y="2000250"/>
            <a:ext cx="27940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We converted productivity into a </a:t>
            </a:r>
            <a:r>
              <a:rPr lang="en-US" sz="100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binary outcome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33375" y="2524125"/>
            <a:ext cx="5667375" cy="1476375"/>
          </a:xfrm>
          <a:custGeom>
            <a:avLst/>
            <a:gdLst/>
            <a:ahLst/>
            <a:cxnLst/>
            <a:rect l="l" t="t" r="r" b="b"/>
            <a:pathLst>
              <a:path w="5667375" h="1476375">
                <a:moveTo>
                  <a:pt x="31750" y="0"/>
                </a:moveTo>
                <a:lnTo>
                  <a:pt x="5603876" y="0"/>
                </a:lnTo>
                <a:cubicBezTo>
                  <a:pt x="5638946" y="0"/>
                  <a:pt x="5667375" y="28429"/>
                  <a:pt x="5667375" y="63499"/>
                </a:cubicBezTo>
                <a:lnTo>
                  <a:pt x="5667375" y="1412876"/>
                </a:lnTo>
                <a:cubicBezTo>
                  <a:pt x="5667375" y="1447946"/>
                  <a:pt x="5638946" y="1476375"/>
                  <a:pt x="5603876" y="1476375"/>
                </a:cubicBezTo>
                <a:lnTo>
                  <a:pt x="31750" y="1476375"/>
                </a:lnTo>
                <a:cubicBezTo>
                  <a:pt x="14227" y="1476375"/>
                  <a:pt x="0" y="1462148"/>
                  <a:pt x="0" y="1444625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23813" dist="7938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6" name="Shape 14"/>
          <p:cNvSpPr/>
          <p:nvPr/>
        </p:nvSpPr>
        <p:spPr>
          <a:xfrm>
            <a:off x="333375" y="2524125"/>
            <a:ext cx="31750" cy="1476375"/>
          </a:xfrm>
          <a:custGeom>
            <a:avLst/>
            <a:gdLst/>
            <a:ahLst/>
            <a:cxnLst/>
            <a:rect l="l" t="t" r="r" b="b"/>
            <a:pathLst>
              <a:path w="31750" h="1476375">
                <a:moveTo>
                  <a:pt x="31750" y="0"/>
                </a:moveTo>
                <a:lnTo>
                  <a:pt x="31750" y="0"/>
                </a:lnTo>
                <a:lnTo>
                  <a:pt x="31750" y="1476375"/>
                </a:lnTo>
                <a:lnTo>
                  <a:pt x="31750" y="1476375"/>
                </a:lnTo>
                <a:cubicBezTo>
                  <a:pt x="14227" y="1476375"/>
                  <a:pt x="0" y="1462148"/>
                  <a:pt x="0" y="1444625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537766" y="2714625"/>
            <a:ext cx="138906" cy="158750"/>
          </a:xfrm>
          <a:custGeom>
            <a:avLst/>
            <a:gdLst/>
            <a:ahLst/>
            <a:cxnLst/>
            <a:rect l="l" t="t" r="r" b="b"/>
            <a:pathLst>
              <a:path w="138906" h="158750">
                <a:moveTo>
                  <a:pt x="89297" y="0"/>
                </a:moveTo>
                <a:lnTo>
                  <a:pt x="39688" y="0"/>
                </a:lnTo>
                <a:cubicBezTo>
                  <a:pt x="34199" y="0"/>
                  <a:pt x="29766" y="4434"/>
                  <a:pt x="29766" y="9922"/>
                </a:cubicBezTo>
                <a:cubicBezTo>
                  <a:pt x="29766" y="15410"/>
                  <a:pt x="34199" y="19844"/>
                  <a:pt x="39688" y="19844"/>
                </a:cubicBezTo>
                <a:lnTo>
                  <a:pt x="39688" y="66818"/>
                </a:lnTo>
                <a:lnTo>
                  <a:pt x="2325" y="132178"/>
                </a:lnTo>
                <a:cubicBezTo>
                  <a:pt x="806" y="134875"/>
                  <a:pt x="0" y="137883"/>
                  <a:pt x="0" y="140984"/>
                </a:cubicBezTo>
                <a:cubicBezTo>
                  <a:pt x="0" y="150813"/>
                  <a:pt x="7938" y="158750"/>
                  <a:pt x="17766" y="158750"/>
                </a:cubicBezTo>
                <a:lnTo>
                  <a:pt x="121140" y="158750"/>
                </a:lnTo>
                <a:cubicBezTo>
                  <a:pt x="130938" y="158750"/>
                  <a:pt x="138906" y="150813"/>
                  <a:pt x="138906" y="140984"/>
                </a:cubicBezTo>
                <a:cubicBezTo>
                  <a:pt x="138906" y="137883"/>
                  <a:pt x="138100" y="134844"/>
                  <a:pt x="136581" y="132178"/>
                </a:cubicBezTo>
                <a:lnTo>
                  <a:pt x="99219" y="66818"/>
                </a:lnTo>
                <a:lnTo>
                  <a:pt x="99219" y="19844"/>
                </a:lnTo>
                <a:cubicBezTo>
                  <a:pt x="104707" y="19844"/>
                  <a:pt x="109141" y="15410"/>
                  <a:pt x="109141" y="9922"/>
                </a:cubicBezTo>
                <a:cubicBezTo>
                  <a:pt x="109141" y="4434"/>
                  <a:pt x="104707" y="0"/>
                  <a:pt x="99219" y="0"/>
                </a:cubicBezTo>
                <a:lnTo>
                  <a:pt x="89297" y="0"/>
                </a:lnTo>
                <a:close/>
                <a:moveTo>
                  <a:pt x="59531" y="66818"/>
                </a:moveTo>
                <a:lnTo>
                  <a:pt x="59531" y="19844"/>
                </a:lnTo>
                <a:lnTo>
                  <a:pt x="79375" y="19844"/>
                </a:lnTo>
                <a:lnTo>
                  <a:pt x="79375" y="66818"/>
                </a:lnTo>
                <a:cubicBezTo>
                  <a:pt x="79375" y="70259"/>
                  <a:pt x="80274" y="73670"/>
                  <a:pt x="81979" y="76677"/>
                </a:cubicBezTo>
                <a:lnTo>
                  <a:pt x="94878" y="99219"/>
                </a:lnTo>
                <a:lnTo>
                  <a:pt x="44028" y="99219"/>
                </a:lnTo>
                <a:lnTo>
                  <a:pt x="56927" y="76677"/>
                </a:lnTo>
                <a:cubicBezTo>
                  <a:pt x="58632" y="73670"/>
                  <a:pt x="59531" y="70290"/>
                  <a:pt x="59531" y="66818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706438" y="2682875"/>
            <a:ext cx="5214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What We Tested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08000" y="3095625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31750" y="0"/>
                </a:moveTo>
                <a:lnTo>
                  <a:pt x="31750" y="0"/>
                </a:lnTo>
                <a:cubicBezTo>
                  <a:pt x="49273" y="0"/>
                  <a:pt x="63500" y="14227"/>
                  <a:pt x="63500" y="31750"/>
                </a:cubicBezTo>
                <a:lnTo>
                  <a:pt x="63500" y="31750"/>
                </a:lnTo>
                <a:cubicBezTo>
                  <a:pt x="63500" y="49273"/>
                  <a:pt x="49273" y="63500"/>
                  <a:pt x="31750" y="63500"/>
                </a:cubicBezTo>
                <a:lnTo>
                  <a:pt x="31750" y="63500"/>
                </a:lnTo>
                <a:cubicBezTo>
                  <a:pt x="14227" y="63500"/>
                  <a:pt x="0" y="49273"/>
                  <a:pt x="0" y="31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666750" y="3032125"/>
            <a:ext cx="2278063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Simple logistic regression:</a:t>
            </a:r>
            <a:r>
              <a:rPr lang="en-US" sz="10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one predictor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08000" y="3397250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31750" y="0"/>
                </a:moveTo>
                <a:lnTo>
                  <a:pt x="31750" y="0"/>
                </a:lnTo>
                <a:cubicBezTo>
                  <a:pt x="49273" y="0"/>
                  <a:pt x="63500" y="14227"/>
                  <a:pt x="63500" y="31750"/>
                </a:cubicBezTo>
                <a:lnTo>
                  <a:pt x="63500" y="31750"/>
                </a:lnTo>
                <a:cubicBezTo>
                  <a:pt x="63500" y="49273"/>
                  <a:pt x="49273" y="63500"/>
                  <a:pt x="31750" y="63500"/>
                </a:cubicBezTo>
                <a:lnTo>
                  <a:pt x="31750" y="63500"/>
                </a:lnTo>
                <a:cubicBezTo>
                  <a:pt x="14227" y="63500"/>
                  <a:pt x="0" y="49273"/>
                  <a:pt x="0" y="31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666750" y="3333750"/>
            <a:ext cx="3071813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Multiple logistic regression:</a:t>
            </a:r>
            <a:r>
              <a:rPr lang="en-US" sz="10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several predictors together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08000" y="3698875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31750" y="0"/>
                </a:moveTo>
                <a:lnTo>
                  <a:pt x="31750" y="0"/>
                </a:lnTo>
                <a:cubicBezTo>
                  <a:pt x="49273" y="0"/>
                  <a:pt x="63500" y="14227"/>
                  <a:pt x="63500" y="31750"/>
                </a:cubicBezTo>
                <a:lnTo>
                  <a:pt x="63500" y="31750"/>
                </a:lnTo>
                <a:cubicBezTo>
                  <a:pt x="63500" y="49273"/>
                  <a:pt x="49273" y="63500"/>
                  <a:pt x="31750" y="63500"/>
                </a:cubicBezTo>
                <a:lnTo>
                  <a:pt x="31750" y="63500"/>
                </a:lnTo>
                <a:cubicBezTo>
                  <a:pt x="14227" y="63500"/>
                  <a:pt x="0" y="49273"/>
                  <a:pt x="0" y="31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666750" y="3635375"/>
            <a:ext cx="3508375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Compared performance using </a:t>
            </a:r>
            <a:r>
              <a:rPr lang="en-US" sz="100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confusion matrix and ROC/AUC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33375" y="4159250"/>
            <a:ext cx="5667375" cy="1476375"/>
          </a:xfrm>
          <a:custGeom>
            <a:avLst/>
            <a:gdLst/>
            <a:ahLst/>
            <a:cxnLst/>
            <a:rect l="l" t="t" r="r" b="b"/>
            <a:pathLst>
              <a:path w="5667375" h="1476375">
                <a:moveTo>
                  <a:pt x="31750" y="0"/>
                </a:moveTo>
                <a:lnTo>
                  <a:pt x="5603876" y="0"/>
                </a:lnTo>
                <a:cubicBezTo>
                  <a:pt x="5638946" y="0"/>
                  <a:pt x="5667375" y="28429"/>
                  <a:pt x="5667375" y="63499"/>
                </a:cubicBezTo>
                <a:lnTo>
                  <a:pt x="5667375" y="1412876"/>
                </a:lnTo>
                <a:cubicBezTo>
                  <a:pt x="5667375" y="1447946"/>
                  <a:pt x="5638946" y="1476375"/>
                  <a:pt x="5603876" y="1476375"/>
                </a:cubicBezTo>
                <a:lnTo>
                  <a:pt x="31750" y="1476375"/>
                </a:lnTo>
                <a:cubicBezTo>
                  <a:pt x="14227" y="1476375"/>
                  <a:pt x="0" y="1462148"/>
                  <a:pt x="0" y="1444625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23813" dist="7938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4"/>
          <p:cNvSpPr/>
          <p:nvPr/>
        </p:nvSpPr>
        <p:spPr>
          <a:xfrm>
            <a:off x="333375" y="4159250"/>
            <a:ext cx="31750" cy="1476375"/>
          </a:xfrm>
          <a:custGeom>
            <a:avLst/>
            <a:gdLst/>
            <a:ahLst/>
            <a:cxnLst/>
            <a:rect l="l" t="t" r="r" b="b"/>
            <a:pathLst>
              <a:path w="31750" h="1476375">
                <a:moveTo>
                  <a:pt x="31750" y="0"/>
                </a:moveTo>
                <a:lnTo>
                  <a:pt x="31750" y="0"/>
                </a:lnTo>
                <a:lnTo>
                  <a:pt x="31750" y="1476375"/>
                </a:lnTo>
                <a:lnTo>
                  <a:pt x="31750" y="1476375"/>
                </a:lnTo>
                <a:cubicBezTo>
                  <a:pt x="14227" y="1476375"/>
                  <a:pt x="0" y="1462148"/>
                  <a:pt x="0" y="1444625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C4A99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5"/>
          <p:cNvSpPr/>
          <p:nvPr/>
        </p:nvSpPr>
        <p:spPr>
          <a:xfrm>
            <a:off x="527844" y="4349750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9922" y="9922"/>
                </a:moveTo>
                <a:cubicBezTo>
                  <a:pt x="15410" y="9922"/>
                  <a:pt x="19844" y="14356"/>
                  <a:pt x="19844" y="19844"/>
                </a:cubicBezTo>
                <a:lnTo>
                  <a:pt x="19844" y="124023"/>
                </a:lnTo>
                <a:cubicBezTo>
                  <a:pt x="19844" y="126752"/>
                  <a:pt x="22076" y="128984"/>
                  <a:pt x="24805" y="128984"/>
                </a:cubicBezTo>
                <a:lnTo>
                  <a:pt x="148828" y="128984"/>
                </a:lnTo>
                <a:cubicBezTo>
                  <a:pt x="154316" y="128984"/>
                  <a:pt x="158750" y="133418"/>
                  <a:pt x="158750" y="138906"/>
                </a:cubicBezTo>
                <a:cubicBezTo>
                  <a:pt x="158750" y="144394"/>
                  <a:pt x="154316" y="148828"/>
                  <a:pt x="148828" y="148828"/>
                </a:cubicBezTo>
                <a:lnTo>
                  <a:pt x="24805" y="148828"/>
                </a:lnTo>
                <a:cubicBezTo>
                  <a:pt x="11100" y="148828"/>
                  <a:pt x="0" y="137728"/>
                  <a:pt x="0" y="124023"/>
                </a:cubicBezTo>
                <a:lnTo>
                  <a:pt x="0" y="19844"/>
                </a:lnTo>
                <a:cubicBezTo>
                  <a:pt x="0" y="14356"/>
                  <a:pt x="4434" y="9922"/>
                  <a:pt x="9922" y="9922"/>
                </a:cubicBezTo>
                <a:close/>
                <a:moveTo>
                  <a:pt x="39688" y="29766"/>
                </a:moveTo>
                <a:cubicBezTo>
                  <a:pt x="39688" y="24278"/>
                  <a:pt x="44121" y="19844"/>
                  <a:pt x="49609" y="19844"/>
                </a:cubicBezTo>
                <a:lnTo>
                  <a:pt x="109141" y="19844"/>
                </a:lnTo>
                <a:cubicBezTo>
                  <a:pt x="114629" y="19844"/>
                  <a:pt x="119062" y="24278"/>
                  <a:pt x="119062" y="29766"/>
                </a:cubicBezTo>
                <a:cubicBezTo>
                  <a:pt x="119062" y="35254"/>
                  <a:pt x="114629" y="39688"/>
                  <a:pt x="109141" y="39688"/>
                </a:cubicBezTo>
                <a:lnTo>
                  <a:pt x="49609" y="39688"/>
                </a:lnTo>
                <a:cubicBezTo>
                  <a:pt x="44121" y="39688"/>
                  <a:pt x="39688" y="35254"/>
                  <a:pt x="39688" y="29766"/>
                </a:cubicBezTo>
                <a:close/>
                <a:moveTo>
                  <a:pt x="49609" y="54570"/>
                </a:moveTo>
                <a:lnTo>
                  <a:pt x="89297" y="54570"/>
                </a:lnTo>
                <a:cubicBezTo>
                  <a:pt x="94785" y="54570"/>
                  <a:pt x="99219" y="59004"/>
                  <a:pt x="99219" y="64492"/>
                </a:cubicBezTo>
                <a:cubicBezTo>
                  <a:pt x="99219" y="69980"/>
                  <a:pt x="94785" y="74414"/>
                  <a:pt x="89297" y="74414"/>
                </a:cubicBezTo>
                <a:lnTo>
                  <a:pt x="49609" y="74414"/>
                </a:lnTo>
                <a:cubicBezTo>
                  <a:pt x="44121" y="74414"/>
                  <a:pt x="39688" y="69980"/>
                  <a:pt x="39688" y="64492"/>
                </a:cubicBezTo>
                <a:cubicBezTo>
                  <a:pt x="39688" y="59004"/>
                  <a:pt x="44121" y="54570"/>
                  <a:pt x="49609" y="54570"/>
                </a:cubicBezTo>
                <a:close/>
                <a:moveTo>
                  <a:pt x="49609" y="89297"/>
                </a:moveTo>
                <a:lnTo>
                  <a:pt x="128984" y="89297"/>
                </a:lnTo>
                <a:cubicBezTo>
                  <a:pt x="134472" y="89297"/>
                  <a:pt x="138906" y="93731"/>
                  <a:pt x="138906" y="99219"/>
                </a:cubicBezTo>
                <a:cubicBezTo>
                  <a:pt x="138906" y="104707"/>
                  <a:pt x="134472" y="109141"/>
                  <a:pt x="128984" y="109141"/>
                </a:cubicBezTo>
                <a:lnTo>
                  <a:pt x="49609" y="109141"/>
                </a:lnTo>
                <a:cubicBezTo>
                  <a:pt x="44121" y="109141"/>
                  <a:pt x="39688" y="104707"/>
                  <a:pt x="39688" y="99219"/>
                </a:cubicBezTo>
                <a:cubicBezTo>
                  <a:pt x="39688" y="93731"/>
                  <a:pt x="44121" y="89297"/>
                  <a:pt x="49609" y="89297"/>
                </a:cubicBezTo>
                <a:close/>
              </a:path>
            </a:pathLst>
          </a:custGeom>
          <a:solidFill>
            <a:srgbClr val="C4A99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706438" y="4318000"/>
            <a:ext cx="5214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What We Found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08000" y="4730750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31750" y="0"/>
                </a:moveTo>
                <a:lnTo>
                  <a:pt x="31750" y="0"/>
                </a:lnTo>
                <a:cubicBezTo>
                  <a:pt x="49273" y="0"/>
                  <a:pt x="63500" y="14227"/>
                  <a:pt x="63500" y="31750"/>
                </a:cubicBezTo>
                <a:lnTo>
                  <a:pt x="63500" y="31750"/>
                </a:lnTo>
                <a:cubicBezTo>
                  <a:pt x="63500" y="49273"/>
                  <a:pt x="49273" y="63500"/>
                  <a:pt x="31750" y="63500"/>
                </a:cubicBezTo>
                <a:lnTo>
                  <a:pt x="31750" y="63500"/>
                </a:lnTo>
                <a:cubicBezTo>
                  <a:pt x="14227" y="63500"/>
                  <a:pt x="0" y="49273"/>
                  <a:pt x="0" y="31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C4A99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666750" y="4667250"/>
            <a:ext cx="2786063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 single predictor had </a:t>
            </a:r>
            <a:r>
              <a:rPr lang="en-US" sz="100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limited classification ability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08000" y="5032375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31750" y="0"/>
                </a:moveTo>
                <a:lnTo>
                  <a:pt x="31750" y="0"/>
                </a:lnTo>
                <a:cubicBezTo>
                  <a:pt x="49273" y="0"/>
                  <a:pt x="63500" y="14227"/>
                  <a:pt x="63500" y="31750"/>
                </a:cubicBezTo>
                <a:lnTo>
                  <a:pt x="63500" y="31750"/>
                </a:lnTo>
                <a:cubicBezTo>
                  <a:pt x="63500" y="49273"/>
                  <a:pt x="49273" y="63500"/>
                  <a:pt x="31750" y="63500"/>
                </a:cubicBezTo>
                <a:lnTo>
                  <a:pt x="31750" y="63500"/>
                </a:lnTo>
                <a:cubicBezTo>
                  <a:pt x="14227" y="63500"/>
                  <a:pt x="0" y="49273"/>
                  <a:pt x="0" y="31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C4A99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/>
          <p:nvPr/>
        </p:nvSpPr>
        <p:spPr>
          <a:xfrm>
            <a:off x="666750" y="4968875"/>
            <a:ext cx="225425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Multiple predictors improved</a:t>
            </a:r>
            <a:r>
              <a:rPr lang="en-US" sz="10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the model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08000" y="53340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31750" y="0"/>
                </a:moveTo>
                <a:lnTo>
                  <a:pt x="31750" y="0"/>
                </a:lnTo>
                <a:cubicBezTo>
                  <a:pt x="49273" y="0"/>
                  <a:pt x="63500" y="14227"/>
                  <a:pt x="63500" y="31750"/>
                </a:cubicBezTo>
                <a:lnTo>
                  <a:pt x="63500" y="31750"/>
                </a:lnTo>
                <a:cubicBezTo>
                  <a:pt x="63500" y="49273"/>
                  <a:pt x="49273" y="63500"/>
                  <a:pt x="31750" y="63500"/>
                </a:cubicBezTo>
                <a:lnTo>
                  <a:pt x="31750" y="63500"/>
                </a:lnTo>
                <a:cubicBezTo>
                  <a:pt x="14227" y="63500"/>
                  <a:pt x="0" y="49273"/>
                  <a:pt x="0" y="31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C4A99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666750" y="5270500"/>
            <a:ext cx="3690937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But behaviour alone still did </a:t>
            </a:r>
            <a:r>
              <a:rPr lang="en-US" sz="100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not perfectly separate</a:t>
            </a:r>
            <a:r>
              <a:rPr lang="en-US" sz="10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the two groups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191250" y="889000"/>
            <a:ext cx="5683250" cy="2317750"/>
          </a:xfrm>
          <a:custGeom>
            <a:avLst/>
            <a:gdLst/>
            <a:ahLst/>
            <a:cxnLst/>
            <a:rect l="l" t="t" r="r" b="b"/>
            <a:pathLst>
              <a:path w="5683250" h="2317750">
                <a:moveTo>
                  <a:pt x="63506" y="0"/>
                </a:moveTo>
                <a:lnTo>
                  <a:pt x="5619744" y="0"/>
                </a:lnTo>
                <a:cubicBezTo>
                  <a:pt x="5654817" y="0"/>
                  <a:pt x="5683250" y="28433"/>
                  <a:pt x="5683250" y="63506"/>
                </a:cubicBezTo>
                <a:lnTo>
                  <a:pt x="5683250" y="2254244"/>
                </a:lnTo>
                <a:cubicBezTo>
                  <a:pt x="5683250" y="2289317"/>
                  <a:pt x="5654817" y="2317750"/>
                  <a:pt x="5619744" y="2317750"/>
                </a:cubicBezTo>
                <a:lnTo>
                  <a:pt x="63506" y="2317750"/>
                </a:lnTo>
                <a:cubicBezTo>
                  <a:pt x="28433" y="2317750"/>
                  <a:pt x="0" y="2289317"/>
                  <a:pt x="0" y="2254244"/>
                </a:cubicBezTo>
                <a:lnTo>
                  <a:pt x="0" y="63506"/>
                </a:lnTo>
                <a:cubicBezTo>
                  <a:pt x="0" y="28456"/>
                  <a:pt x="28456" y="0"/>
                  <a:pt x="63506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23813" dist="7938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/>
          <p:nvPr/>
        </p:nvSpPr>
        <p:spPr>
          <a:xfrm>
            <a:off x="6314281" y="1047750"/>
            <a:ext cx="54371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25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Confusion Matrix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50000" y="1365250"/>
            <a:ext cx="5365750" cy="1428750"/>
          </a:xfrm>
          <a:custGeom>
            <a:avLst/>
            <a:gdLst/>
            <a:ahLst/>
            <a:cxnLst/>
            <a:rect l="l" t="t" r="r" b="b"/>
            <a:pathLst>
              <a:path w="5365750" h="1428750">
                <a:moveTo>
                  <a:pt x="63494" y="0"/>
                </a:moveTo>
                <a:lnTo>
                  <a:pt x="5302256" y="0"/>
                </a:lnTo>
                <a:cubicBezTo>
                  <a:pt x="5337323" y="0"/>
                  <a:pt x="5365750" y="28427"/>
                  <a:pt x="5365750" y="63494"/>
                </a:cubicBezTo>
                <a:lnTo>
                  <a:pt x="5365750" y="1365256"/>
                </a:lnTo>
                <a:cubicBezTo>
                  <a:pt x="5365750" y="1400323"/>
                  <a:pt x="5337323" y="1428750"/>
                  <a:pt x="5302256" y="1428750"/>
                </a:cubicBezTo>
                <a:lnTo>
                  <a:pt x="63494" y="1428750"/>
                </a:lnTo>
                <a:cubicBezTo>
                  <a:pt x="28427" y="1428750"/>
                  <a:pt x="0" y="1400323"/>
                  <a:pt x="0" y="1365256"/>
                </a:cubicBezTo>
                <a:lnTo>
                  <a:pt x="0" y="63494"/>
                </a:lnTo>
                <a:cubicBezTo>
                  <a:pt x="0" y="28451"/>
                  <a:pt x="28451" y="0"/>
                  <a:pt x="63494" y="0"/>
                </a:cubicBezTo>
                <a:close/>
              </a:path>
            </a:pathLst>
          </a:custGeom>
          <a:solidFill>
            <a:srgbClr val="9B8E7D">
              <a:alpha val="5098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Shape 36"/>
          <p:cNvSpPr/>
          <p:nvPr/>
        </p:nvSpPr>
        <p:spPr>
          <a:xfrm>
            <a:off x="7921625" y="1349375"/>
            <a:ext cx="1079500" cy="698500"/>
          </a:xfrm>
          <a:custGeom>
            <a:avLst/>
            <a:gdLst/>
            <a:ahLst/>
            <a:cxnLst/>
            <a:rect l="l" t="t" r="r" b="b"/>
            <a:pathLst>
              <a:path w="1079500" h="698500">
                <a:moveTo>
                  <a:pt x="31747" y="0"/>
                </a:moveTo>
                <a:lnTo>
                  <a:pt x="1047753" y="0"/>
                </a:lnTo>
                <a:cubicBezTo>
                  <a:pt x="1065286" y="0"/>
                  <a:pt x="1079500" y="14214"/>
                  <a:pt x="1079500" y="31747"/>
                </a:cubicBezTo>
                <a:lnTo>
                  <a:pt x="1079500" y="666753"/>
                </a:lnTo>
                <a:cubicBezTo>
                  <a:pt x="1079500" y="684286"/>
                  <a:pt x="1065286" y="698500"/>
                  <a:pt x="1047753" y="698500"/>
                </a:cubicBezTo>
                <a:lnTo>
                  <a:pt x="31747" y="698500"/>
                </a:lnTo>
                <a:cubicBezTo>
                  <a:pt x="14214" y="698500"/>
                  <a:pt x="0" y="684286"/>
                  <a:pt x="0" y="666753"/>
                </a:cubicBezTo>
                <a:lnTo>
                  <a:pt x="0" y="31747"/>
                </a:lnTo>
                <a:cubicBezTo>
                  <a:pt x="0" y="14225"/>
                  <a:pt x="14225" y="0"/>
                  <a:pt x="31747" y="0"/>
                </a:cubicBezTo>
                <a:close/>
              </a:path>
            </a:pathLst>
          </a:custGeom>
          <a:solidFill>
            <a:srgbClr val="A8B5A0">
              <a:alpha val="3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9" name="Text 37"/>
          <p:cNvSpPr/>
          <p:nvPr/>
        </p:nvSpPr>
        <p:spPr>
          <a:xfrm>
            <a:off x="8020844" y="1476375"/>
            <a:ext cx="8810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dirty="0">
                <a:solidFill>
                  <a:srgbClr val="9A95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True Negative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001000" y="1666875"/>
            <a:ext cx="9207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500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XX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9064625" y="1349375"/>
            <a:ext cx="1079500" cy="698500"/>
          </a:xfrm>
          <a:custGeom>
            <a:avLst/>
            <a:gdLst/>
            <a:ahLst/>
            <a:cxnLst/>
            <a:rect l="l" t="t" r="r" b="b"/>
            <a:pathLst>
              <a:path w="1079500" h="698500">
                <a:moveTo>
                  <a:pt x="31747" y="0"/>
                </a:moveTo>
                <a:lnTo>
                  <a:pt x="1047753" y="0"/>
                </a:lnTo>
                <a:cubicBezTo>
                  <a:pt x="1065286" y="0"/>
                  <a:pt x="1079500" y="14214"/>
                  <a:pt x="1079500" y="31747"/>
                </a:cubicBezTo>
                <a:lnTo>
                  <a:pt x="1079500" y="666753"/>
                </a:lnTo>
                <a:cubicBezTo>
                  <a:pt x="1079500" y="684286"/>
                  <a:pt x="1065286" y="698500"/>
                  <a:pt x="1047753" y="698500"/>
                </a:cubicBezTo>
                <a:lnTo>
                  <a:pt x="31747" y="698500"/>
                </a:lnTo>
                <a:cubicBezTo>
                  <a:pt x="14214" y="698500"/>
                  <a:pt x="0" y="684286"/>
                  <a:pt x="0" y="666753"/>
                </a:cubicBezTo>
                <a:lnTo>
                  <a:pt x="0" y="31747"/>
                </a:lnTo>
                <a:cubicBezTo>
                  <a:pt x="0" y="14225"/>
                  <a:pt x="14225" y="0"/>
                  <a:pt x="31747" y="0"/>
                </a:cubicBezTo>
                <a:close/>
              </a:path>
            </a:pathLst>
          </a:custGeom>
          <a:solidFill>
            <a:srgbClr val="C4A99B">
              <a:alpha val="3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2" name="Text 40"/>
          <p:cNvSpPr/>
          <p:nvPr/>
        </p:nvSpPr>
        <p:spPr>
          <a:xfrm>
            <a:off x="9163844" y="1476375"/>
            <a:ext cx="8810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dirty="0">
                <a:solidFill>
                  <a:srgbClr val="9A95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False Positive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9144000" y="1666875"/>
            <a:ext cx="9207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500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XX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921625" y="2111375"/>
            <a:ext cx="1079500" cy="698500"/>
          </a:xfrm>
          <a:custGeom>
            <a:avLst/>
            <a:gdLst/>
            <a:ahLst/>
            <a:cxnLst/>
            <a:rect l="l" t="t" r="r" b="b"/>
            <a:pathLst>
              <a:path w="1079500" h="698500">
                <a:moveTo>
                  <a:pt x="31747" y="0"/>
                </a:moveTo>
                <a:lnTo>
                  <a:pt x="1047753" y="0"/>
                </a:lnTo>
                <a:cubicBezTo>
                  <a:pt x="1065286" y="0"/>
                  <a:pt x="1079500" y="14214"/>
                  <a:pt x="1079500" y="31747"/>
                </a:cubicBezTo>
                <a:lnTo>
                  <a:pt x="1079500" y="666753"/>
                </a:lnTo>
                <a:cubicBezTo>
                  <a:pt x="1079500" y="684286"/>
                  <a:pt x="1065286" y="698500"/>
                  <a:pt x="1047753" y="698500"/>
                </a:cubicBezTo>
                <a:lnTo>
                  <a:pt x="31747" y="698500"/>
                </a:lnTo>
                <a:cubicBezTo>
                  <a:pt x="14214" y="698500"/>
                  <a:pt x="0" y="684286"/>
                  <a:pt x="0" y="666753"/>
                </a:cubicBezTo>
                <a:lnTo>
                  <a:pt x="0" y="31747"/>
                </a:lnTo>
                <a:cubicBezTo>
                  <a:pt x="0" y="14225"/>
                  <a:pt x="14225" y="0"/>
                  <a:pt x="31747" y="0"/>
                </a:cubicBezTo>
                <a:close/>
              </a:path>
            </a:pathLst>
          </a:custGeom>
          <a:solidFill>
            <a:srgbClr val="C4A99B">
              <a:alpha val="3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5" name="Text 43"/>
          <p:cNvSpPr/>
          <p:nvPr/>
        </p:nvSpPr>
        <p:spPr>
          <a:xfrm>
            <a:off x="8020844" y="2238375"/>
            <a:ext cx="8810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dirty="0">
                <a:solidFill>
                  <a:srgbClr val="9A95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False Negative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8001000" y="2428875"/>
            <a:ext cx="9207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500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XX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9064625" y="2111375"/>
            <a:ext cx="1079500" cy="698500"/>
          </a:xfrm>
          <a:custGeom>
            <a:avLst/>
            <a:gdLst/>
            <a:ahLst/>
            <a:cxnLst/>
            <a:rect l="l" t="t" r="r" b="b"/>
            <a:pathLst>
              <a:path w="1079500" h="698500">
                <a:moveTo>
                  <a:pt x="31747" y="0"/>
                </a:moveTo>
                <a:lnTo>
                  <a:pt x="1047753" y="0"/>
                </a:lnTo>
                <a:cubicBezTo>
                  <a:pt x="1065286" y="0"/>
                  <a:pt x="1079500" y="14214"/>
                  <a:pt x="1079500" y="31747"/>
                </a:cubicBezTo>
                <a:lnTo>
                  <a:pt x="1079500" y="666753"/>
                </a:lnTo>
                <a:cubicBezTo>
                  <a:pt x="1079500" y="684286"/>
                  <a:pt x="1065286" y="698500"/>
                  <a:pt x="1047753" y="698500"/>
                </a:cubicBezTo>
                <a:lnTo>
                  <a:pt x="31747" y="698500"/>
                </a:lnTo>
                <a:cubicBezTo>
                  <a:pt x="14214" y="698500"/>
                  <a:pt x="0" y="684286"/>
                  <a:pt x="0" y="666753"/>
                </a:cubicBezTo>
                <a:lnTo>
                  <a:pt x="0" y="31747"/>
                </a:lnTo>
                <a:cubicBezTo>
                  <a:pt x="0" y="14225"/>
                  <a:pt x="14225" y="0"/>
                  <a:pt x="31747" y="0"/>
                </a:cubicBezTo>
                <a:close/>
              </a:path>
            </a:pathLst>
          </a:custGeom>
          <a:solidFill>
            <a:srgbClr val="A8B5A0">
              <a:alpha val="3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8" name="Text 46"/>
          <p:cNvSpPr/>
          <p:nvPr/>
        </p:nvSpPr>
        <p:spPr>
          <a:xfrm>
            <a:off x="9163844" y="2238375"/>
            <a:ext cx="8810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dirty="0">
                <a:solidFill>
                  <a:srgbClr val="9A95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True Positive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9144000" y="2428875"/>
            <a:ext cx="9207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500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XX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6322219" y="2889250"/>
            <a:ext cx="5421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dirty="0">
                <a:solidFill>
                  <a:srgbClr val="9A95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[Confusion Matrix Screenshot Placeholder]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6191250" y="3365500"/>
            <a:ext cx="5683250" cy="2317750"/>
          </a:xfrm>
          <a:custGeom>
            <a:avLst/>
            <a:gdLst/>
            <a:ahLst/>
            <a:cxnLst/>
            <a:rect l="l" t="t" r="r" b="b"/>
            <a:pathLst>
              <a:path w="5683250" h="2317750">
                <a:moveTo>
                  <a:pt x="63506" y="0"/>
                </a:moveTo>
                <a:lnTo>
                  <a:pt x="5619744" y="0"/>
                </a:lnTo>
                <a:cubicBezTo>
                  <a:pt x="5654817" y="0"/>
                  <a:pt x="5683250" y="28433"/>
                  <a:pt x="5683250" y="63506"/>
                </a:cubicBezTo>
                <a:lnTo>
                  <a:pt x="5683250" y="2254244"/>
                </a:lnTo>
                <a:cubicBezTo>
                  <a:pt x="5683250" y="2289317"/>
                  <a:pt x="5654817" y="2317750"/>
                  <a:pt x="5619744" y="2317750"/>
                </a:cubicBezTo>
                <a:lnTo>
                  <a:pt x="63506" y="2317750"/>
                </a:lnTo>
                <a:cubicBezTo>
                  <a:pt x="28433" y="2317750"/>
                  <a:pt x="0" y="2289317"/>
                  <a:pt x="0" y="2254244"/>
                </a:cubicBezTo>
                <a:lnTo>
                  <a:pt x="0" y="63506"/>
                </a:lnTo>
                <a:cubicBezTo>
                  <a:pt x="0" y="28456"/>
                  <a:pt x="28456" y="0"/>
                  <a:pt x="63506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23813" dist="7938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52" name="Text 50"/>
          <p:cNvSpPr/>
          <p:nvPr/>
        </p:nvSpPr>
        <p:spPr>
          <a:xfrm>
            <a:off x="6314281" y="3524250"/>
            <a:ext cx="54371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25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ROC Curve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6350000" y="3841750"/>
            <a:ext cx="5365750" cy="1428750"/>
          </a:xfrm>
          <a:custGeom>
            <a:avLst/>
            <a:gdLst/>
            <a:ahLst/>
            <a:cxnLst/>
            <a:rect l="l" t="t" r="r" b="b"/>
            <a:pathLst>
              <a:path w="5365750" h="1428750">
                <a:moveTo>
                  <a:pt x="63494" y="0"/>
                </a:moveTo>
                <a:lnTo>
                  <a:pt x="5302256" y="0"/>
                </a:lnTo>
                <a:cubicBezTo>
                  <a:pt x="5337323" y="0"/>
                  <a:pt x="5365750" y="28427"/>
                  <a:pt x="5365750" y="63494"/>
                </a:cubicBezTo>
                <a:lnTo>
                  <a:pt x="5365750" y="1365256"/>
                </a:lnTo>
                <a:cubicBezTo>
                  <a:pt x="5365750" y="1400323"/>
                  <a:pt x="5337323" y="1428750"/>
                  <a:pt x="5302256" y="1428750"/>
                </a:cubicBezTo>
                <a:lnTo>
                  <a:pt x="63494" y="1428750"/>
                </a:lnTo>
                <a:cubicBezTo>
                  <a:pt x="28427" y="1428750"/>
                  <a:pt x="0" y="1400323"/>
                  <a:pt x="0" y="1365256"/>
                </a:cubicBezTo>
                <a:lnTo>
                  <a:pt x="0" y="63494"/>
                </a:lnTo>
                <a:cubicBezTo>
                  <a:pt x="0" y="28451"/>
                  <a:pt x="28451" y="0"/>
                  <a:pt x="63494" y="0"/>
                </a:cubicBezTo>
                <a:close/>
              </a:path>
            </a:pathLst>
          </a:custGeom>
          <a:solidFill>
            <a:srgbClr val="A8B5A0">
              <a:alpha val="5098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4" name="Shape 52"/>
          <p:cNvSpPr/>
          <p:nvPr/>
        </p:nvSpPr>
        <p:spPr>
          <a:xfrm>
            <a:off x="8842375" y="41275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47625" y="47625"/>
                </a:moveTo>
                <a:cubicBezTo>
                  <a:pt x="47625" y="34454"/>
                  <a:pt x="36984" y="23812"/>
                  <a:pt x="23812" y="23812"/>
                </a:cubicBezTo>
                <a:cubicBezTo>
                  <a:pt x="10641" y="23812"/>
                  <a:pt x="0" y="34454"/>
                  <a:pt x="0" y="47625"/>
                </a:cubicBezTo>
                <a:lnTo>
                  <a:pt x="0" y="297656"/>
                </a:lnTo>
                <a:cubicBezTo>
                  <a:pt x="0" y="330547"/>
                  <a:pt x="26640" y="357188"/>
                  <a:pt x="59531" y="357188"/>
                </a:cubicBezTo>
                <a:lnTo>
                  <a:pt x="357188" y="357188"/>
                </a:lnTo>
                <a:cubicBezTo>
                  <a:pt x="370359" y="357188"/>
                  <a:pt x="381000" y="346546"/>
                  <a:pt x="381000" y="333375"/>
                </a:cubicBezTo>
                <a:cubicBezTo>
                  <a:pt x="381000" y="320204"/>
                  <a:pt x="370359" y="309563"/>
                  <a:pt x="357188" y="309563"/>
                </a:cubicBezTo>
                <a:lnTo>
                  <a:pt x="59531" y="309563"/>
                </a:lnTo>
                <a:cubicBezTo>
                  <a:pt x="52983" y="309563"/>
                  <a:pt x="47625" y="304205"/>
                  <a:pt x="47625" y="297656"/>
                </a:cubicBezTo>
                <a:lnTo>
                  <a:pt x="47625" y="47625"/>
                </a:lnTo>
                <a:close/>
                <a:moveTo>
                  <a:pt x="350193" y="112068"/>
                </a:moveTo>
                <a:cubicBezTo>
                  <a:pt x="359494" y="102766"/>
                  <a:pt x="359494" y="87660"/>
                  <a:pt x="350193" y="78358"/>
                </a:cubicBezTo>
                <a:cubicBezTo>
                  <a:pt x="340891" y="69056"/>
                  <a:pt x="325785" y="69056"/>
                  <a:pt x="316483" y="78358"/>
                </a:cubicBezTo>
                <a:lnTo>
                  <a:pt x="238125" y="156790"/>
                </a:lnTo>
                <a:lnTo>
                  <a:pt x="195411" y="114151"/>
                </a:lnTo>
                <a:cubicBezTo>
                  <a:pt x="186110" y="104849"/>
                  <a:pt x="171004" y="104849"/>
                  <a:pt x="161702" y="114151"/>
                </a:cubicBezTo>
                <a:lnTo>
                  <a:pt x="90264" y="185589"/>
                </a:lnTo>
                <a:cubicBezTo>
                  <a:pt x="80963" y="194890"/>
                  <a:pt x="80963" y="209996"/>
                  <a:pt x="90264" y="219298"/>
                </a:cubicBezTo>
                <a:cubicBezTo>
                  <a:pt x="99566" y="228600"/>
                  <a:pt x="114672" y="228600"/>
                  <a:pt x="123974" y="219298"/>
                </a:cubicBezTo>
                <a:lnTo>
                  <a:pt x="178594" y="164678"/>
                </a:lnTo>
                <a:lnTo>
                  <a:pt x="221307" y="207392"/>
                </a:lnTo>
                <a:cubicBezTo>
                  <a:pt x="230609" y="216694"/>
                  <a:pt x="245715" y="216694"/>
                  <a:pt x="255017" y="207392"/>
                </a:cubicBezTo>
                <a:lnTo>
                  <a:pt x="350267" y="112142"/>
                </a:lnTo>
                <a:close/>
              </a:path>
            </a:pathLst>
          </a:custGeom>
          <a:solidFill>
            <a:srgbClr val="A8B5A0">
              <a:alpha val="3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5" name="Text 53"/>
          <p:cNvSpPr/>
          <p:nvPr/>
        </p:nvSpPr>
        <p:spPr>
          <a:xfrm>
            <a:off x="8350250" y="4603750"/>
            <a:ext cx="1365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dirty="0">
                <a:solidFill>
                  <a:srgbClr val="9A95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ROC Curve with AUC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8354219" y="4826000"/>
            <a:ext cx="1357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dirty="0">
                <a:solidFill>
                  <a:srgbClr val="9A9590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Model discrimination ability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6322219" y="5365750"/>
            <a:ext cx="5421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dirty="0">
                <a:solidFill>
                  <a:srgbClr val="9A95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[ROC Curve Screenshot Placeholder]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6191250" y="5842000"/>
            <a:ext cx="2778125" cy="730250"/>
          </a:xfrm>
          <a:custGeom>
            <a:avLst/>
            <a:gdLst/>
            <a:ahLst/>
            <a:cxnLst/>
            <a:rect l="l" t="t" r="r" b="b"/>
            <a:pathLst>
              <a:path w="2778125" h="730250">
                <a:moveTo>
                  <a:pt x="63503" y="0"/>
                </a:moveTo>
                <a:lnTo>
                  <a:pt x="2714622" y="0"/>
                </a:lnTo>
                <a:cubicBezTo>
                  <a:pt x="2749694" y="0"/>
                  <a:pt x="2778125" y="28431"/>
                  <a:pt x="2778125" y="63503"/>
                </a:cubicBezTo>
                <a:lnTo>
                  <a:pt x="2778125" y="666747"/>
                </a:lnTo>
                <a:cubicBezTo>
                  <a:pt x="2778125" y="701819"/>
                  <a:pt x="2749694" y="730250"/>
                  <a:pt x="2714622" y="730250"/>
                </a:cubicBezTo>
                <a:lnTo>
                  <a:pt x="63503" y="730250"/>
                </a:lnTo>
                <a:cubicBezTo>
                  <a:pt x="28431" y="730250"/>
                  <a:pt x="0" y="701819"/>
                  <a:pt x="0" y="666747"/>
                </a:cubicBezTo>
                <a:lnTo>
                  <a:pt x="0" y="63503"/>
                </a:lnTo>
                <a:cubicBezTo>
                  <a:pt x="0" y="28455"/>
                  <a:pt x="28455" y="0"/>
                  <a:pt x="63503" y="0"/>
                </a:cubicBezTo>
                <a:close/>
              </a:path>
            </a:pathLst>
          </a:custGeom>
          <a:solidFill>
            <a:srgbClr val="9B8E7D">
              <a:alpha val="1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9" name="Text 57"/>
          <p:cNvSpPr/>
          <p:nvPr/>
        </p:nvSpPr>
        <p:spPr>
          <a:xfrm>
            <a:off x="6290469" y="5969000"/>
            <a:ext cx="25796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dirty="0">
                <a:solidFill>
                  <a:srgbClr val="9A95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Accuracy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6258719" y="6159500"/>
            <a:ext cx="264318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XX%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9096375" y="5842000"/>
            <a:ext cx="2778125" cy="730250"/>
          </a:xfrm>
          <a:custGeom>
            <a:avLst/>
            <a:gdLst/>
            <a:ahLst/>
            <a:cxnLst/>
            <a:rect l="l" t="t" r="r" b="b"/>
            <a:pathLst>
              <a:path w="2778125" h="730250">
                <a:moveTo>
                  <a:pt x="63503" y="0"/>
                </a:moveTo>
                <a:lnTo>
                  <a:pt x="2714622" y="0"/>
                </a:lnTo>
                <a:cubicBezTo>
                  <a:pt x="2749694" y="0"/>
                  <a:pt x="2778125" y="28431"/>
                  <a:pt x="2778125" y="63503"/>
                </a:cubicBezTo>
                <a:lnTo>
                  <a:pt x="2778125" y="666747"/>
                </a:lnTo>
                <a:cubicBezTo>
                  <a:pt x="2778125" y="701819"/>
                  <a:pt x="2749694" y="730250"/>
                  <a:pt x="2714622" y="730250"/>
                </a:cubicBezTo>
                <a:lnTo>
                  <a:pt x="63503" y="730250"/>
                </a:lnTo>
                <a:cubicBezTo>
                  <a:pt x="28431" y="730250"/>
                  <a:pt x="0" y="701819"/>
                  <a:pt x="0" y="666747"/>
                </a:cubicBezTo>
                <a:lnTo>
                  <a:pt x="0" y="63503"/>
                </a:lnTo>
                <a:cubicBezTo>
                  <a:pt x="0" y="28455"/>
                  <a:pt x="28455" y="0"/>
                  <a:pt x="63503" y="0"/>
                </a:cubicBezTo>
                <a:close/>
              </a:path>
            </a:pathLst>
          </a:custGeom>
          <a:solidFill>
            <a:srgbClr val="A8B5A0">
              <a:alpha val="1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2" name="Text 60"/>
          <p:cNvSpPr/>
          <p:nvPr/>
        </p:nvSpPr>
        <p:spPr>
          <a:xfrm>
            <a:off x="9195594" y="5969000"/>
            <a:ext cx="25796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dirty="0">
                <a:solidFill>
                  <a:srgbClr val="9A95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AUC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9163844" y="6159500"/>
            <a:ext cx="264318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0.XX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333375" y="6699250"/>
            <a:ext cx="11541125" cy="666750"/>
          </a:xfrm>
          <a:custGeom>
            <a:avLst/>
            <a:gdLst/>
            <a:ahLst/>
            <a:cxnLst/>
            <a:rect l="l" t="t" r="r" b="b"/>
            <a:pathLst>
              <a:path w="11541125" h="666750">
                <a:moveTo>
                  <a:pt x="31750" y="0"/>
                </a:moveTo>
                <a:lnTo>
                  <a:pt x="11477624" y="0"/>
                </a:lnTo>
                <a:cubicBezTo>
                  <a:pt x="11512695" y="0"/>
                  <a:pt x="11541125" y="28430"/>
                  <a:pt x="11541125" y="63501"/>
                </a:cubicBezTo>
                <a:lnTo>
                  <a:pt x="11541125" y="603249"/>
                </a:lnTo>
                <a:cubicBezTo>
                  <a:pt x="11541125" y="638320"/>
                  <a:pt x="11512695" y="666750"/>
                  <a:pt x="1147762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C4A99B">
              <a:alpha val="1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5" name="Shape 63"/>
          <p:cNvSpPr/>
          <p:nvPr/>
        </p:nvSpPr>
        <p:spPr>
          <a:xfrm>
            <a:off x="333375" y="6699250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C4A99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6" name="Shape 64"/>
          <p:cNvSpPr/>
          <p:nvPr/>
        </p:nvSpPr>
        <p:spPr>
          <a:xfrm>
            <a:off x="492125" y="6850063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55563" y="39688"/>
                </a:moveTo>
                <a:cubicBezTo>
                  <a:pt x="55563" y="35307"/>
                  <a:pt x="59119" y="31750"/>
                  <a:pt x="63500" y="31750"/>
                </a:cubicBezTo>
                <a:cubicBezTo>
                  <a:pt x="67881" y="31750"/>
                  <a:pt x="71438" y="35307"/>
                  <a:pt x="71438" y="39688"/>
                </a:cubicBezTo>
                <a:cubicBezTo>
                  <a:pt x="71438" y="44068"/>
                  <a:pt x="67881" y="47625"/>
                  <a:pt x="63500" y="47625"/>
                </a:cubicBezTo>
                <a:cubicBezTo>
                  <a:pt x="59119" y="47625"/>
                  <a:pt x="55563" y="44068"/>
                  <a:pt x="55563" y="39688"/>
                </a:cubicBezTo>
                <a:close/>
                <a:moveTo>
                  <a:pt x="53578" y="55563"/>
                </a:moveTo>
                <a:lnTo>
                  <a:pt x="65484" y="55563"/>
                </a:lnTo>
                <a:cubicBezTo>
                  <a:pt x="68783" y="55563"/>
                  <a:pt x="71438" y="58217"/>
                  <a:pt x="71438" y="61516"/>
                </a:cubicBezTo>
                <a:lnTo>
                  <a:pt x="71438" y="83344"/>
                </a:lnTo>
                <a:lnTo>
                  <a:pt x="73422" y="83344"/>
                </a:lnTo>
                <a:cubicBezTo>
                  <a:pt x="76721" y="83344"/>
                  <a:pt x="79375" y="85998"/>
                  <a:pt x="79375" y="89297"/>
                </a:cubicBezTo>
                <a:cubicBezTo>
                  <a:pt x="79375" y="92596"/>
                  <a:pt x="76721" y="95250"/>
                  <a:pt x="73422" y="95250"/>
                </a:cubicBezTo>
                <a:lnTo>
                  <a:pt x="53578" y="95250"/>
                </a:lnTo>
                <a:cubicBezTo>
                  <a:pt x="50279" y="95250"/>
                  <a:pt x="47625" y="92596"/>
                  <a:pt x="47625" y="89297"/>
                </a:cubicBezTo>
                <a:cubicBezTo>
                  <a:pt x="47625" y="85998"/>
                  <a:pt x="50279" y="83344"/>
                  <a:pt x="53578" y="83344"/>
                </a:cubicBezTo>
                <a:lnTo>
                  <a:pt x="59531" y="83344"/>
                </a:lnTo>
                <a:lnTo>
                  <a:pt x="59531" y="67469"/>
                </a:lnTo>
                <a:lnTo>
                  <a:pt x="53578" y="67469"/>
                </a:lnTo>
                <a:cubicBezTo>
                  <a:pt x="50279" y="67469"/>
                  <a:pt x="47625" y="64815"/>
                  <a:pt x="47625" y="61516"/>
                </a:cubicBezTo>
                <a:cubicBezTo>
                  <a:pt x="47625" y="58217"/>
                  <a:pt x="50279" y="55563"/>
                  <a:pt x="53578" y="55563"/>
                </a:cubicBezTo>
                <a:close/>
              </a:path>
            </a:pathLst>
          </a:custGeom>
          <a:solidFill>
            <a:srgbClr val="C4A99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7" name="Text 65"/>
          <p:cNvSpPr/>
          <p:nvPr/>
        </p:nvSpPr>
        <p:spPr>
          <a:xfrm>
            <a:off x="674688" y="6826250"/>
            <a:ext cx="11136313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Core Insight:</a:t>
            </a:r>
            <a:r>
              <a:rPr lang="en-US" sz="1000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Classification gave us a second perspective on productivity, but also showed that the distinction between high and low productivity is </a:t>
            </a:r>
            <a:r>
              <a:rPr lang="en-US" sz="1000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not completely explained</a:t>
            </a:r>
            <a:r>
              <a:rPr lang="en-US" sz="1000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by behaviour variables alone.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img.freepik.com/7b963585cd434c230a1d0320543b2a5eac78a64c.jpg"/>
          <p:cNvPicPr>
            <a:picLocks noChangeAspect="1"/>
          </p:cNvPicPr>
          <p:nvPr/>
        </p:nvPicPr>
        <p:blipFill>
          <a:blip r:embed="rId3">
            <a:alphaModFix amt="20000"/>
          </a:blip>
          <a:srcRect t="681" b="681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7F5F3">
              <a:alpha val="9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1"/>
          <p:cNvSpPr/>
          <p:nvPr/>
        </p:nvSpPr>
        <p:spPr>
          <a:xfrm>
            <a:off x="381000" y="3810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190500" y="0"/>
                </a:moveTo>
                <a:lnTo>
                  <a:pt x="190500" y="0"/>
                </a:lnTo>
                <a:cubicBezTo>
                  <a:pt x="295640" y="0"/>
                  <a:pt x="381000" y="85360"/>
                  <a:pt x="381000" y="190500"/>
                </a:cubicBezTo>
                <a:lnTo>
                  <a:pt x="381000" y="190500"/>
                </a:lnTo>
                <a:cubicBezTo>
                  <a:pt x="381000" y="295640"/>
                  <a:pt x="295640" y="381000"/>
                  <a:pt x="190500" y="381000"/>
                </a:cubicBezTo>
                <a:lnTo>
                  <a:pt x="190500" y="381000"/>
                </a:lnTo>
                <a:cubicBezTo>
                  <a:pt x="85360" y="381000"/>
                  <a:pt x="0" y="295640"/>
                  <a:pt x="0" y="190500"/>
                </a:cubicBezTo>
                <a:lnTo>
                  <a:pt x="0" y="190500"/>
                </a:lnTo>
                <a:cubicBezTo>
                  <a:pt x="0" y="85360"/>
                  <a:pt x="85360" y="0"/>
                  <a:pt x="190500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2"/>
          <p:cNvSpPr/>
          <p:nvPr/>
        </p:nvSpPr>
        <p:spPr>
          <a:xfrm>
            <a:off x="338138" y="381000"/>
            <a:ext cx="4667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F7F5F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6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76300" y="381000"/>
            <a:ext cx="57626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Limitations, Lessons, and Conclusion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00050" y="1028700"/>
            <a:ext cx="3667125" cy="3114675"/>
          </a:xfrm>
          <a:custGeom>
            <a:avLst/>
            <a:gdLst/>
            <a:ahLst/>
            <a:cxnLst/>
            <a:rect l="l" t="t" r="r" b="b"/>
            <a:pathLst>
              <a:path w="3667125" h="3114675">
                <a:moveTo>
                  <a:pt x="38100" y="0"/>
                </a:moveTo>
                <a:lnTo>
                  <a:pt x="3590940" y="0"/>
                </a:lnTo>
                <a:cubicBezTo>
                  <a:pt x="3633016" y="0"/>
                  <a:pt x="3667125" y="34109"/>
                  <a:pt x="3667125" y="76185"/>
                </a:cubicBezTo>
                <a:lnTo>
                  <a:pt x="3667125" y="3038490"/>
                </a:lnTo>
                <a:cubicBezTo>
                  <a:pt x="3667125" y="3080566"/>
                  <a:pt x="3633016" y="3114675"/>
                  <a:pt x="3590940" y="3114675"/>
                </a:cubicBezTo>
                <a:lnTo>
                  <a:pt x="38100" y="3114675"/>
                </a:lnTo>
                <a:cubicBezTo>
                  <a:pt x="17058" y="3114675"/>
                  <a:pt x="0" y="3097617"/>
                  <a:pt x="0" y="3076575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/>
          <a:effectLst>
            <a:outerShdw blurRad="28575" dist="952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8" name="Shape 5"/>
          <p:cNvSpPr/>
          <p:nvPr/>
        </p:nvSpPr>
        <p:spPr>
          <a:xfrm>
            <a:off x="400050" y="1028700"/>
            <a:ext cx="38100" cy="3114675"/>
          </a:xfrm>
          <a:custGeom>
            <a:avLst/>
            <a:gdLst/>
            <a:ahLst/>
            <a:cxnLst/>
            <a:rect l="l" t="t" r="r" b="b"/>
            <a:pathLst>
              <a:path w="38100" h="3114675">
                <a:moveTo>
                  <a:pt x="38100" y="0"/>
                </a:moveTo>
                <a:lnTo>
                  <a:pt x="38100" y="0"/>
                </a:lnTo>
                <a:lnTo>
                  <a:pt x="38100" y="3114675"/>
                </a:lnTo>
                <a:lnTo>
                  <a:pt x="38100" y="3114675"/>
                </a:lnTo>
                <a:cubicBezTo>
                  <a:pt x="17072" y="3114675"/>
                  <a:pt x="0" y="3097603"/>
                  <a:pt x="0" y="3076575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C4A99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Shape 6"/>
          <p:cNvSpPr/>
          <p:nvPr/>
        </p:nvSpPr>
        <p:spPr>
          <a:xfrm>
            <a:off x="633413" y="125730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0"/>
                </a:moveTo>
                <a:cubicBezTo>
                  <a:pt x="100719" y="0"/>
                  <a:pt x="105742" y="3014"/>
                  <a:pt x="108347" y="7813"/>
                </a:cubicBezTo>
                <a:lnTo>
                  <a:pt x="188714" y="156642"/>
                </a:lnTo>
                <a:cubicBezTo>
                  <a:pt x="191207" y="161255"/>
                  <a:pt x="191095" y="166836"/>
                  <a:pt x="188416" y="171338"/>
                </a:cubicBezTo>
                <a:cubicBezTo>
                  <a:pt x="185737" y="175840"/>
                  <a:pt x="180863" y="178594"/>
                  <a:pt x="175617" y="178594"/>
                </a:cubicBezTo>
                <a:lnTo>
                  <a:pt x="14883" y="178594"/>
                </a:lnTo>
                <a:cubicBezTo>
                  <a:pt x="9637" y="178594"/>
                  <a:pt x="4800" y="175840"/>
                  <a:pt x="2084" y="171338"/>
                </a:cubicBezTo>
                <a:cubicBezTo>
                  <a:pt x="-633" y="166836"/>
                  <a:pt x="-707" y="161255"/>
                  <a:pt x="1786" y="156642"/>
                </a:cubicBezTo>
                <a:lnTo>
                  <a:pt x="82153" y="7813"/>
                </a:lnTo>
                <a:cubicBezTo>
                  <a:pt x="84758" y="3014"/>
                  <a:pt x="89781" y="0"/>
                  <a:pt x="95250" y="0"/>
                </a:cubicBezTo>
                <a:close/>
                <a:moveTo>
                  <a:pt x="95250" y="62508"/>
                </a:moveTo>
                <a:cubicBezTo>
                  <a:pt x="90301" y="62508"/>
                  <a:pt x="86320" y="66489"/>
                  <a:pt x="86320" y="71438"/>
                </a:cubicBezTo>
                <a:lnTo>
                  <a:pt x="86320" y="113109"/>
                </a:lnTo>
                <a:cubicBezTo>
                  <a:pt x="86320" y="118058"/>
                  <a:pt x="90301" y="122039"/>
                  <a:pt x="95250" y="122039"/>
                </a:cubicBezTo>
                <a:cubicBezTo>
                  <a:pt x="100199" y="122039"/>
                  <a:pt x="104180" y="118058"/>
                  <a:pt x="104180" y="113109"/>
                </a:cubicBezTo>
                <a:lnTo>
                  <a:pt x="104180" y="71438"/>
                </a:lnTo>
                <a:cubicBezTo>
                  <a:pt x="104180" y="66489"/>
                  <a:pt x="100199" y="62508"/>
                  <a:pt x="95250" y="62508"/>
                </a:cubicBezTo>
                <a:close/>
                <a:moveTo>
                  <a:pt x="105184" y="142875"/>
                </a:moveTo>
                <a:cubicBezTo>
                  <a:pt x="105410" y="139188"/>
                  <a:pt x="103571" y="135679"/>
                  <a:pt x="100410" y="133767"/>
                </a:cubicBezTo>
                <a:cubicBezTo>
                  <a:pt x="97249" y="131855"/>
                  <a:pt x="93288" y="131855"/>
                  <a:pt x="90127" y="133767"/>
                </a:cubicBezTo>
                <a:cubicBezTo>
                  <a:pt x="86966" y="135679"/>
                  <a:pt x="85127" y="139188"/>
                  <a:pt x="85353" y="142875"/>
                </a:cubicBezTo>
                <a:cubicBezTo>
                  <a:pt x="85127" y="146562"/>
                  <a:pt x="86966" y="150071"/>
                  <a:pt x="90127" y="151983"/>
                </a:cubicBezTo>
                <a:cubicBezTo>
                  <a:pt x="93288" y="153895"/>
                  <a:pt x="97249" y="153895"/>
                  <a:pt x="100410" y="151983"/>
                </a:cubicBezTo>
                <a:cubicBezTo>
                  <a:pt x="103571" y="150071"/>
                  <a:pt x="105410" y="146562"/>
                  <a:pt x="105184" y="142875"/>
                </a:cubicBezTo>
                <a:close/>
              </a:path>
            </a:pathLst>
          </a:custGeom>
          <a:solidFill>
            <a:srgbClr val="C4A99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7"/>
          <p:cNvSpPr/>
          <p:nvPr/>
        </p:nvSpPr>
        <p:spPr>
          <a:xfrm>
            <a:off x="847725" y="1219200"/>
            <a:ext cx="3124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Difficulties We Faced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09600" y="17145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C4A99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9"/>
          <p:cNvSpPr/>
          <p:nvPr/>
        </p:nvSpPr>
        <p:spPr>
          <a:xfrm>
            <a:off x="800100" y="1638300"/>
            <a:ext cx="315277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Some visually promising variables were </a:t>
            </a:r>
            <a:r>
              <a:rPr lang="en-US" sz="120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not significant</a:t>
            </a:r>
            <a:r>
              <a:rPr lang="en-US" sz="12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in final models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09600" y="23622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C4A99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1"/>
          <p:cNvSpPr/>
          <p:nvPr/>
        </p:nvSpPr>
        <p:spPr>
          <a:xfrm>
            <a:off x="800100" y="2286000"/>
            <a:ext cx="315277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Logistic modelling initially </a:t>
            </a:r>
            <a:r>
              <a:rPr lang="en-US" sz="120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failed due to preprocessing order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09600" y="30099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C4A99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3"/>
          <p:cNvSpPr/>
          <p:nvPr/>
        </p:nvSpPr>
        <p:spPr>
          <a:xfrm>
            <a:off x="800100" y="2933700"/>
            <a:ext cx="315277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We learned that </a:t>
            </a:r>
            <a:r>
              <a:rPr lang="en-US" sz="120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target creation should happen before train/test split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273451" y="1028700"/>
            <a:ext cx="3667125" cy="3114675"/>
          </a:xfrm>
          <a:custGeom>
            <a:avLst/>
            <a:gdLst/>
            <a:ahLst/>
            <a:cxnLst/>
            <a:rect l="l" t="t" r="r" b="b"/>
            <a:pathLst>
              <a:path w="3667125" h="3114675">
                <a:moveTo>
                  <a:pt x="38100" y="0"/>
                </a:moveTo>
                <a:lnTo>
                  <a:pt x="3590940" y="0"/>
                </a:lnTo>
                <a:cubicBezTo>
                  <a:pt x="3633016" y="0"/>
                  <a:pt x="3667125" y="34109"/>
                  <a:pt x="3667125" y="76185"/>
                </a:cubicBezTo>
                <a:lnTo>
                  <a:pt x="3667125" y="3038490"/>
                </a:lnTo>
                <a:cubicBezTo>
                  <a:pt x="3667125" y="3080566"/>
                  <a:pt x="3633016" y="3114675"/>
                  <a:pt x="3590940" y="3114675"/>
                </a:cubicBezTo>
                <a:lnTo>
                  <a:pt x="38100" y="3114675"/>
                </a:lnTo>
                <a:cubicBezTo>
                  <a:pt x="17058" y="3114675"/>
                  <a:pt x="0" y="3097617"/>
                  <a:pt x="0" y="3076575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/>
          <a:effectLst>
            <a:outerShdw blurRad="28575" dist="952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5"/>
          <p:cNvSpPr/>
          <p:nvPr/>
        </p:nvSpPr>
        <p:spPr>
          <a:xfrm>
            <a:off x="4273451" y="1028700"/>
            <a:ext cx="38100" cy="3114675"/>
          </a:xfrm>
          <a:custGeom>
            <a:avLst/>
            <a:gdLst/>
            <a:ahLst/>
            <a:cxnLst/>
            <a:rect l="l" t="t" r="r" b="b"/>
            <a:pathLst>
              <a:path w="38100" h="3114675">
                <a:moveTo>
                  <a:pt x="38100" y="0"/>
                </a:moveTo>
                <a:lnTo>
                  <a:pt x="38100" y="0"/>
                </a:lnTo>
                <a:lnTo>
                  <a:pt x="38100" y="3114675"/>
                </a:lnTo>
                <a:lnTo>
                  <a:pt x="38100" y="3114675"/>
                </a:lnTo>
                <a:cubicBezTo>
                  <a:pt x="17072" y="3114675"/>
                  <a:pt x="0" y="3097603"/>
                  <a:pt x="0" y="3076575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6"/>
          <p:cNvSpPr/>
          <p:nvPr/>
        </p:nvSpPr>
        <p:spPr>
          <a:xfrm>
            <a:off x="4506813" y="125730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36624" y="153479"/>
                </a:moveTo>
                <a:lnTo>
                  <a:pt x="37021" y="53876"/>
                </a:lnTo>
                <a:cubicBezTo>
                  <a:pt x="28687" y="65559"/>
                  <a:pt x="23812" y="79846"/>
                  <a:pt x="23812" y="95250"/>
                </a:cubicBezTo>
                <a:cubicBezTo>
                  <a:pt x="23812" y="134689"/>
                  <a:pt x="55811" y="166688"/>
                  <a:pt x="95250" y="166688"/>
                </a:cubicBezTo>
                <a:cubicBezTo>
                  <a:pt x="110691" y="166688"/>
                  <a:pt x="124978" y="161813"/>
                  <a:pt x="136624" y="153479"/>
                </a:cubicBezTo>
                <a:close/>
                <a:moveTo>
                  <a:pt x="153479" y="136624"/>
                </a:moveTo>
                <a:cubicBezTo>
                  <a:pt x="161813" y="124941"/>
                  <a:pt x="166688" y="110654"/>
                  <a:pt x="166688" y="95250"/>
                </a:cubicBezTo>
                <a:cubicBezTo>
                  <a:pt x="166688" y="55811"/>
                  <a:pt x="134689" y="23812"/>
                  <a:pt x="95250" y="23812"/>
                </a:cubicBezTo>
                <a:cubicBezTo>
                  <a:pt x="79809" y="23812"/>
                  <a:pt x="65522" y="28687"/>
                  <a:pt x="53876" y="37021"/>
                </a:cubicBezTo>
                <a:lnTo>
                  <a:pt x="153479" y="136624"/>
                </a:lnTo>
                <a:close/>
                <a:moveTo>
                  <a:pt x="0" y="95250"/>
                </a:moveTo>
                <a:cubicBezTo>
                  <a:pt x="0" y="42680"/>
                  <a:pt x="42680" y="0"/>
                  <a:pt x="95250" y="0"/>
                </a:cubicBezTo>
                <a:cubicBezTo>
                  <a:pt x="147820" y="0"/>
                  <a:pt x="190500" y="42680"/>
                  <a:pt x="190500" y="95250"/>
                </a:cubicBezTo>
                <a:cubicBezTo>
                  <a:pt x="190500" y="147820"/>
                  <a:pt x="147820" y="190500"/>
                  <a:pt x="95250" y="190500"/>
                </a:cubicBezTo>
                <a:cubicBezTo>
                  <a:pt x="42680" y="190500"/>
                  <a:pt x="0" y="147820"/>
                  <a:pt x="0" y="9525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7"/>
          <p:cNvSpPr/>
          <p:nvPr/>
        </p:nvSpPr>
        <p:spPr>
          <a:xfrm>
            <a:off x="4721126" y="1219200"/>
            <a:ext cx="3124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4483001" y="17145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Text 19"/>
          <p:cNvSpPr/>
          <p:nvPr/>
        </p:nvSpPr>
        <p:spPr>
          <a:xfrm>
            <a:off x="4673501" y="1638300"/>
            <a:ext cx="315277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Behavioural variables may </a:t>
            </a:r>
            <a:r>
              <a:rPr lang="en-US" sz="120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not capture all influences</a:t>
            </a:r>
            <a:r>
              <a:rPr lang="en-US" sz="12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on productivity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4483001" y="23622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1"/>
          <p:cNvSpPr/>
          <p:nvPr/>
        </p:nvSpPr>
        <p:spPr>
          <a:xfrm>
            <a:off x="4673501" y="2286000"/>
            <a:ext cx="315277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Binary classification </a:t>
            </a:r>
            <a:r>
              <a:rPr lang="en-US" sz="120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loses information</a:t>
            </a:r>
            <a:r>
              <a:rPr lang="en-US" sz="12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from the original continuous score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4483001" y="30099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3"/>
          <p:cNvSpPr/>
          <p:nvPr/>
        </p:nvSpPr>
        <p:spPr>
          <a:xfrm>
            <a:off x="4673501" y="2933700"/>
            <a:ext cx="2705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Results show </a:t>
            </a:r>
            <a:r>
              <a:rPr lang="en-US" sz="120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association, not causation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8147000" y="1028700"/>
            <a:ext cx="3667125" cy="3114675"/>
          </a:xfrm>
          <a:custGeom>
            <a:avLst/>
            <a:gdLst/>
            <a:ahLst/>
            <a:cxnLst/>
            <a:rect l="l" t="t" r="r" b="b"/>
            <a:pathLst>
              <a:path w="3667125" h="3114675">
                <a:moveTo>
                  <a:pt x="38100" y="0"/>
                </a:moveTo>
                <a:lnTo>
                  <a:pt x="3590940" y="0"/>
                </a:lnTo>
                <a:cubicBezTo>
                  <a:pt x="3633016" y="0"/>
                  <a:pt x="3667125" y="34109"/>
                  <a:pt x="3667125" y="76185"/>
                </a:cubicBezTo>
                <a:lnTo>
                  <a:pt x="3667125" y="3038490"/>
                </a:lnTo>
                <a:cubicBezTo>
                  <a:pt x="3667125" y="3080566"/>
                  <a:pt x="3633016" y="3114675"/>
                  <a:pt x="3590940" y="3114675"/>
                </a:cubicBezTo>
                <a:lnTo>
                  <a:pt x="38100" y="3114675"/>
                </a:lnTo>
                <a:cubicBezTo>
                  <a:pt x="17058" y="3114675"/>
                  <a:pt x="0" y="3097617"/>
                  <a:pt x="0" y="3076575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/>
          <a:effectLst>
            <a:outerShdw blurRad="28575" dist="952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5"/>
          <p:cNvSpPr/>
          <p:nvPr/>
        </p:nvSpPr>
        <p:spPr>
          <a:xfrm>
            <a:off x="8147000" y="1028700"/>
            <a:ext cx="38100" cy="3114675"/>
          </a:xfrm>
          <a:custGeom>
            <a:avLst/>
            <a:gdLst/>
            <a:ahLst/>
            <a:cxnLst/>
            <a:rect l="l" t="t" r="r" b="b"/>
            <a:pathLst>
              <a:path w="38100" h="3114675">
                <a:moveTo>
                  <a:pt x="38100" y="0"/>
                </a:moveTo>
                <a:lnTo>
                  <a:pt x="38100" y="0"/>
                </a:lnTo>
                <a:lnTo>
                  <a:pt x="38100" y="3114675"/>
                </a:lnTo>
                <a:lnTo>
                  <a:pt x="38100" y="3114675"/>
                </a:lnTo>
                <a:cubicBezTo>
                  <a:pt x="17072" y="3114675"/>
                  <a:pt x="0" y="3097603"/>
                  <a:pt x="0" y="3076575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6"/>
          <p:cNvSpPr/>
          <p:nvPr/>
        </p:nvSpPr>
        <p:spPr>
          <a:xfrm>
            <a:off x="8380363" y="125730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190500"/>
                </a:moveTo>
                <a:cubicBezTo>
                  <a:pt x="147820" y="190500"/>
                  <a:pt x="190500" y="147820"/>
                  <a:pt x="190500" y="95250"/>
                </a:cubicBezTo>
                <a:cubicBezTo>
                  <a:pt x="190500" y="42680"/>
                  <a:pt x="147820" y="0"/>
                  <a:pt x="95250" y="0"/>
                </a:cubicBezTo>
                <a:cubicBezTo>
                  <a:pt x="42680" y="0"/>
                  <a:pt x="0" y="42680"/>
                  <a:pt x="0" y="95250"/>
                </a:cubicBezTo>
                <a:cubicBezTo>
                  <a:pt x="0" y="147820"/>
                  <a:pt x="42680" y="190500"/>
                  <a:pt x="95250" y="190500"/>
                </a:cubicBezTo>
                <a:close/>
                <a:moveTo>
                  <a:pt x="126653" y="79139"/>
                </a:moveTo>
                <a:lnTo>
                  <a:pt x="96887" y="126764"/>
                </a:lnTo>
                <a:cubicBezTo>
                  <a:pt x="95324" y="129257"/>
                  <a:pt x="92646" y="130820"/>
                  <a:pt x="89706" y="130969"/>
                </a:cubicBezTo>
                <a:cubicBezTo>
                  <a:pt x="86767" y="131118"/>
                  <a:pt x="83939" y="129778"/>
                  <a:pt x="82190" y="127397"/>
                </a:cubicBezTo>
                <a:lnTo>
                  <a:pt x="64331" y="103584"/>
                </a:lnTo>
                <a:cubicBezTo>
                  <a:pt x="61354" y="99640"/>
                  <a:pt x="62173" y="94059"/>
                  <a:pt x="66117" y="91083"/>
                </a:cubicBezTo>
                <a:cubicBezTo>
                  <a:pt x="70061" y="88106"/>
                  <a:pt x="75642" y="88925"/>
                  <a:pt x="78618" y="92869"/>
                </a:cubicBezTo>
                <a:lnTo>
                  <a:pt x="88664" y="106263"/>
                </a:lnTo>
                <a:lnTo>
                  <a:pt x="111509" y="69689"/>
                </a:lnTo>
                <a:cubicBezTo>
                  <a:pt x="114114" y="65522"/>
                  <a:pt x="119621" y="64219"/>
                  <a:pt x="123825" y="66861"/>
                </a:cubicBezTo>
                <a:cubicBezTo>
                  <a:pt x="128029" y="69503"/>
                  <a:pt x="129294" y="74972"/>
                  <a:pt x="126653" y="79177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7"/>
          <p:cNvSpPr/>
          <p:nvPr/>
        </p:nvSpPr>
        <p:spPr>
          <a:xfrm>
            <a:off x="8594675" y="1219200"/>
            <a:ext cx="3124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Final Conclusion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8356550" y="17145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Text 29"/>
          <p:cNvSpPr/>
          <p:nvPr/>
        </p:nvSpPr>
        <p:spPr>
          <a:xfrm>
            <a:off x="8547050" y="1638300"/>
            <a:ext cx="315277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Productivity can be </a:t>
            </a:r>
            <a:r>
              <a:rPr lang="en-US" sz="120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partially predicted</a:t>
            </a:r>
            <a:r>
              <a:rPr lang="en-US" sz="12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from behavioural factors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8356550" y="23622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1"/>
          <p:cNvSpPr/>
          <p:nvPr/>
        </p:nvSpPr>
        <p:spPr>
          <a:xfrm>
            <a:off x="8547050" y="2286000"/>
            <a:ext cx="315277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Multiple factors matter more</a:t>
            </a:r>
            <a:r>
              <a:rPr lang="en-US" sz="12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than any single habit alone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8356550" y="30099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3"/>
          <p:cNvSpPr/>
          <p:nvPr/>
        </p:nvSpPr>
        <p:spPr>
          <a:xfrm>
            <a:off x="8547050" y="2933700"/>
            <a:ext cx="315277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Combining EDA, regression, and classification gave a </a:t>
            </a:r>
            <a:r>
              <a:rPr lang="en-US" sz="120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fuller understanding</a:t>
            </a:r>
            <a:endParaRPr lang="en-US" sz="1600" dirty="0"/>
          </a:p>
        </p:txBody>
      </p:sp>
      <p:sp>
        <p:nvSpPr>
          <p:cNvPr id="37" name="Shape 34"/>
          <p:cNvSpPr/>
          <p:nvPr/>
        </p:nvSpPr>
        <p:spPr>
          <a:xfrm>
            <a:off x="400050" y="4333875"/>
            <a:ext cx="11410950" cy="1076325"/>
          </a:xfrm>
          <a:custGeom>
            <a:avLst/>
            <a:gdLst/>
            <a:ahLst/>
            <a:cxnLst/>
            <a:rect l="l" t="t" r="r" b="b"/>
            <a:pathLst>
              <a:path w="11410950" h="1076325">
                <a:moveTo>
                  <a:pt x="38100" y="0"/>
                </a:moveTo>
                <a:lnTo>
                  <a:pt x="11334746" y="0"/>
                </a:lnTo>
                <a:cubicBezTo>
                  <a:pt x="11376832" y="0"/>
                  <a:pt x="11410950" y="34118"/>
                  <a:pt x="11410950" y="76204"/>
                </a:cubicBezTo>
                <a:lnTo>
                  <a:pt x="11410950" y="1000121"/>
                </a:lnTo>
                <a:cubicBezTo>
                  <a:pt x="11410950" y="1042207"/>
                  <a:pt x="11376832" y="1076325"/>
                  <a:pt x="11334746" y="1076325"/>
                </a:cubicBezTo>
                <a:lnTo>
                  <a:pt x="38100" y="1076325"/>
                </a:lnTo>
                <a:cubicBezTo>
                  <a:pt x="17072" y="1076325"/>
                  <a:pt x="0" y="1059253"/>
                  <a:pt x="0" y="1038225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B8E7D">
              <a:alpha val="14902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Shape 35"/>
          <p:cNvSpPr/>
          <p:nvPr/>
        </p:nvSpPr>
        <p:spPr>
          <a:xfrm>
            <a:off x="400050" y="4333875"/>
            <a:ext cx="38100" cy="1076325"/>
          </a:xfrm>
          <a:custGeom>
            <a:avLst/>
            <a:gdLst/>
            <a:ahLst/>
            <a:cxnLst/>
            <a:rect l="l" t="t" r="r" b="b"/>
            <a:pathLst>
              <a:path w="38100" h="1076325">
                <a:moveTo>
                  <a:pt x="38100" y="0"/>
                </a:moveTo>
                <a:lnTo>
                  <a:pt x="38100" y="0"/>
                </a:lnTo>
                <a:lnTo>
                  <a:pt x="38100" y="1076325"/>
                </a:lnTo>
                <a:lnTo>
                  <a:pt x="38100" y="1076325"/>
                </a:lnTo>
                <a:cubicBezTo>
                  <a:pt x="17072" y="1076325"/>
                  <a:pt x="0" y="1059253"/>
                  <a:pt x="0" y="1038225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9" name="Shape 36"/>
          <p:cNvSpPr/>
          <p:nvPr/>
        </p:nvSpPr>
        <p:spPr>
          <a:xfrm>
            <a:off x="702469" y="4600575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15156" y="-7032"/>
                </a:moveTo>
                <a:cubicBezTo>
                  <a:pt x="113630" y="-10009"/>
                  <a:pt x="110542" y="-11906"/>
                  <a:pt x="107193" y="-11906"/>
                </a:cubicBezTo>
                <a:cubicBezTo>
                  <a:pt x="103845" y="-11906"/>
                  <a:pt x="100757" y="-10009"/>
                  <a:pt x="99231" y="-7032"/>
                </a:cubicBezTo>
                <a:lnTo>
                  <a:pt x="71847" y="46620"/>
                </a:lnTo>
                <a:lnTo>
                  <a:pt x="12353" y="56071"/>
                </a:lnTo>
                <a:cubicBezTo>
                  <a:pt x="9041" y="56592"/>
                  <a:pt x="6288" y="58936"/>
                  <a:pt x="5246" y="62136"/>
                </a:cubicBezTo>
                <a:cubicBezTo>
                  <a:pt x="4204" y="65336"/>
                  <a:pt x="5060" y="68833"/>
                  <a:pt x="7404" y="71214"/>
                </a:cubicBezTo>
                <a:lnTo>
                  <a:pt x="49969" y="113816"/>
                </a:lnTo>
                <a:lnTo>
                  <a:pt x="40593" y="173310"/>
                </a:lnTo>
                <a:cubicBezTo>
                  <a:pt x="40072" y="176622"/>
                  <a:pt x="41449" y="179970"/>
                  <a:pt x="44165" y="181942"/>
                </a:cubicBezTo>
                <a:cubicBezTo>
                  <a:pt x="46881" y="183914"/>
                  <a:pt x="50453" y="184212"/>
                  <a:pt x="53467" y="182687"/>
                </a:cubicBezTo>
                <a:lnTo>
                  <a:pt x="107193" y="155377"/>
                </a:lnTo>
                <a:lnTo>
                  <a:pt x="160883" y="182687"/>
                </a:lnTo>
                <a:cubicBezTo>
                  <a:pt x="163860" y="184212"/>
                  <a:pt x="167469" y="183914"/>
                  <a:pt x="170185" y="181942"/>
                </a:cubicBezTo>
                <a:cubicBezTo>
                  <a:pt x="172901" y="179970"/>
                  <a:pt x="174278" y="176659"/>
                  <a:pt x="173757" y="173310"/>
                </a:cubicBezTo>
                <a:lnTo>
                  <a:pt x="164343" y="113816"/>
                </a:lnTo>
                <a:lnTo>
                  <a:pt x="206908" y="71214"/>
                </a:lnTo>
                <a:cubicBezTo>
                  <a:pt x="209290" y="68833"/>
                  <a:pt x="210108" y="65336"/>
                  <a:pt x="209066" y="62136"/>
                </a:cubicBezTo>
                <a:cubicBezTo>
                  <a:pt x="208025" y="58936"/>
                  <a:pt x="205308" y="56592"/>
                  <a:pt x="201960" y="56071"/>
                </a:cubicBezTo>
                <a:lnTo>
                  <a:pt x="142503" y="46620"/>
                </a:lnTo>
                <a:lnTo>
                  <a:pt x="115156" y="-7032"/>
                </a:ln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7"/>
          <p:cNvSpPr/>
          <p:nvPr/>
        </p:nvSpPr>
        <p:spPr>
          <a:xfrm>
            <a:off x="923925" y="4562475"/>
            <a:ext cx="107061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500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Overall, student productivity appears to be influenced by multiple interacting behaviours, and modelling it from only one factor would oversimplify the problem.</a:t>
            </a:r>
            <a:endParaRPr lang="en-US" sz="1600" dirty="0"/>
          </a:p>
        </p:txBody>
      </p:sp>
      <p:sp>
        <p:nvSpPr>
          <p:cNvPr id="41" name="Shape 38"/>
          <p:cNvSpPr/>
          <p:nvPr/>
        </p:nvSpPr>
        <p:spPr>
          <a:xfrm>
            <a:off x="4748213" y="55626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A8B5A0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2" name="Shape 39"/>
          <p:cNvSpPr/>
          <p:nvPr/>
        </p:nvSpPr>
        <p:spPr>
          <a:xfrm>
            <a:off x="4912519" y="572452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35719" y="35719"/>
                </a:moveTo>
                <a:cubicBezTo>
                  <a:pt x="35719" y="25840"/>
                  <a:pt x="27738" y="17859"/>
                  <a:pt x="17859" y="17859"/>
                </a:cubicBezTo>
                <a:cubicBezTo>
                  <a:pt x="7981" y="17859"/>
                  <a:pt x="0" y="25840"/>
                  <a:pt x="0" y="35719"/>
                </a:cubicBezTo>
                <a:lnTo>
                  <a:pt x="0" y="223242"/>
                </a:lnTo>
                <a:cubicBezTo>
                  <a:pt x="0" y="247910"/>
                  <a:pt x="19980" y="267891"/>
                  <a:pt x="44648" y="267891"/>
                </a:cubicBezTo>
                <a:lnTo>
                  <a:pt x="267891" y="267891"/>
                </a:lnTo>
                <a:cubicBezTo>
                  <a:pt x="277769" y="267891"/>
                  <a:pt x="285750" y="259910"/>
                  <a:pt x="285750" y="250031"/>
                </a:cubicBezTo>
                <a:cubicBezTo>
                  <a:pt x="285750" y="240153"/>
                  <a:pt x="277769" y="232172"/>
                  <a:pt x="267891" y="232172"/>
                </a:cubicBezTo>
                <a:lnTo>
                  <a:pt x="44648" y="232172"/>
                </a:lnTo>
                <a:cubicBezTo>
                  <a:pt x="39737" y="232172"/>
                  <a:pt x="35719" y="228154"/>
                  <a:pt x="35719" y="223242"/>
                </a:cubicBezTo>
                <a:lnTo>
                  <a:pt x="35719" y="35719"/>
                </a:lnTo>
                <a:close/>
                <a:moveTo>
                  <a:pt x="262644" y="84051"/>
                </a:moveTo>
                <a:cubicBezTo>
                  <a:pt x="269621" y="77074"/>
                  <a:pt x="269621" y="65745"/>
                  <a:pt x="262644" y="58769"/>
                </a:cubicBezTo>
                <a:cubicBezTo>
                  <a:pt x="255668" y="51792"/>
                  <a:pt x="244339" y="51792"/>
                  <a:pt x="237362" y="58769"/>
                </a:cubicBezTo>
                <a:lnTo>
                  <a:pt x="178594" y="117593"/>
                </a:lnTo>
                <a:lnTo>
                  <a:pt x="146558" y="85613"/>
                </a:lnTo>
                <a:cubicBezTo>
                  <a:pt x="139582" y="78637"/>
                  <a:pt x="128253" y="78637"/>
                  <a:pt x="121276" y="85613"/>
                </a:cubicBezTo>
                <a:lnTo>
                  <a:pt x="67698" y="139192"/>
                </a:lnTo>
                <a:cubicBezTo>
                  <a:pt x="60722" y="146168"/>
                  <a:pt x="60722" y="157497"/>
                  <a:pt x="67698" y="164474"/>
                </a:cubicBezTo>
                <a:cubicBezTo>
                  <a:pt x="74675" y="171450"/>
                  <a:pt x="86004" y="171450"/>
                  <a:pt x="92980" y="164474"/>
                </a:cubicBezTo>
                <a:lnTo>
                  <a:pt x="133945" y="123509"/>
                </a:lnTo>
                <a:lnTo>
                  <a:pt x="165981" y="155544"/>
                </a:lnTo>
                <a:cubicBezTo>
                  <a:pt x="172957" y="162520"/>
                  <a:pt x="184286" y="162520"/>
                  <a:pt x="191263" y="155544"/>
                </a:cubicBezTo>
                <a:lnTo>
                  <a:pt x="262700" y="84106"/>
                </a:ln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3" name="Text 40"/>
          <p:cNvSpPr/>
          <p:nvPr/>
        </p:nvSpPr>
        <p:spPr>
          <a:xfrm>
            <a:off x="4652963" y="6248400"/>
            <a:ext cx="800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Regression</a:t>
            </a:r>
            <a:endParaRPr lang="en-US" sz="1600" dirty="0"/>
          </a:p>
        </p:txBody>
      </p:sp>
      <p:sp>
        <p:nvSpPr>
          <p:cNvPr id="44" name="Shape 41"/>
          <p:cNvSpPr/>
          <p:nvPr/>
        </p:nvSpPr>
        <p:spPr>
          <a:xfrm>
            <a:off x="5848350" y="55626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9B8E7D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5" name="Shape 42"/>
          <p:cNvSpPr/>
          <p:nvPr/>
        </p:nvSpPr>
        <p:spPr>
          <a:xfrm>
            <a:off x="6012656" y="572452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0" y="44648"/>
                </a:moveTo>
                <a:cubicBezTo>
                  <a:pt x="0" y="29859"/>
                  <a:pt x="11999" y="17859"/>
                  <a:pt x="26789" y="17859"/>
                </a:cubicBezTo>
                <a:lnTo>
                  <a:pt x="80367" y="17859"/>
                </a:lnTo>
                <a:cubicBezTo>
                  <a:pt x="95157" y="17859"/>
                  <a:pt x="107156" y="29859"/>
                  <a:pt x="107156" y="44648"/>
                </a:cubicBezTo>
                <a:lnTo>
                  <a:pt x="107156" y="53578"/>
                </a:lnTo>
                <a:lnTo>
                  <a:pt x="178594" y="53578"/>
                </a:lnTo>
                <a:lnTo>
                  <a:pt x="178594" y="44648"/>
                </a:lnTo>
                <a:cubicBezTo>
                  <a:pt x="178594" y="29859"/>
                  <a:pt x="190593" y="17859"/>
                  <a:pt x="205383" y="17859"/>
                </a:cubicBezTo>
                <a:lnTo>
                  <a:pt x="258961" y="17859"/>
                </a:lnTo>
                <a:cubicBezTo>
                  <a:pt x="273751" y="17859"/>
                  <a:pt x="285750" y="29859"/>
                  <a:pt x="285750" y="44648"/>
                </a:cubicBezTo>
                <a:lnTo>
                  <a:pt x="285750" y="98227"/>
                </a:lnTo>
                <a:cubicBezTo>
                  <a:pt x="285750" y="113016"/>
                  <a:pt x="273751" y="125016"/>
                  <a:pt x="258961" y="125016"/>
                </a:cubicBezTo>
                <a:lnTo>
                  <a:pt x="205383" y="125016"/>
                </a:lnTo>
                <a:cubicBezTo>
                  <a:pt x="190593" y="125016"/>
                  <a:pt x="178594" y="113016"/>
                  <a:pt x="178594" y="98227"/>
                </a:cubicBezTo>
                <a:lnTo>
                  <a:pt x="178594" y="89297"/>
                </a:lnTo>
                <a:lnTo>
                  <a:pt x="107156" y="89297"/>
                </a:lnTo>
                <a:lnTo>
                  <a:pt x="107156" y="98227"/>
                </a:lnTo>
                <a:cubicBezTo>
                  <a:pt x="107156" y="102301"/>
                  <a:pt x="106207" y="106207"/>
                  <a:pt x="104589" y="109668"/>
                </a:cubicBezTo>
                <a:lnTo>
                  <a:pt x="142875" y="160734"/>
                </a:lnTo>
                <a:lnTo>
                  <a:pt x="187523" y="160734"/>
                </a:lnTo>
                <a:cubicBezTo>
                  <a:pt x="202313" y="160734"/>
                  <a:pt x="214313" y="172734"/>
                  <a:pt x="214313" y="187523"/>
                </a:cubicBezTo>
                <a:lnTo>
                  <a:pt x="214313" y="241102"/>
                </a:lnTo>
                <a:cubicBezTo>
                  <a:pt x="214313" y="255891"/>
                  <a:pt x="202313" y="267891"/>
                  <a:pt x="187523" y="267891"/>
                </a:cubicBezTo>
                <a:lnTo>
                  <a:pt x="133945" y="267891"/>
                </a:lnTo>
                <a:cubicBezTo>
                  <a:pt x="119156" y="267891"/>
                  <a:pt x="107156" y="255891"/>
                  <a:pt x="107156" y="241102"/>
                </a:cubicBezTo>
                <a:lnTo>
                  <a:pt x="107156" y="187523"/>
                </a:lnTo>
                <a:cubicBezTo>
                  <a:pt x="107156" y="183449"/>
                  <a:pt x="108105" y="179543"/>
                  <a:pt x="109724" y="176082"/>
                </a:cubicBezTo>
                <a:lnTo>
                  <a:pt x="71438" y="125016"/>
                </a:lnTo>
                <a:lnTo>
                  <a:pt x="26789" y="125016"/>
                </a:lnTo>
                <a:cubicBezTo>
                  <a:pt x="11999" y="125016"/>
                  <a:pt x="0" y="113016"/>
                  <a:pt x="0" y="98227"/>
                </a:cubicBezTo>
                <a:lnTo>
                  <a:pt x="0" y="44648"/>
                </a:ln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6" name="Text 43"/>
          <p:cNvSpPr/>
          <p:nvPr/>
        </p:nvSpPr>
        <p:spPr>
          <a:xfrm>
            <a:off x="5681663" y="6248400"/>
            <a:ext cx="942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Classification</a:t>
            </a:r>
            <a:endParaRPr lang="en-US" sz="1600" dirty="0"/>
          </a:p>
        </p:txBody>
      </p:sp>
      <p:sp>
        <p:nvSpPr>
          <p:cNvPr id="47" name="Shape 44"/>
          <p:cNvSpPr/>
          <p:nvPr/>
        </p:nvSpPr>
        <p:spPr>
          <a:xfrm>
            <a:off x="6891338" y="55626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C4A99B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8" name="Shape 45"/>
          <p:cNvSpPr/>
          <p:nvPr/>
        </p:nvSpPr>
        <p:spPr>
          <a:xfrm>
            <a:off x="7091363" y="5724525"/>
            <a:ext cx="214313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63469" y="214313"/>
                </a:moveTo>
                <a:cubicBezTo>
                  <a:pt x="167543" y="201867"/>
                  <a:pt x="175692" y="190593"/>
                  <a:pt x="184900" y="180882"/>
                </a:cubicBezTo>
                <a:cubicBezTo>
                  <a:pt x="203150" y="161683"/>
                  <a:pt x="214312" y="135731"/>
                  <a:pt x="214312" y="107156"/>
                </a:cubicBezTo>
                <a:cubicBezTo>
                  <a:pt x="214312" y="47997"/>
                  <a:pt x="166315" y="0"/>
                  <a:pt x="107156" y="0"/>
                </a:cubicBezTo>
                <a:cubicBezTo>
                  <a:pt x="47997" y="0"/>
                  <a:pt x="0" y="47997"/>
                  <a:pt x="0" y="107156"/>
                </a:cubicBezTo>
                <a:cubicBezTo>
                  <a:pt x="0" y="135731"/>
                  <a:pt x="11162" y="161683"/>
                  <a:pt x="29412" y="180882"/>
                </a:cubicBezTo>
                <a:cubicBezTo>
                  <a:pt x="38621" y="190593"/>
                  <a:pt x="46825" y="201867"/>
                  <a:pt x="50843" y="214313"/>
                </a:cubicBezTo>
                <a:lnTo>
                  <a:pt x="163413" y="214313"/>
                </a:lnTo>
                <a:close/>
                <a:moveTo>
                  <a:pt x="160734" y="241102"/>
                </a:moveTo>
                <a:lnTo>
                  <a:pt x="53578" y="241102"/>
                </a:lnTo>
                <a:lnTo>
                  <a:pt x="53578" y="250031"/>
                </a:lnTo>
                <a:cubicBezTo>
                  <a:pt x="53578" y="274700"/>
                  <a:pt x="73558" y="294680"/>
                  <a:pt x="98227" y="294680"/>
                </a:cubicBezTo>
                <a:lnTo>
                  <a:pt x="116086" y="294680"/>
                </a:lnTo>
                <a:cubicBezTo>
                  <a:pt x="140754" y="294680"/>
                  <a:pt x="160734" y="274700"/>
                  <a:pt x="160734" y="250031"/>
                </a:cubicBezTo>
                <a:lnTo>
                  <a:pt x="160734" y="241102"/>
                </a:lnTo>
                <a:close/>
                <a:moveTo>
                  <a:pt x="102691" y="62508"/>
                </a:moveTo>
                <a:cubicBezTo>
                  <a:pt x="80479" y="62508"/>
                  <a:pt x="62508" y="80479"/>
                  <a:pt x="62508" y="102691"/>
                </a:cubicBezTo>
                <a:cubicBezTo>
                  <a:pt x="62508" y="110114"/>
                  <a:pt x="56536" y="116086"/>
                  <a:pt x="49113" y="116086"/>
                </a:cubicBezTo>
                <a:cubicBezTo>
                  <a:pt x="41690" y="116086"/>
                  <a:pt x="35719" y="110114"/>
                  <a:pt x="35719" y="102691"/>
                </a:cubicBezTo>
                <a:cubicBezTo>
                  <a:pt x="35719" y="65689"/>
                  <a:pt x="65689" y="35719"/>
                  <a:pt x="102691" y="35719"/>
                </a:cubicBezTo>
                <a:cubicBezTo>
                  <a:pt x="110114" y="35719"/>
                  <a:pt x="116086" y="41690"/>
                  <a:pt x="116086" y="49113"/>
                </a:cubicBezTo>
                <a:cubicBezTo>
                  <a:pt x="116086" y="56536"/>
                  <a:pt x="110114" y="62508"/>
                  <a:pt x="102691" y="62508"/>
                </a:cubicBezTo>
                <a:close/>
              </a:path>
            </a:pathLst>
          </a:custGeom>
          <a:solidFill>
            <a:srgbClr val="C4A99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9" name="Text 46"/>
          <p:cNvSpPr/>
          <p:nvPr/>
        </p:nvSpPr>
        <p:spPr>
          <a:xfrm>
            <a:off x="6853238" y="624840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Insights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179E5-7072-9BC6-3CE8-C2F9A114A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img.freepik.com/7b963585cd434c230a1d0320543b2a5eac78a64c.jpg">
            <a:extLst>
              <a:ext uri="{FF2B5EF4-FFF2-40B4-BE49-F238E27FC236}">
                <a16:creationId xmlns:a16="http://schemas.microsoft.com/office/drawing/2014/main" id="{443404EF-0229-C101-A60A-440BEEF5062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rcRect t="681" b="681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AE6EC56F-59D6-6040-6186-8D11D3201A6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7F5F3">
              <a:alpha val="90196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90DFDDFB-0898-E23F-DB86-8DD83E95654D}"/>
              </a:ext>
            </a:extLst>
          </p:cNvPr>
          <p:cNvSpPr/>
          <p:nvPr/>
        </p:nvSpPr>
        <p:spPr>
          <a:xfrm>
            <a:off x="381000" y="3810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190500" y="0"/>
                </a:moveTo>
                <a:lnTo>
                  <a:pt x="190500" y="0"/>
                </a:lnTo>
                <a:cubicBezTo>
                  <a:pt x="295640" y="0"/>
                  <a:pt x="381000" y="85360"/>
                  <a:pt x="381000" y="190500"/>
                </a:cubicBezTo>
                <a:lnTo>
                  <a:pt x="381000" y="190500"/>
                </a:lnTo>
                <a:cubicBezTo>
                  <a:pt x="381000" y="295640"/>
                  <a:pt x="295640" y="381000"/>
                  <a:pt x="190500" y="381000"/>
                </a:cubicBezTo>
                <a:lnTo>
                  <a:pt x="190500" y="381000"/>
                </a:lnTo>
                <a:cubicBezTo>
                  <a:pt x="85360" y="381000"/>
                  <a:pt x="0" y="295640"/>
                  <a:pt x="0" y="190500"/>
                </a:cubicBezTo>
                <a:lnTo>
                  <a:pt x="0" y="190500"/>
                </a:lnTo>
                <a:cubicBezTo>
                  <a:pt x="0" y="85360"/>
                  <a:pt x="85360" y="0"/>
                  <a:pt x="190500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38DB7106-611B-6A94-3D0A-74CF590A6CD8}"/>
              </a:ext>
            </a:extLst>
          </p:cNvPr>
          <p:cNvSpPr/>
          <p:nvPr/>
        </p:nvSpPr>
        <p:spPr>
          <a:xfrm>
            <a:off x="338138" y="381000"/>
            <a:ext cx="4667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F7F5F3"/>
                </a:solidFill>
                <a:latin typeface="Quattrocento Sans" pitchFamily="34" charset="0"/>
              </a:rPr>
              <a:t>7</a:t>
            </a:r>
            <a:endParaRPr lang="en-US" sz="16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0B9B9E9E-0029-BB1B-B0ED-B961BC799727}"/>
              </a:ext>
            </a:extLst>
          </p:cNvPr>
          <p:cNvSpPr/>
          <p:nvPr/>
        </p:nvSpPr>
        <p:spPr>
          <a:xfrm>
            <a:off x="876300" y="381000"/>
            <a:ext cx="57626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altLang="zh-CN" sz="2700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Ack</a:t>
            </a:r>
            <a:endParaRPr lang="en-US" sz="160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77F61122-C066-2C58-18C2-95CCD6166331}"/>
              </a:ext>
            </a:extLst>
          </p:cNvPr>
          <p:cNvSpPr/>
          <p:nvPr/>
        </p:nvSpPr>
        <p:spPr>
          <a:xfrm>
            <a:off x="400050" y="1028700"/>
            <a:ext cx="3667125" cy="3114675"/>
          </a:xfrm>
          <a:custGeom>
            <a:avLst/>
            <a:gdLst/>
            <a:ahLst/>
            <a:cxnLst/>
            <a:rect l="l" t="t" r="r" b="b"/>
            <a:pathLst>
              <a:path w="3667125" h="3114675">
                <a:moveTo>
                  <a:pt x="38100" y="0"/>
                </a:moveTo>
                <a:lnTo>
                  <a:pt x="3590940" y="0"/>
                </a:lnTo>
                <a:cubicBezTo>
                  <a:pt x="3633016" y="0"/>
                  <a:pt x="3667125" y="34109"/>
                  <a:pt x="3667125" y="76185"/>
                </a:cubicBezTo>
                <a:lnTo>
                  <a:pt x="3667125" y="3038490"/>
                </a:lnTo>
                <a:cubicBezTo>
                  <a:pt x="3667125" y="3080566"/>
                  <a:pt x="3633016" y="3114675"/>
                  <a:pt x="3590940" y="3114675"/>
                </a:cubicBezTo>
                <a:lnTo>
                  <a:pt x="38100" y="3114675"/>
                </a:lnTo>
                <a:cubicBezTo>
                  <a:pt x="17058" y="3114675"/>
                  <a:pt x="0" y="3097617"/>
                  <a:pt x="0" y="3076575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/>
          <a:effectLst>
            <a:outerShdw blurRad="28575" dist="952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0560717D-4FF4-342F-DF46-3C401C9B78B6}"/>
              </a:ext>
            </a:extLst>
          </p:cNvPr>
          <p:cNvSpPr/>
          <p:nvPr/>
        </p:nvSpPr>
        <p:spPr>
          <a:xfrm>
            <a:off x="400050" y="1028700"/>
            <a:ext cx="38100" cy="3114675"/>
          </a:xfrm>
          <a:custGeom>
            <a:avLst/>
            <a:gdLst/>
            <a:ahLst/>
            <a:cxnLst/>
            <a:rect l="l" t="t" r="r" b="b"/>
            <a:pathLst>
              <a:path w="38100" h="3114675">
                <a:moveTo>
                  <a:pt x="38100" y="0"/>
                </a:moveTo>
                <a:lnTo>
                  <a:pt x="38100" y="0"/>
                </a:lnTo>
                <a:lnTo>
                  <a:pt x="38100" y="3114675"/>
                </a:lnTo>
                <a:lnTo>
                  <a:pt x="38100" y="3114675"/>
                </a:lnTo>
                <a:cubicBezTo>
                  <a:pt x="17072" y="3114675"/>
                  <a:pt x="0" y="3097603"/>
                  <a:pt x="0" y="3076575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C4A99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32132A77-9034-23D6-1EEF-79E9D7AD177A}"/>
              </a:ext>
            </a:extLst>
          </p:cNvPr>
          <p:cNvSpPr/>
          <p:nvPr/>
        </p:nvSpPr>
        <p:spPr>
          <a:xfrm>
            <a:off x="633413" y="125730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0"/>
                </a:moveTo>
                <a:cubicBezTo>
                  <a:pt x="100719" y="0"/>
                  <a:pt x="105742" y="3014"/>
                  <a:pt x="108347" y="7813"/>
                </a:cubicBezTo>
                <a:lnTo>
                  <a:pt x="188714" y="156642"/>
                </a:lnTo>
                <a:cubicBezTo>
                  <a:pt x="191207" y="161255"/>
                  <a:pt x="191095" y="166836"/>
                  <a:pt x="188416" y="171338"/>
                </a:cubicBezTo>
                <a:cubicBezTo>
                  <a:pt x="185737" y="175840"/>
                  <a:pt x="180863" y="178594"/>
                  <a:pt x="175617" y="178594"/>
                </a:cubicBezTo>
                <a:lnTo>
                  <a:pt x="14883" y="178594"/>
                </a:lnTo>
                <a:cubicBezTo>
                  <a:pt x="9637" y="178594"/>
                  <a:pt x="4800" y="175840"/>
                  <a:pt x="2084" y="171338"/>
                </a:cubicBezTo>
                <a:cubicBezTo>
                  <a:pt x="-633" y="166836"/>
                  <a:pt x="-707" y="161255"/>
                  <a:pt x="1786" y="156642"/>
                </a:cubicBezTo>
                <a:lnTo>
                  <a:pt x="82153" y="7813"/>
                </a:lnTo>
                <a:cubicBezTo>
                  <a:pt x="84758" y="3014"/>
                  <a:pt x="89781" y="0"/>
                  <a:pt x="95250" y="0"/>
                </a:cubicBezTo>
                <a:close/>
                <a:moveTo>
                  <a:pt x="95250" y="62508"/>
                </a:moveTo>
                <a:cubicBezTo>
                  <a:pt x="90301" y="62508"/>
                  <a:pt x="86320" y="66489"/>
                  <a:pt x="86320" y="71438"/>
                </a:cubicBezTo>
                <a:lnTo>
                  <a:pt x="86320" y="113109"/>
                </a:lnTo>
                <a:cubicBezTo>
                  <a:pt x="86320" y="118058"/>
                  <a:pt x="90301" y="122039"/>
                  <a:pt x="95250" y="122039"/>
                </a:cubicBezTo>
                <a:cubicBezTo>
                  <a:pt x="100199" y="122039"/>
                  <a:pt x="104180" y="118058"/>
                  <a:pt x="104180" y="113109"/>
                </a:cubicBezTo>
                <a:lnTo>
                  <a:pt x="104180" y="71438"/>
                </a:lnTo>
                <a:cubicBezTo>
                  <a:pt x="104180" y="66489"/>
                  <a:pt x="100199" y="62508"/>
                  <a:pt x="95250" y="62508"/>
                </a:cubicBezTo>
                <a:close/>
                <a:moveTo>
                  <a:pt x="105184" y="142875"/>
                </a:moveTo>
                <a:cubicBezTo>
                  <a:pt x="105410" y="139188"/>
                  <a:pt x="103571" y="135679"/>
                  <a:pt x="100410" y="133767"/>
                </a:cubicBezTo>
                <a:cubicBezTo>
                  <a:pt x="97249" y="131855"/>
                  <a:pt x="93288" y="131855"/>
                  <a:pt x="90127" y="133767"/>
                </a:cubicBezTo>
                <a:cubicBezTo>
                  <a:pt x="86966" y="135679"/>
                  <a:pt x="85127" y="139188"/>
                  <a:pt x="85353" y="142875"/>
                </a:cubicBezTo>
                <a:cubicBezTo>
                  <a:pt x="85127" y="146562"/>
                  <a:pt x="86966" y="150071"/>
                  <a:pt x="90127" y="151983"/>
                </a:cubicBezTo>
                <a:cubicBezTo>
                  <a:pt x="93288" y="153895"/>
                  <a:pt x="97249" y="153895"/>
                  <a:pt x="100410" y="151983"/>
                </a:cubicBezTo>
                <a:cubicBezTo>
                  <a:pt x="103571" y="150071"/>
                  <a:pt x="105410" y="146562"/>
                  <a:pt x="105184" y="142875"/>
                </a:cubicBezTo>
                <a:close/>
              </a:path>
            </a:pathLst>
          </a:custGeom>
          <a:solidFill>
            <a:srgbClr val="C4A99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5C044A69-F178-884E-4D07-830AC86ECB0D}"/>
              </a:ext>
            </a:extLst>
          </p:cNvPr>
          <p:cNvSpPr/>
          <p:nvPr/>
        </p:nvSpPr>
        <p:spPr>
          <a:xfrm>
            <a:off x="847725" y="1219200"/>
            <a:ext cx="3124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Difficulties We Faced</a:t>
            </a:r>
            <a:endParaRPr lang="en-US" sz="160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A4AF267D-8305-3F34-7F9B-96505BEFFBF6}"/>
              </a:ext>
            </a:extLst>
          </p:cNvPr>
          <p:cNvSpPr/>
          <p:nvPr/>
        </p:nvSpPr>
        <p:spPr>
          <a:xfrm>
            <a:off x="609600" y="17145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C4A99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8DD69A10-A80E-2BDF-98EA-8D948C841088}"/>
              </a:ext>
            </a:extLst>
          </p:cNvPr>
          <p:cNvSpPr/>
          <p:nvPr/>
        </p:nvSpPr>
        <p:spPr>
          <a:xfrm>
            <a:off x="800100" y="1638300"/>
            <a:ext cx="315277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Some visually promising variables were </a:t>
            </a:r>
            <a:r>
              <a:rPr lang="en-US" sz="120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not significant</a:t>
            </a:r>
            <a:r>
              <a:rPr lang="en-US" sz="12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in final models</a:t>
            </a:r>
            <a:endParaRPr lang="en-US" sz="1600" dirty="0"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73BDAC4C-FF65-2D12-66D7-15AAFAAE5A8C}"/>
              </a:ext>
            </a:extLst>
          </p:cNvPr>
          <p:cNvSpPr/>
          <p:nvPr/>
        </p:nvSpPr>
        <p:spPr>
          <a:xfrm>
            <a:off x="609600" y="23622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C4A99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CF257DB-2488-BF18-34D0-F4C6CE88CE70}"/>
              </a:ext>
            </a:extLst>
          </p:cNvPr>
          <p:cNvSpPr/>
          <p:nvPr/>
        </p:nvSpPr>
        <p:spPr>
          <a:xfrm>
            <a:off x="800100" y="2286000"/>
            <a:ext cx="315277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Logistic modelling initially </a:t>
            </a:r>
            <a:r>
              <a:rPr lang="en-US" sz="120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failed due to preprocessing order</a:t>
            </a:r>
            <a:endParaRPr lang="en-US" sz="16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F58B0059-F40B-72C1-C25D-A9AB833FDCAE}"/>
              </a:ext>
            </a:extLst>
          </p:cNvPr>
          <p:cNvSpPr/>
          <p:nvPr/>
        </p:nvSpPr>
        <p:spPr>
          <a:xfrm>
            <a:off x="609600" y="30099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C4A99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328CDF25-DFE6-EB8D-09F7-69A79F342F6D}"/>
              </a:ext>
            </a:extLst>
          </p:cNvPr>
          <p:cNvSpPr/>
          <p:nvPr/>
        </p:nvSpPr>
        <p:spPr>
          <a:xfrm>
            <a:off x="800100" y="2933700"/>
            <a:ext cx="315277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We learned that </a:t>
            </a:r>
            <a:r>
              <a:rPr lang="en-US" sz="120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target creation should happen before train/test split</a:t>
            </a:r>
            <a:endParaRPr lang="en-US" sz="1600" dirty="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A0D84393-9257-8B1B-F283-18D9706E404A}"/>
              </a:ext>
            </a:extLst>
          </p:cNvPr>
          <p:cNvSpPr/>
          <p:nvPr/>
        </p:nvSpPr>
        <p:spPr>
          <a:xfrm>
            <a:off x="4273451" y="1028700"/>
            <a:ext cx="3667125" cy="3114675"/>
          </a:xfrm>
          <a:custGeom>
            <a:avLst/>
            <a:gdLst/>
            <a:ahLst/>
            <a:cxnLst/>
            <a:rect l="l" t="t" r="r" b="b"/>
            <a:pathLst>
              <a:path w="3667125" h="3114675">
                <a:moveTo>
                  <a:pt x="38100" y="0"/>
                </a:moveTo>
                <a:lnTo>
                  <a:pt x="3590940" y="0"/>
                </a:lnTo>
                <a:cubicBezTo>
                  <a:pt x="3633016" y="0"/>
                  <a:pt x="3667125" y="34109"/>
                  <a:pt x="3667125" y="76185"/>
                </a:cubicBezTo>
                <a:lnTo>
                  <a:pt x="3667125" y="3038490"/>
                </a:lnTo>
                <a:cubicBezTo>
                  <a:pt x="3667125" y="3080566"/>
                  <a:pt x="3633016" y="3114675"/>
                  <a:pt x="3590940" y="3114675"/>
                </a:cubicBezTo>
                <a:lnTo>
                  <a:pt x="38100" y="3114675"/>
                </a:lnTo>
                <a:cubicBezTo>
                  <a:pt x="17058" y="3114675"/>
                  <a:pt x="0" y="3097617"/>
                  <a:pt x="0" y="3076575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/>
          <a:effectLst>
            <a:outerShdw blurRad="28575" dist="952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B9B3037B-D127-9C33-EDC1-AD94DF898F19}"/>
              </a:ext>
            </a:extLst>
          </p:cNvPr>
          <p:cNvSpPr/>
          <p:nvPr/>
        </p:nvSpPr>
        <p:spPr>
          <a:xfrm>
            <a:off x="4273451" y="1028700"/>
            <a:ext cx="38100" cy="3114675"/>
          </a:xfrm>
          <a:custGeom>
            <a:avLst/>
            <a:gdLst/>
            <a:ahLst/>
            <a:cxnLst/>
            <a:rect l="l" t="t" r="r" b="b"/>
            <a:pathLst>
              <a:path w="38100" h="3114675">
                <a:moveTo>
                  <a:pt x="38100" y="0"/>
                </a:moveTo>
                <a:lnTo>
                  <a:pt x="38100" y="0"/>
                </a:lnTo>
                <a:lnTo>
                  <a:pt x="38100" y="3114675"/>
                </a:lnTo>
                <a:lnTo>
                  <a:pt x="38100" y="3114675"/>
                </a:lnTo>
                <a:cubicBezTo>
                  <a:pt x="17072" y="3114675"/>
                  <a:pt x="0" y="3097603"/>
                  <a:pt x="0" y="3076575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AAC84223-F549-50B4-5F3F-680D3EFA0584}"/>
              </a:ext>
            </a:extLst>
          </p:cNvPr>
          <p:cNvSpPr/>
          <p:nvPr/>
        </p:nvSpPr>
        <p:spPr>
          <a:xfrm>
            <a:off x="4506813" y="125730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36624" y="153479"/>
                </a:moveTo>
                <a:lnTo>
                  <a:pt x="37021" y="53876"/>
                </a:lnTo>
                <a:cubicBezTo>
                  <a:pt x="28687" y="65559"/>
                  <a:pt x="23812" y="79846"/>
                  <a:pt x="23812" y="95250"/>
                </a:cubicBezTo>
                <a:cubicBezTo>
                  <a:pt x="23812" y="134689"/>
                  <a:pt x="55811" y="166688"/>
                  <a:pt x="95250" y="166688"/>
                </a:cubicBezTo>
                <a:cubicBezTo>
                  <a:pt x="110691" y="166688"/>
                  <a:pt x="124978" y="161813"/>
                  <a:pt x="136624" y="153479"/>
                </a:cubicBezTo>
                <a:close/>
                <a:moveTo>
                  <a:pt x="153479" y="136624"/>
                </a:moveTo>
                <a:cubicBezTo>
                  <a:pt x="161813" y="124941"/>
                  <a:pt x="166688" y="110654"/>
                  <a:pt x="166688" y="95250"/>
                </a:cubicBezTo>
                <a:cubicBezTo>
                  <a:pt x="166688" y="55811"/>
                  <a:pt x="134689" y="23812"/>
                  <a:pt x="95250" y="23812"/>
                </a:cubicBezTo>
                <a:cubicBezTo>
                  <a:pt x="79809" y="23812"/>
                  <a:pt x="65522" y="28687"/>
                  <a:pt x="53876" y="37021"/>
                </a:cubicBezTo>
                <a:lnTo>
                  <a:pt x="153479" y="136624"/>
                </a:lnTo>
                <a:close/>
                <a:moveTo>
                  <a:pt x="0" y="95250"/>
                </a:moveTo>
                <a:cubicBezTo>
                  <a:pt x="0" y="42680"/>
                  <a:pt x="42680" y="0"/>
                  <a:pt x="95250" y="0"/>
                </a:cubicBezTo>
                <a:cubicBezTo>
                  <a:pt x="147820" y="0"/>
                  <a:pt x="190500" y="42680"/>
                  <a:pt x="190500" y="95250"/>
                </a:cubicBezTo>
                <a:cubicBezTo>
                  <a:pt x="190500" y="147820"/>
                  <a:pt x="147820" y="190500"/>
                  <a:pt x="95250" y="190500"/>
                </a:cubicBezTo>
                <a:cubicBezTo>
                  <a:pt x="42680" y="190500"/>
                  <a:pt x="0" y="147820"/>
                  <a:pt x="0" y="9525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4D53C9BB-3E46-F13D-B12B-6A60C51D76A5}"/>
              </a:ext>
            </a:extLst>
          </p:cNvPr>
          <p:cNvSpPr/>
          <p:nvPr/>
        </p:nvSpPr>
        <p:spPr>
          <a:xfrm>
            <a:off x="4721126" y="1219200"/>
            <a:ext cx="3124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7A246195-FA41-3340-6845-9CEA96F6B648}"/>
              </a:ext>
            </a:extLst>
          </p:cNvPr>
          <p:cNvSpPr/>
          <p:nvPr/>
        </p:nvSpPr>
        <p:spPr>
          <a:xfrm>
            <a:off x="4483001" y="17145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B73FB2D4-074A-6857-78C3-3854B0E1B261}"/>
              </a:ext>
            </a:extLst>
          </p:cNvPr>
          <p:cNvSpPr/>
          <p:nvPr/>
        </p:nvSpPr>
        <p:spPr>
          <a:xfrm>
            <a:off x="4673501" y="1638300"/>
            <a:ext cx="315277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Behavioural variables may </a:t>
            </a:r>
            <a:r>
              <a:rPr lang="en-US" sz="120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not capture all influences</a:t>
            </a:r>
            <a:r>
              <a:rPr lang="en-US" sz="12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on productivity</a:t>
            </a:r>
            <a:endParaRPr lang="en-US" sz="1600" dirty="0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EBBAC415-20AB-4A88-F420-FC4A8C4B2ABB}"/>
              </a:ext>
            </a:extLst>
          </p:cNvPr>
          <p:cNvSpPr/>
          <p:nvPr/>
        </p:nvSpPr>
        <p:spPr>
          <a:xfrm>
            <a:off x="4483001" y="23622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1D9B5F8B-EE68-B546-F241-41673DBC691C}"/>
              </a:ext>
            </a:extLst>
          </p:cNvPr>
          <p:cNvSpPr/>
          <p:nvPr/>
        </p:nvSpPr>
        <p:spPr>
          <a:xfrm>
            <a:off x="4673501" y="2286000"/>
            <a:ext cx="315277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Binary classification </a:t>
            </a:r>
            <a:r>
              <a:rPr lang="en-US" sz="120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loses information</a:t>
            </a:r>
            <a:r>
              <a:rPr lang="en-US" sz="12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from the original continuous score</a:t>
            </a:r>
            <a:endParaRPr lang="en-US" sz="1600" dirty="0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8C7A9CC9-C7B2-432A-984A-BC8EB56EF350}"/>
              </a:ext>
            </a:extLst>
          </p:cNvPr>
          <p:cNvSpPr/>
          <p:nvPr/>
        </p:nvSpPr>
        <p:spPr>
          <a:xfrm>
            <a:off x="4483001" y="30099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F24248D9-6AF0-6E12-4EC3-B4DDC3A1DF32}"/>
              </a:ext>
            </a:extLst>
          </p:cNvPr>
          <p:cNvSpPr/>
          <p:nvPr/>
        </p:nvSpPr>
        <p:spPr>
          <a:xfrm>
            <a:off x="4673501" y="2933700"/>
            <a:ext cx="2705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Results show </a:t>
            </a:r>
            <a:r>
              <a:rPr lang="en-US" sz="120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association, not causation</a:t>
            </a:r>
            <a:endParaRPr lang="en-US" sz="16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C031008F-A84A-E493-32BA-B2A78F97E4E7}"/>
              </a:ext>
            </a:extLst>
          </p:cNvPr>
          <p:cNvSpPr/>
          <p:nvPr/>
        </p:nvSpPr>
        <p:spPr>
          <a:xfrm>
            <a:off x="8147000" y="1028700"/>
            <a:ext cx="3667125" cy="3114675"/>
          </a:xfrm>
          <a:custGeom>
            <a:avLst/>
            <a:gdLst/>
            <a:ahLst/>
            <a:cxnLst/>
            <a:rect l="l" t="t" r="r" b="b"/>
            <a:pathLst>
              <a:path w="3667125" h="3114675">
                <a:moveTo>
                  <a:pt x="38100" y="0"/>
                </a:moveTo>
                <a:lnTo>
                  <a:pt x="3590940" y="0"/>
                </a:lnTo>
                <a:cubicBezTo>
                  <a:pt x="3633016" y="0"/>
                  <a:pt x="3667125" y="34109"/>
                  <a:pt x="3667125" y="76185"/>
                </a:cubicBezTo>
                <a:lnTo>
                  <a:pt x="3667125" y="3038490"/>
                </a:lnTo>
                <a:cubicBezTo>
                  <a:pt x="3667125" y="3080566"/>
                  <a:pt x="3633016" y="3114675"/>
                  <a:pt x="3590940" y="3114675"/>
                </a:cubicBezTo>
                <a:lnTo>
                  <a:pt x="38100" y="3114675"/>
                </a:lnTo>
                <a:cubicBezTo>
                  <a:pt x="17058" y="3114675"/>
                  <a:pt x="0" y="3097617"/>
                  <a:pt x="0" y="3076575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/>
          <a:effectLst>
            <a:outerShdw blurRad="28575" dist="952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2C16B856-410D-716B-DBB5-010C6BA9CE7F}"/>
              </a:ext>
            </a:extLst>
          </p:cNvPr>
          <p:cNvSpPr/>
          <p:nvPr/>
        </p:nvSpPr>
        <p:spPr>
          <a:xfrm>
            <a:off x="8147000" y="1028700"/>
            <a:ext cx="38100" cy="3114675"/>
          </a:xfrm>
          <a:custGeom>
            <a:avLst/>
            <a:gdLst/>
            <a:ahLst/>
            <a:cxnLst/>
            <a:rect l="l" t="t" r="r" b="b"/>
            <a:pathLst>
              <a:path w="38100" h="3114675">
                <a:moveTo>
                  <a:pt x="38100" y="0"/>
                </a:moveTo>
                <a:lnTo>
                  <a:pt x="38100" y="0"/>
                </a:lnTo>
                <a:lnTo>
                  <a:pt x="38100" y="3114675"/>
                </a:lnTo>
                <a:lnTo>
                  <a:pt x="38100" y="3114675"/>
                </a:lnTo>
                <a:cubicBezTo>
                  <a:pt x="17072" y="3114675"/>
                  <a:pt x="0" y="3097603"/>
                  <a:pt x="0" y="3076575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4FCC2B6C-5C81-84B9-4866-A8392C807FE0}"/>
              </a:ext>
            </a:extLst>
          </p:cNvPr>
          <p:cNvSpPr/>
          <p:nvPr/>
        </p:nvSpPr>
        <p:spPr>
          <a:xfrm>
            <a:off x="8380363" y="125730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190500"/>
                </a:moveTo>
                <a:cubicBezTo>
                  <a:pt x="147820" y="190500"/>
                  <a:pt x="190500" y="147820"/>
                  <a:pt x="190500" y="95250"/>
                </a:cubicBezTo>
                <a:cubicBezTo>
                  <a:pt x="190500" y="42680"/>
                  <a:pt x="147820" y="0"/>
                  <a:pt x="95250" y="0"/>
                </a:cubicBezTo>
                <a:cubicBezTo>
                  <a:pt x="42680" y="0"/>
                  <a:pt x="0" y="42680"/>
                  <a:pt x="0" y="95250"/>
                </a:cubicBezTo>
                <a:cubicBezTo>
                  <a:pt x="0" y="147820"/>
                  <a:pt x="42680" y="190500"/>
                  <a:pt x="95250" y="190500"/>
                </a:cubicBezTo>
                <a:close/>
                <a:moveTo>
                  <a:pt x="126653" y="79139"/>
                </a:moveTo>
                <a:lnTo>
                  <a:pt x="96887" y="126764"/>
                </a:lnTo>
                <a:cubicBezTo>
                  <a:pt x="95324" y="129257"/>
                  <a:pt x="92646" y="130820"/>
                  <a:pt x="89706" y="130969"/>
                </a:cubicBezTo>
                <a:cubicBezTo>
                  <a:pt x="86767" y="131118"/>
                  <a:pt x="83939" y="129778"/>
                  <a:pt x="82190" y="127397"/>
                </a:cubicBezTo>
                <a:lnTo>
                  <a:pt x="64331" y="103584"/>
                </a:lnTo>
                <a:cubicBezTo>
                  <a:pt x="61354" y="99640"/>
                  <a:pt x="62173" y="94059"/>
                  <a:pt x="66117" y="91083"/>
                </a:cubicBezTo>
                <a:cubicBezTo>
                  <a:pt x="70061" y="88106"/>
                  <a:pt x="75642" y="88925"/>
                  <a:pt x="78618" y="92869"/>
                </a:cubicBezTo>
                <a:lnTo>
                  <a:pt x="88664" y="106263"/>
                </a:lnTo>
                <a:lnTo>
                  <a:pt x="111509" y="69689"/>
                </a:lnTo>
                <a:cubicBezTo>
                  <a:pt x="114114" y="65522"/>
                  <a:pt x="119621" y="64219"/>
                  <a:pt x="123825" y="66861"/>
                </a:cubicBezTo>
                <a:cubicBezTo>
                  <a:pt x="128029" y="69503"/>
                  <a:pt x="129294" y="74972"/>
                  <a:pt x="126653" y="79177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B77564F9-01A6-E9C6-C4FE-4DB2CE0A9C41}"/>
              </a:ext>
            </a:extLst>
          </p:cNvPr>
          <p:cNvSpPr/>
          <p:nvPr/>
        </p:nvSpPr>
        <p:spPr>
          <a:xfrm>
            <a:off x="8594675" y="1219200"/>
            <a:ext cx="3124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5C565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Final Conclusion</a:t>
            </a:r>
            <a:endParaRPr lang="en-US" sz="1600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BDE53936-B1B6-6424-A56C-1B8E91AE72B6}"/>
              </a:ext>
            </a:extLst>
          </p:cNvPr>
          <p:cNvSpPr/>
          <p:nvPr/>
        </p:nvSpPr>
        <p:spPr>
          <a:xfrm>
            <a:off x="8356550" y="17145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5B985D57-B5F5-578A-B0A0-71570D6C61CA}"/>
              </a:ext>
            </a:extLst>
          </p:cNvPr>
          <p:cNvSpPr/>
          <p:nvPr/>
        </p:nvSpPr>
        <p:spPr>
          <a:xfrm>
            <a:off x="8547050" y="1638300"/>
            <a:ext cx="315277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Productivity can be </a:t>
            </a:r>
            <a:r>
              <a:rPr lang="en-US" sz="120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partially predicted</a:t>
            </a:r>
            <a:r>
              <a:rPr lang="en-US" sz="12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from behavioural factors</a:t>
            </a:r>
            <a:endParaRPr lang="en-US" sz="1600" dirty="0"/>
          </a:p>
        </p:txBody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B52570BC-F901-8E3E-6F96-FA626DF932B8}"/>
              </a:ext>
            </a:extLst>
          </p:cNvPr>
          <p:cNvSpPr/>
          <p:nvPr/>
        </p:nvSpPr>
        <p:spPr>
          <a:xfrm>
            <a:off x="8356550" y="23622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87A14009-12D6-261C-CEED-43CB7E13BE38}"/>
              </a:ext>
            </a:extLst>
          </p:cNvPr>
          <p:cNvSpPr/>
          <p:nvPr/>
        </p:nvSpPr>
        <p:spPr>
          <a:xfrm>
            <a:off x="8547050" y="2286000"/>
            <a:ext cx="315277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Multiple factors matter more</a:t>
            </a:r>
            <a:r>
              <a:rPr lang="en-US" sz="12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than any single habit alone</a:t>
            </a:r>
            <a:endParaRPr lang="en-US" sz="1600" dirty="0"/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9FBE60F9-1E93-5207-700E-8A019AFF79E3}"/>
              </a:ext>
            </a:extLst>
          </p:cNvPr>
          <p:cNvSpPr/>
          <p:nvPr/>
        </p:nvSpPr>
        <p:spPr>
          <a:xfrm>
            <a:off x="8356550" y="30099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311A953E-2F33-17C6-9363-FF9E0139517D}"/>
              </a:ext>
            </a:extLst>
          </p:cNvPr>
          <p:cNvSpPr/>
          <p:nvPr/>
        </p:nvSpPr>
        <p:spPr>
          <a:xfrm>
            <a:off x="8547050" y="2933700"/>
            <a:ext cx="315277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Combining EDA, regression, and classification gave a </a:t>
            </a:r>
            <a:r>
              <a:rPr lang="en-US" sz="1200" b="1" dirty="0">
                <a:solidFill>
                  <a:srgbClr val="5C565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fuller understanding</a:t>
            </a:r>
            <a:endParaRPr lang="en-US" sz="1600" dirty="0"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B6CD1604-1BDC-0E75-5CE0-D76D88B5D32B}"/>
              </a:ext>
            </a:extLst>
          </p:cNvPr>
          <p:cNvSpPr/>
          <p:nvPr/>
        </p:nvSpPr>
        <p:spPr>
          <a:xfrm>
            <a:off x="400050" y="4333875"/>
            <a:ext cx="11410950" cy="1076325"/>
          </a:xfrm>
          <a:custGeom>
            <a:avLst/>
            <a:gdLst/>
            <a:ahLst/>
            <a:cxnLst/>
            <a:rect l="l" t="t" r="r" b="b"/>
            <a:pathLst>
              <a:path w="11410950" h="1076325">
                <a:moveTo>
                  <a:pt x="38100" y="0"/>
                </a:moveTo>
                <a:lnTo>
                  <a:pt x="11334746" y="0"/>
                </a:lnTo>
                <a:cubicBezTo>
                  <a:pt x="11376832" y="0"/>
                  <a:pt x="11410950" y="34118"/>
                  <a:pt x="11410950" y="76204"/>
                </a:cubicBezTo>
                <a:lnTo>
                  <a:pt x="11410950" y="1000121"/>
                </a:lnTo>
                <a:cubicBezTo>
                  <a:pt x="11410950" y="1042207"/>
                  <a:pt x="11376832" y="1076325"/>
                  <a:pt x="11334746" y="1076325"/>
                </a:cubicBezTo>
                <a:lnTo>
                  <a:pt x="38100" y="1076325"/>
                </a:lnTo>
                <a:cubicBezTo>
                  <a:pt x="17072" y="1076325"/>
                  <a:pt x="0" y="1059253"/>
                  <a:pt x="0" y="1038225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B8E7D">
              <a:alpha val="14902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EFF2160B-C24E-E1B5-BB26-5372B9218452}"/>
              </a:ext>
            </a:extLst>
          </p:cNvPr>
          <p:cNvSpPr/>
          <p:nvPr/>
        </p:nvSpPr>
        <p:spPr>
          <a:xfrm>
            <a:off x="400050" y="4333875"/>
            <a:ext cx="38100" cy="1076325"/>
          </a:xfrm>
          <a:custGeom>
            <a:avLst/>
            <a:gdLst/>
            <a:ahLst/>
            <a:cxnLst/>
            <a:rect l="l" t="t" r="r" b="b"/>
            <a:pathLst>
              <a:path w="38100" h="1076325">
                <a:moveTo>
                  <a:pt x="38100" y="0"/>
                </a:moveTo>
                <a:lnTo>
                  <a:pt x="38100" y="0"/>
                </a:lnTo>
                <a:lnTo>
                  <a:pt x="38100" y="1076325"/>
                </a:lnTo>
                <a:lnTo>
                  <a:pt x="38100" y="1076325"/>
                </a:lnTo>
                <a:cubicBezTo>
                  <a:pt x="17072" y="1076325"/>
                  <a:pt x="0" y="1059253"/>
                  <a:pt x="0" y="1038225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9" name="Shape 36">
            <a:extLst>
              <a:ext uri="{FF2B5EF4-FFF2-40B4-BE49-F238E27FC236}">
                <a16:creationId xmlns:a16="http://schemas.microsoft.com/office/drawing/2014/main" id="{94F4DD9A-FCF8-6679-4548-1AC32FFACBC7}"/>
              </a:ext>
            </a:extLst>
          </p:cNvPr>
          <p:cNvSpPr/>
          <p:nvPr/>
        </p:nvSpPr>
        <p:spPr>
          <a:xfrm>
            <a:off x="702469" y="4600575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15156" y="-7032"/>
                </a:moveTo>
                <a:cubicBezTo>
                  <a:pt x="113630" y="-10009"/>
                  <a:pt x="110542" y="-11906"/>
                  <a:pt x="107193" y="-11906"/>
                </a:cubicBezTo>
                <a:cubicBezTo>
                  <a:pt x="103845" y="-11906"/>
                  <a:pt x="100757" y="-10009"/>
                  <a:pt x="99231" y="-7032"/>
                </a:cubicBezTo>
                <a:lnTo>
                  <a:pt x="71847" y="46620"/>
                </a:lnTo>
                <a:lnTo>
                  <a:pt x="12353" y="56071"/>
                </a:lnTo>
                <a:cubicBezTo>
                  <a:pt x="9041" y="56592"/>
                  <a:pt x="6288" y="58936"/>
                  <a:pt x="5246" y="62136"/>
                </a:cubicBezTo>
                <a:cubicBezTo>
                  <a:pt x="4204" y="65336"/>
                  <a:pt x="5060" y="68833"/>
                  <a:pt x="7404" y="71214"/>
                </a:cubicBezTo>
                <a:lnTo>
                  <a:pt x="49969" y="113816"/>
                </a:lnTo>
                <a:lnTo>
                  <a:pt x="40593" y="173310"/>
                </a:lnTo>
                <a:cubicBezTo>
                  <a:pt x="40072" y="176622"/>
                  <a:pt x="41449" y="179970"/>
                  <a:pt x="44165" y="181942"/>
                </a:cubicBezTo>
                <a:cubicBezTo>
                  <a:pt x="46881" y="183914"/>
                  <a:pt x="50453" y="184212"/>
                  <a:pt x="53467" y="182687"/>
                </a:cubicBezTo>
                <a:lnTo>
                  <a:pt x="107193" y="155377"/>
                </a:lnTo>
                <a:lnTo>
                  <a:pt x="160883" y="182687"/>
                </a:lnTo>
                <a:cubicBezTo>
                  <a:pt x="163860" y="184212"/>
                  <a:pt x="167469" y="183914"/>
                  <a:pt x="170185" y="181942"/>
                </a:cubicBezTo>
                <a:cubicBezTo>
                  <a:pt x="172901" y="179970"/>
                  <a:pt x="174278" y="176659"/>
                  <a:pt x="173757" y="173310"/>
                </a:cubicBezTo>
                <a:lnTo>
                  <a:pt x="164343" y="113816"/>
                </a:lnTo>
                <a:lnTo>
                  <a:pt x="206908" y="71214"/>
                </a:lnTo>
                <a:cubicBezTo>
                  <a:pt x="209290" y="68833"/>
                  <a:pt x="210108" y="65336"/>
                  <a:pt x="209066" y="62136"/>
                </a:cubicBezTo>
                <a:cubicBezTo>
                  <a:pt x="208025" y="58936"/>
                  <a:pt x="205308" y="56592"/>
                  <a:pt x="201960" y="56071"/>
                </a:cubicBezTo>
                <a:lnTo>
                  <a:pt x="142503" y="46620"/>
                </a:lnTo>
                <a:lnTo>
                  <a:pt x="115156" y="-7032"/>
                </a:ln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36C1BE36-E431-854F-5CD9-B35A4F1709A7}"/>
              </a:ext>
            </a:extLst>
          </p:cNvPr>
          <p:cNvSpPr/>
          <p:nvPr/>
        </p:nvSpPr>
        <p:spPr>
          <a:xfrm>
            <a:off x="923925" y="4562475"/>
            <a:ext cx="107061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500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Overall, student productivity appears to be influenced by multiple interacting behaviours, and modelling it from only one factor would oversimplify the problem.</a:t>
            </a:r>
            <a:endParaRPr lang="en-US" sz="1600" dirty="0"/>
          </a:p>
        </p:txBody>
      </p:sp>
      <p:sp>
        <p:nvSpPr>
          <p:cNvPr id="41" name="Shape 38">
            <a:extLst>
              <a:ext uri="{FF2B5EF4-FFF2-40B4-BE49-F238E27FC236}">
                <a16:creationId xmlns:a16="http://schemas.microsoft.com/office/drawing/2014/main" id="{58FB7157-8A79-F490-A99F-8239A6294E81}"/>
              </a:ext>
            </a:extLst>
          </p:cNvPr>
          <p:cNvSpPr/>
          <p:nvPr/>
        </p:nvSpPr>
        <p:spPr>
          <a:xfrm>
            <a:off x="4748213" y="55626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A8B5A0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E26CC94D-2E6C-96E6-555E-7677473A88A9}"/>
              </a:ext>
            </a:extLst>
          </p:cNvPr>
          <p:cNvSpPr/>
          <p:nvPr/>
        </p:nvSpPr>
        <p:spPr>
          <a:xfrm>
            <a:off x="4912519" y="572452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35719" y="35719"/>
                </a:moveTo>
                <a:cubicBezTo>
                  <a:pt x="35719" y="25840"/>
                  <a:pt x="27738" y="17859"/>
                  <a:pt x="17859" y="17859"/>
                </a:cubicBezTo>
                <a:cubicBezTo>
                  <a:pt x="7981" y="17859"/>
                  <a:pt x="0" y="25840"/>
                  <a:pt x="0" y="35719"/>
                </a:cubicBezTo>
                <a:lnTo>
                  <a:pt x="0" y="223242"/>
                </a:lnTo>
                <a:cubicBezTo>
                  <a:pt x="0" y="247910"/>
                  <a:pt x="19980" y="267891"/>
                  <a:pt x="44648" y="267891"/>
                </a:cubicBezTo>
                <a:lnTo>
                  <a:pt x="267891" y="267891"/>
                </a:lnTo>
                <a:cubicBezTo>
                  <a:pt x="277769" y="267891"/>
                  <a:pt x="285750" y="259910"/>
                  <a:pt x="285750" y="250031"/>
                </a:cubicBezTo>
                <a:cubicBezTo>
                  <a:pt x="285750" y="240153"/>
                  <a:pt x="277769" y="232172"/>
                  <a:pt x="267891" y="232172"/>
                </a:cubicBezTo>
                <a:lnTo>
                  <a:pt x="44648" y="232172"/>
                </a:lnTo>
                <a:cubicBezTo>
                  <a:pt x="39737" y="232172"/>
                  <a:pt x="35719" y="228154"/>
                  <a:pt x="35719" y="223242"/>
                </a:cubicBezTo>
                <a:lnTo>
                  <a:pt x="35719" y="35719"/>
                </a:lnTo>
                <a:close/>
                <a:moveTo>
                  <a:pt x="262644" y="84051"/>
                </a:moveTo>
                <a:cubicBezTo>
                  <a:pt x="269621" y="77074"/>
                  <a:pt x="269621" y="65745"/>
                  <a:pt x="262644" y="58769"/>
                </a:cubicBezTo>
                <a:cubicBezTo>
                  <a:pt x="255668" y="51792"/>
                  <a:pt x="244339" y="51792"/>
                  <a:pt x="237362" y="58769"/>
                </a:cubicBezTo>
                <a:lnTo>
                  <a:pt x="178594" y="117593"/>
                </a:lnTo>
                <a:lnTo>
                  <a:pt x="146558" y="85613"/>
                </a:lnTo>
                <a:cubicBezTo>
                  <a:pt x="139582" y="78637"/>
                  <a:pt x="128253" y="78637"/>
                  <a:pt x="121276" y="85613"/>
                </a:cubicBezTo>
                <a:lnTo>
                  <a:pt x="67698" y="139192"/>
                </a:lnTo>
                <a:cubicBezTo>
                  <a:pt x="60722" y="146168"/>
                  <a:pt x="60722" y="157497"/>
                  <a:pt x="67698" y="164474"/>
                </a:cubicBezTo>
                <a:cubicBezTo>
                  <a:pt x="74675" y="171450"/>
                  <a:pt x="86004" y="171450"/>
                  <a:pt x="92980" y="164474"/>
                </a:cubicBezTo>
                <a:lnTo>
                  <a:pt x="133945" y="123509"/>
                </a:lnTo>
                <a:lnTo>
                  <a:pt x="165981" y="155544"/>
                </a:lnTo>
                <a:cubicBezTo>
                  <a:pt x="172957" y="162520"/>
                  <a:pt x="184286" y="162520"/>
                  <a:pt x="191263" y="155544"/>
                </a:cubicBezTo>
                <a:lnTo>
                  <a:pt x="262700" y="84106"/>
                </a:lnTo>
                <a:close/>
              </a:path>
            </a:pathLst>
          </a:custGeom>
          <a:solidFill>
            <a:srgbClr val="A8B5A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0C784C4E-60D7-6934-64AC-31D7FCA1713E}"/>
              </a:ext>
            </a:extLst>
          </p:cNvPr>
          <p:cNvSpPr/>
          <p:nvPr/>
        </p:nvSpPr>
        <p:spPr>
          <a:xfrm>
            <a:off x="4652963" y="6248400"/>
            <a:ext cx="800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Regression</a:t>
            </a:r>
            <a:endParaRPr lang="en-US" sz="1600" dirty="0"/>
          </a:p>
        </p:txBody>
      </p:sp>
      <p:sp>
        <p:nvSpPr>
          <p:cNvPr id="44" name="Shape 41">
            <a:extLst>
              <a:ext uri="{FF2B5EF4-FFF2-40B4-BE49-F238E27FC236}">
                <a16:creationId xmlns:a16="http://schemas.microsoft.com/office/drawing/2014/main" id="{E1AAC175-F917-2153-9E2B-AEF86CFBE4DB}"/>
              </a:ext>
            </a:extLst>
          </p:cNvPr>
          <p:cNvSpPr/>
          <p:nvPr/>
        </p:nvSpPr>
        <p:spPr>
          <a:xfrm>
            <a:off x="5848350" y="55626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9B8E7D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5" name="Shape 42">
            <a:extLst>
              <a:ext uri="{FF2B5EF4-FFF2-40B4-BE49-F238E27FC236}">
                <a16:creationId xmlns:a16="http://schemas.microsoft.com/office/drawing/2014/main" id="{D880C841-E7EC-3FF0-EF69-915013EA7556}"/>
              </a:ext>
            </a:extLst>
          </p:cNvPr>
          <p:cNvSpPr/>
          <p:nvPr/>
        </p:nvSpPr>
        <p:spPr>
          <a:xfrm>
            <a:off x="6012656" y="572452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0" y="44648"/>
                </a:moveTo>
                <a:cubicBezTo>
                  <a:pt x="0" y="29859"/>
                  <a:pt x="11999" y="17859"/>
                  <a:pt x="26789" y="17859"/>
                </a:cubicBezTo>
                <a:lnTo>
                  <a:pt x="80367" y="17859"/>
                </a:lnTo>
                <a:cubicBezTo>
                  <a:pt x="95157" y="17859"/>
                  <a:pt x="107156" y="29859"/>
                  <a:pt x="107156" y="44648"/>
                </a:cubicBezTo>
                <a:lnTo>
                  <a:pt x="107156" y="53578"/>
                </a:lnTo>
                <a:lnTo>
                  <a:pt x="178594" y="53578"/>
                </a:lnTo>
                <a:lnTo>
                  <a:pt x="178594" y="44648"/>
                </a:lnTo>
                <a:cubicBezTo>
                  <a:pt x="178594" y="29859"/>
                  <a:pt x="190593" y="17859"/>
                  <a:pt x="205383" y="17859"/>
                </a:cubicBezTo>
                <a:lnTo>
                  <a:pt x="258961" y="17859"/>
                </a:lnTo>
                <a:cubicBezTo>
                  <a:pt x="273751" y="17859"/>
                  <a:pt x="285750" y="29859"/>
                  <a:pt x="285750" y="44648"/>
                </a:cubicBezTo>
                <a:lnTo>
                  <a:pt x="285750" y="98227"/>
                </a:lnTo>
                <a:cubicBezTo>
                  <a:pt x="285750" y="113016"/>
                  <a:pt x="273751" y="125016"/>
                  <a:pt x="258961" y="125016"/>
                </a:cubicBezTo>
                <a:lnTo>
                  <a:pt x="205383" y="125016"/>
                </a:lnTo>
                <a:cubicBezTo>
                  <a:pt x="190593" y="125016"/>
                  <a:pt x="178594" y="113016"/>
                  <a:pt x="178594" y="98227"/>
                </a:cubicBezTo>
                <a:lnTo>
                  <a:pt x="178594" y="89297"/>
                </a:lnTo>
                <a:lnTo>
                  <a:pt x="107156" y="89297"/>
                </a:lnTo>
                <a:lnTo>
                  <a:pt x="107156" y="98227"/>
                </a:lnTo>
                <a:cubicBezTo>
                  <a:pt x="107156" y="102301"/>
                  <a:pt x="106207" y="106207"/>
                  <a:pt x="104589" y="109668"/>
                </a:cubicBezTo>
                <a:lnTo>
                  <a:pt x="142875" y="160734"/>
                </a:lnTo>
                <a:lnTo>
                  <a:pt x="187523" y="160734"/>
                </a:lnTo>
                <a:cubicBezTo>
                  <a:pt x="202313" y="160734"/>
                  <a:pt x="214313" y="172734"/>
                  <a:pt x="214313" y="187523"/>
                </a:cubicBezTo>
                <a:lnTo>
                  <a:pt x="214313" y="241102"/>
                </a:lnTo>
                <a:cubicBezTo>
                  <a:pt x="214313" y="255891"/>
                  <a:pt x="202313" y="267891"/>
                  <a:pt x="187523" y="267891"/>
                </a:cubicBezTo>
                <a:lnTo>
                  <a:pt x="133945" y="267891"/>
                </a:lnTo>
                <a:cubicBezTo>
                  <a:pt x="119156" y="267891"/>
                  <a:pt x="107156" y="255891"/>
                  <a:pt x="107156" y="241102"/>
                </a:cubicBezTo>
                <a:lnTo>
                  <a:pt x="107156" y="187523"/>
                </a:lnTo>
                <a:cubicBezTo>
                  <a:pt x="107156" y="183449"/>
                  <a:pt x="108105" y="179543"/>
                  <a:pt x="109724" y="176082"/>
                </a:cubicBezTo>
                <a:lnTo>
                  <a:pt x="71438" y="125016"/>
                </a:lnTo>
                <a:lnTo>
                  <a:pt x="26789" y="125016"/>
                </a:lnTo>
                <a:cubicBezTo>
                  <a:pt x="11999" y="125016"/>
                  <a:pt x="0" y="113016"/>
                  <a:pt x="0" y="98227"/>
                </a:cubicBezTo>
                <a:lnTo>
                  <a:pt x="0" y="44648"/>
                </a:lnTo>
                <a:close/>
              </a:path>
            </a:pathLst>
          </a:custGeom>
          <a:solidFill>
            <a:srgbClr val="9B8E7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CB49D783-13F2-B3B3-25FE-D02A57253B4E}"/>
              </a:ext>
            </a:extLst>
          </p:cNvPr>
          <p:cNvSpPr/>
          <p:nvPr/>
        </p:nvSpPr>
        <p:spPr>
          <a:xfrm>
            <a:off x="5681663" y="6248400"/>
            <a:ext cx="942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Classification</a:t>
            </a:r>
            <a:endParaRPr lang="en-US" sz="1600" dirty="0"/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BE429446-0BF6-4621-3B69-B98656ECAD86}"/>
              </a:ext>
            </a:extLst>
          </p:cNvPr>
          <p:cNvSpPr/>
          <p:nvPr/>
        </p:nvSpPr>
        <p:spPr>
          <a:xfrm>
            <a:off x="6891338" y="55626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C4A99B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8" name="Shape 45">
            <a:extLst>
              <a:ext uri="{FF2B5EF4-FFF2-40B4-BE49-F238E27FC236}">
                <a16:creationId xmlns:a16="http://schemas.microsoft.com/office/drawing/2014/main" id="{08B3051A-CB69-7609-1A9C-6374ECBCCD27}"/>
              </a:ext>
            </a:extLst>
          </p:cNvPr>
          <p:cNvSpPr/>
          <p:nvPr/>
        </p:nvSpPr>
        <p:spPr>
          <a:xfrm>
            <a:off x="7091363" y="5724525"/>
            <a:ext cx="214313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63469" y="214313"/>
                </a:moveTo>
                <a:cubicBezTo>
                  <a:pt x="167543" y="201867"/>
                  <a:pt x="175692" y="190593"/>
                  <a:pt x="184900" y="180882"/>
                </a:cubicBezTo>
                <a:cubicBezTo>
                  <a:pt x="203150" y="161683"/>
                  <a:pt x="214312" y="135731"/>
                  <a:pt x="214312" y="107156"/>
                </a:cubicBezTo>
                <a:cubicBezTo>
                  <a:pt x="214312" y="47997"/>
                  <a:pt x="166315" y="0"/>
                  <a:pt x="107156" y="0"/>
                </a:cubicBezTo>
                <a:cubicBezTo>
                  <a:pt x="47997" y="0"/>
                  <a:pt x="0" y="47997"/>
                  <a:pt x="0" y="107156"/>
                </a:cubicBezTo>
                <a:cubicBezTo>
                  <a:pt x="0" y="135731"/>
                  <a:pt x="11162" y="161683"/>
                  <a:pt x="29412" y="180882"/>
                </a:cubicBezTo>
                <a:cubicBezTo>
                  <a:pt x="38621" y="190593"/>
                  <a:pt x="46825" y="201867"/>
                  <a:pt x="50843" y="214313"/>
                </a:cubicBezTo>
                <a:lnTo>
                  <a:pt x="163413" y="214313"/>
                </a:lnTo>
                <a:close/>
                <a:moveTo>
                  <a:pt x="160734" y="241102"/>
                </a:moveTo>
                <a:lnTo>
                  <a:pt x="53578" y="241102"/>
                </a:lnTo>
                <a:lnTo>
                  <a:pt x="53578" y="250031"/>
                </a:lnTo>
                <a:cubicBezTo>
                  <a:pt x="53578" y="274700"/>
                  <a:pt x="73558" y="294680"/>
                  <a:pt x="98227" y="294680"/>
                </a:cubicBezTo>
                <a:lnTo>
                  <a:pt x="116086" y="294680"/>
                </a:lnTo>
                <a:cubicBezTo>
                  <a:pt x="140754" y="294680"/>
                  <a:pt x="160734" y="274700"/>
                  <a:pt x="160734" y="250031"/>
                </a:cubicBezTo>
                <a:lnTo>
                  <a:pt x="160734" y="241102"/>
                </a:lnTo>
                <a:close/>
                <a:moveTo>
                  <a:pt x="102691" y="62508"/>
                </a:moveTo>
                <a:cubicBezTo>
                  <a:pt x="80479" y="62508"/>
                  <a:pt x="62508" y="80479"/>
                  <a:pt x="62508" y="102691"/>
                </a:cubicBezTo>
                <a:cubicBezTo>
                  <a:pt x="62508" y="110114"/>
                  <a:pt x="56536" y="116086"/>
                  <a:pt x="49113" y="116086"/>
                </a:cubicBezTo>
                <a:cubicBezTo>
                  <a:pt x="41690" y="116086"/>
                  <a:pt x="35719" y="110114"/>
                  <a:pt x="35719" y="102691"/>
                </a:cubicBezTo>
                <a:cubicBezTo>
                  <a:pt x="35719" y="65689"/>
                  <a:pt x="65689" y="35719"/>
                  <a:pt x="102691" y="35719"/>
                </a:cubicBezTo>
                <a:cubicBezTo>
                  <a:pt x="110114" y="35719"/>
                  <a:pt x="116086" y="41690"/>
                  <a:pt x="116086" y="49113"/>
                </a:cubicBezTo>
                <a:cubicBezTo>
                  <a:pt x="116086" y="56536"/>
                  <a:pt x="110114" y="62508"/>
                  <a:pt x="102691" y="62508"/>
                </a:cubicBezTo>
                <a:close/>
              </a:path>
            </a:pathLst>
          </a:custGeom>
          <a:solidFill>
            <a:srgbClr val="C4A99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9" name="Text 46">
            <a:extLst>
              <a:ext uri="{FF2B5EF4-FFF2-40B4-BE49-F238E27FC236}">
                <a16:creationId xmlns:a16="http://schemas.microsoft.com/office/drawing/2014/main" id="{D2262A1D-3A54-D4C7-30FB-0C26D55AC8BC}"/>
              </a:ext>
            </a:extLst>
          </p:cNvPr>
          <p:cNvSpPr/>
          <p:nvPr/>
        </p:nvSpPr>
        <p:spPr>
          <a:xfrm>
            <a:off x="6853238" y="624840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5C56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Insights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686453837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1017</Words>
  <Application>Microsoft Office PowerPoint</Application>
  <PresentationFormat>宽屏</PresentationFormat>
  <Paragraphs>200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3" baseType="lpstr">
      <vt:lpstr>微软雅黑</vt:lpstr>
      <vt:lpstr>Quattrocento Sans</vt:lpstr>
      <vt:lpstr>Arial</vt:lpstr>
      <vt:lpstr>Liter</vt:lpstr>
      <vt:lpstr>Custom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 Really Drives Student Productivity?</dc:title>
  <dc:subject>What Really Drives Student Productivity?</dc:subject>
  <dc:creator>Kimi</dc:creator>
  <cp:lastModifiedBy>Zheng Chao</cp:lastModifiedBy>
  <cp:revision>3</cp:revision>
  <dcterms:created xsi:type="dcterms:W3CDTF">2026-03-19T00:37:17Z</dcterms:created>
  <dcterms:modified xsi:type="dcterms:W3CDTF">2026-03-19T00:39:44Z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{"Label":"What Really Drives Student Productivity?","ContentProducer":"001191110108MACG2KBH8F10000","ProduceID":"19d037e2-6982-8b5b-8000-000043416a4f","ReservedCode1":"","ContentPropagator":"001191110108MACG2KBH8F20000","PropagateID":"19d037e2-6982-8b5b-8000-000043416a4f","ReservedCode2":""}</vt:lpwstr>
  </property>
</Properties>
</file>